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 id="257" r:id="rId6"/>
    <p:sldId id="276" r:id="rId7"/>
    <p:sldId id="301" r:id="rId8"/>
    <p:sldId id="282" r:id="rId9"/>
    <p:sldId id="278" r:id="rId10"/>
    <p:sldId id="277" r:id="rId11"/>
    <p:sldId id="283" r:id="rId12"/>
    <p:sldId id="284" r:id="rId13"/>
    <p:sldId id="286" r:id="rId14"/>
    <p:sldId id="274" r:id="rId15"/>
    <p:sldId id="287" r:id="rId16"/>
    <p:sldId id="270" r:id="rId17"/>
    <p:sldId id="299" r:id="rId18"/>
    <p:sldId id="269" r:id="rId19"/>
    <p:sldId id="267" r:id="rId20"/>
    <p:sldId id="294" r:id="rId21"/>
    <p:sldId id="295" r:id="rId22"/>
    <p:sldId id="296" r:id="rId23"/>
    <p:sldId id="297" r:id="rId24"/>
    <p:sldId id="298" r:id="rId25"/>
    <p:sldId id="265" r:id="rId26"/>
    <p:sldId id="300"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724"/>
  </p:normalViewPr>
  <p:slideViewPr>
    <p:cSldViewPr snapToGrid="0" snapToObjects="1">
      <p:cViewPr varScale="1">
        <p:scale>
          <a:sx n="73" d="100"/>
          <a:sy n="73" d="100"/>
        </p:scale>
        <p:origin x="1086" y="3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Md Mehedi Hasan" userId="5eb39d97-deb0-466a-af4c-298e34812974" providerId="ADAL" clId="{F4E49385-8BAC-4DB8-9067-77D7C45D5D76}"/>
    <pc:docChg chg="modSld">
      <pc:chgData name="Dr. Md Mehedi Hasan" userId="5eb39d97-deb0-466a-af4c-298e34812974" providerId="ADAL" clId="{F4E49385-8BAC-4DB8-9067-77D7C45D5D76}" dt="2022-12-07T07:09:05.549" v="5" actId="20577"/>
      <pc:docMkLst>
        <pc:docMk/>
      </pc:docMkLst>
      <pc:sldChg chg="modSp mod">
        <pc:chgData name="Dr. Md Mehedi Hasan" userId="5eb39d97-deb0-466a-af4c-298e34812974" providerId="ADAL" clId="{F4E49385-8BAC-4DB8-9067-77D7C45D5D76}" dt="2022-12-07T07:09:05.549" v="5" actId="20577"/>
        <pc:sldMkLst>
          <pc:docMk/>
          <pc:sldMk cId="700707328" sldId="256"/>
        </pc:sldMkLst>
        <pc:graphicFrameChg chg="modGraphic">
          <ac:chgData name="Dr. Md Mehedi Hasan" userId="5eb39d97-deb0-466a-af4c-298e34812974" providerId="ADAL" clId="{F4E49385-8BAC-4DB8-9067-77D7C45D5D76}" dt="2022-12-07T07:09:05.549" v="5" actId="20577"/>
          <ac:graphicFrameMkLst>
            <pc:docMk/>
            <pc:sldMk cId="700707328" sldId="256"/>
            <ac:graphicFrameMk id="7" creationId="{29FF08AD-7519-4C4A-8E0D-640DF5BB5E58}"/>
          </ac:graphicFrameMkLst>
        </pc:graphicFrameChg>
      </pc:sldChg>
    </pc:docChg>
  </pc:docChgLst>
  <pc:docChgLst>
    <pc:chgData name="Dr. Md Mehedi Hasan" userId="5eb39d97-deb0-466a-af4c-298e34812974" providerId="ADAL" clId="{4E5284AD-5242-4AB0-97FA-66CE55309F58}"/>
    <pc:docChg chg="undo custSel delSld modSld">
      <pc:chgData name="Dr. Md Mehedi Hasan" userId="5eb39d97-deb0-466a-af4c-298e34812974" providerId="ADAL" clId="{4E5284AD-5242-4AB0-97FA-66CE55309F58}" dt="2023-02-28T04:34:19.764" v="117" actId="33524"/>
      <pc:docMkLst>
        <pc:docMk/>
      </pc:docMkLst>
      <pc:sldChg chg="modSp del">
        <pc:chgData name="Dr. Md Mehedi Hasan" userId="5eb39d97-deb0-466a-af4c-298e34812974" providerId="ADAL" clId="{4E5284AD-5242-4AB0-97FA-66CE55309F58}" dt="2023-02-28T04:32:38.522" v="107" actId="47"/>
        <pc:sldMkLst>
          <pc:docMk/>
          <pc:sldMk cId="1877159314" sldId="273"/>
        </pc:sldMkLst>
        <pc:picChg chg="mod">
          <ac:chgData name="Dr. Md Mehedi Hasan" userId="5eb39d97-deb0-466a-af4c-298e34812974" providerId="ADAL" clId="{4E5284AD-5242-4AB0-97FA-66CE55309F58}" dt="2023-02-28T04:31:48.287" v="42" actId="1035"/>
          <ac:picMkLst>
            <pc:docMk/>
            <pc:sldMk cId="1877159314" sldId="273"/>
            <ac:picMk id="4" creationId="{B3A48BB0-ABD4-4299-8CDA-7B6574893E2A}"/>
          </ac:picMkLst>
        </pc:picChg>
      </pc:sldChg>
      <pc:sldChg chg="modSp mod">
        <pc:chgData name="Dr. Md Mehedi Hasan" userId="5eb39d97-deb0-466a-af4c-298e34812974" providerId="ADAL" clId="{4E5284AD-5242-4AB0-97FA-66CE55309F58}" dt="2023-02-28T04:34:19.764" v="117" actId="33524"/>
        <pc:sldMkLst>
          <pc:docMk/>
          <pc:sldMk cId="2533665345" sldId="277"/>
        </pc:sldMkLst>
        <pc:spChg chg="mod">
          <ac:chgData name="Dr. Md Mehedi Hasan" userId="5eb39d97-deb0-466a-af4c-298e34812974" providerId="ADAL" clId="{4E5284AD-5242-4AB0-97FA-66CE55309F58}" dt="2023-02-28T04:34:19.764" v="117" actId="33524"/>
          <ac:spMkLst>
            <pc:docMk/>
            <pc:sldMk cId="2533665345" sldId="277"/>
            <ac:spMk id="3" creationId="{74C06CA6-8B24-459F-904A-B60C9874DF3A}"/>
          </ac:spMkLst>
        </pc:spChg>
      </pc:sldChg>
      <pc:sldChg chg="addSp modSp mod">
        <pc:chgData name="Dr. Md Mehedi Hasan" userId="5eb39d97-deb0-466a-af4c-298e34812974" providerId="ADAL" clId="{4E5284AD-5242-4AB0-97FA-66CE55309F58}" dt="2023-02-28T04:32:34.394" v="106" actId="1076"/>
        <pc:sldMkLst>
          <pc:docMk/>
          <pc:sldMk cId="238538448" sldId="287"/>
        </pc:sldMkLst>
        <pc:spChg chg="mod">
          <ac:chgData name="Dr. Md Mehedi Hasan" userId="5eb39d97-deb0-466a-af4c-298e34812974" providerId="ADAL" clId="{4E5284AD-5242-4AB0-97FA-66CE55309F58}" dt="2023-02-28T04:32:10.383" v="47" actId="14100"/>
          <ac:spMkLst>
            <pc:docMk/>
            <pc:sldMk cId="238538448" sldId="287"/>
            <ac:spMk id="3" creationId="{D9FF8E2F-084A-48D3-9E08-D02926B06E59}"/>
          </ac:spMkLst>
        </pc:spChg>
        <pc:picChg chg="add mod">
          <ac:chgData name="Dr. Md Mehedi Hasan" userId="5eb39d97-deb0-466a-af4c-298e34812974" providerId="ADAL" clId="{4E5284AD-5242-4AB0-97FA-66CE55309F58}" dt="2023-02-28T04:32:34.394" v="106" actId="1076"/>
          <ac:picMkLst>
            <pc:docMk/>
            <pc:sldMk cId="238538448" sldId="287"/>
            <ac:picMk id="4" creationId="{E0FA0137-D4DF-0CD2-F013-86B5198D9E45}"/>
          </ac:picMkLst>
        </pc:picChg>
      </pc:sldChg>
      <pc:sldChg chg="delSp modSp mod">
        <pc:chgData name="Dr. Md Mehedi Hasan" userId="5eb39d97-deb0-466a-af4c-298e34812974" providerId="ADAL" clId="{4E5284AD-5242-4AB0-97FA-66CE55309F58}" dt="2023-02-28T04:31:31.063" v="30" actId="20577"/>
        <pc:sldMkLst>
          <pc:docMk/>
          <pc:sldMk cId="3082508685" sldId="299"/>
        </pc:sldMkLst>
        <pc:spChg chg="mod">
          <ac:chgData name="Dr. Md Mehedi Hasan" userId="5eb39d97-deb0-466a-af4c-298e34812974" providerId="ADAL" clId="{4E5284AD-5242-4AB0-97FA-66CE55309F58}" dt="2023-02-28T04:31:31.063" v="30" actId="20577"/>
          <ac:spMkLst>
            <pc:docMk/>
            <pc:sldMk cId="3082508685" sldId="299"/>
            <ac:spMk id="3" creationId="{02B6BEB2-AB56-4DEE-A3A0-464A51DE2E29}"/>
          </ac:spMkLst>
        </pc:spChg>
        <pc:spChg chg="del mod">
          <ac:chgData name="Dr. Md Mehedi Hasan" userId="5eb39d97-deb0-466a-af4c-298e34812974" providerId="ADAL" clId="{4E5284AD-5242-4AB0-97FA-66CE55309F58}" dt="2023-02-28T04:31:03.072" v="5"/>
          <ac:spMkLst>
            <pc:docMk/>
            <pc:sldMk cId="3082508685" sldId="299"/>
            <ac:spMk id="4" creationId="{8A2531D0-BB68-4086-8A48-44BCABCDAD10}"/>
          </ac:spMkLst>
        </pc:spChg>
      </pc:sldChg>
    </pc:docChg>
  </pc:docChgLst>
  <pc:docChgLst>
    <pc:chgData name="Dr. Md Mehedi Hasan" userId="S::mmhasan@aiub.edu::5eb39d97-deb0-466a-af4c-298e34812974" providerId="AD" clId="Web-{38C774DA-44F3-4BFA-B91D-E06F25D92ED3}"/>
    <pc:docChg chg="modSld">
      <pc:chgData name="Dr. Md Mehedi Hasan" userId="S::mmhasan@aiub.edu::5eb39d97-deb0-466a-af4c-298e34812974" providerId="AD" clId="Web-{38C774DA-44F3-4BFA-B91D-E06F25D92ED3}" dt="2022-10-25T05:51:43.635" v="19"/>
      <pc:docMkLst>
        <pc:docMk/>
      </pc:docMkLst>
      <pc:sldChg chg="modSp">
        <pc:chgData name="Dr. Md Mehedi Hasan" userId="S::mmhasan@aiub.edu::5eb39d97-deb0-466a-af4c-298e34812974" providerId="AD" clId="Web-{38C774DA-44F3-4BFA-B91D-E06F25D92ED3}" dt="2022-10-25T05:51:43.635" v="19"/>
        <pc:sldMkLst>
          <pc:docMk/>
          <pc:sldMk cId="700707328" sldId="256"/>
        </pc:sldMkLst>
        <pc:graphicFrameChg chg="mod modGraphic">
          <ac:chgData name="Dr. Md Mehedi Hasan" userId="S::mmhasan@aiub.edu::5eb39d97-deb0-466a-af4c-298e34812974" providerId="AD" clId="Web-{38C774DA-44F3-4BFA-B91D-E06F25D92ED3}" dt="2022-10-25T05:51:43.635" v="19"/>
          <ac:graphicFrameMkLst>
            <pc:docMk/>
            <pc:sldMk cId="700707328" sldId="256"/>
            <ac:graphicFrameMk id="7" creationId="{29FF08AD-7519-4C4A-8E0D-640DF5BB5E58}"/>
          </ac:graphicFrameMkLst>
        </pc:graphicFrameChg>
      </pc:sldChg>
    </pc:docChg>
  </pc:docChgLst>
  <pc:docChgLst>
    <pc:chgData name="Dr. Md Mehedi Hasan" userId="S::mmhasan@aiub.edu::5eb39d97-deb0-466a-af4c-298e34812974" providerId="AD" clId="Web-{04D949D7-6498-680E-AE43-83524C29DF1B}"/>
    <pc:docChg chg="modSld">
      <pc:chgData name="Dr. Md Mehedi Hasan" userId="S::mmhasan@aiub.edu::5eb39d97-deb0-466a-af4c-298e34812974" providerId="AD" clId="Web-{04D949D7-6498-680E-AE43-83524C29DF1B}" dt="2023-10-14T07:00:45.831" v="19"/>
      <pc:docMkLst>
        <pc:docMk/>
      </pc:docMkLst>
      <pc:sldChg chg="modSp">
        <pc:chgData name="Dr. Md Mehedi Hasan" userId="S::mmhasan@aiub.edu::5eb39d97-deb0-466a-af4c-298e34812974" providerId="AD" clId="Web-{04D949D7-6498-680E-AE43-83524C29DF1B}" dt="2023-10-14T07:00:45.831" v="19"/>
        <pc:sldMkLst>
          <pc:docMk/>
          <pc:sldMk cId="700707328" sldId="256"/>
        </pc:sldMkLst>
        <pc:graphicFrameChg chg="mod modGraphic">
          <ac:chgData name="Dr. Md Mehedi Hasan" userId="S::mmhasan@aiub.edu::5eb39d97-deb0-466a-af4c-298e34812974" providerId="AD" clId="Web-{04D949D7-6498-680E-AE43-83524C29DF1B}" dt="2023-10-14T07:00:45.831" v="19"/>
          <ac:graphicFrameMkLst>
            <pc:docMk/>
            <pc:sldMk cId="700707328" sldId="256"/>
            <ac:graphicFrameMk id="7" creationId="{29FF08AD-7519-4C4A-8E0D-640DF5BB5E58}"/>
          </ac:graphicFrameMkLst>
        </pc:graphicFrameChg>
      </pc:sldChg>
    </pc:docChg>
  </pc:docChgLst>
  <pc:docChgLst>
    <pc:chgData name="Dr. Md Mehedi Hasan" userId="239fb861-385a-4bac-bb29-9c26fc54d0ba" providerId="ADAL" clId="{5D2C5E83-6996-4AE1-984F-C2266E779F80}"/>
    <pc:docChg chg="modSld">
      <pc:chgData name="Dr. Md Mehedi Hasan" userId="239fb861-385a-4bac-bb29-9c26fc54d0ba" providerId="ADAL" clId="{5D2C5E83-6996-4AE1-984F-C2266E779F80}" dt="2024-11-20T03:07:58.440" v="5" actId="20577"/>
      <pc:docMkLst>
        <pc:docMk/>
      </pc:docMkLst>
      <pc:sldChg chg="modSp mod">
        <pc:chgData name="Dr. Md Mehedi Hasan" userId="239fb861-385a-4bac-bb29-9c26fc54d0ba" providerId="ADAL" clId="{5D2C5E83-6996-4AE1-984F-C2266E779F80}" dt="2024-11-20T03:07:58.440" v="5" actId="20577"/>
        <pc:sldMkLst>
          <pc:docMk/>
          <pc:sldMk cId="700707328" sldId="256"/>
        </pc:sldMkLst>
        <pc:graphicFrameChg chg="modGraphic">
          <ac:chgData name="Dr. Md Mehedi Hasan" userId="239fb861-385a-4bac-bb29-9c26fc54d0ba" providerId="ADAL" clId="{5D2C5E83-6996-4AE1-984F-C2266E779F80}" dt="2024-11-20T03:07:58.440" v="5" actId="20577"/>
          <ac:graphicFrameMkLst>
            <pc:docMk/>
            <pc:sldMk cId="700707328" sldId="256"/>
            <ac:graphicFrameMk id="7" creationId="{29FF08AD-7519-4C4A-8E0D-640DF5BB5E58}"/>
          </ac:graphicFrameMkLst>
        </pc:graphicFrameChg>
      </pc:sldChg>
    </pc:docChg>
  </pc:docChgLst>
  <pc:docChgLst>
    <pc:chgData name="Dr. Md Mehedi Hasan" userId="5eb39d97-deb0-466a-af4c-298e34812974" providerId="ADAL" clId="{CD6514A6-00FE-45A9-89FC-1A30C77E7373}"/>
    <pc:docChg chg="delSld modSld">
      <pc:chgData name="Dr. Md Mehedi Hasan" userId="5eb39d97-deb0-466a-af4c-298e34812974" providerId="ADAL" clId="{CD6514A6-00FE-45A9-89FC-1A30C77E7373}" dt="2023-02-18T04:54:22.224" v="29" actId="47"/>
      <pc:docMkLst>
        <pc:docMk/>
      </pc:docMkLst>
      <pc:sldChg chg="modSp mod">
        <pc:chgData name="Dr. Md Mehedi Hasan" userId="5eb39d97-deb0-466a-af4c-298e34812974" providerId="ADAL" clId="{CD6514A6-00FE-45A9-89FC-1A30C77E7373}" dt="2023-02-18T04:53:58.045" v="27" actId="20577"/>
        <pc:sldMkLst>
          <pc:docMk/>
          <pc:sldMk cId="700707328" sldId="256"/>
        </pc:sldMkLst>
        <pc:spChg chg="mod">
          <ac:chgData name="Dr. Md Mehedi Hasan" userId="5eb39d97-deb0-466a-af4c-298e34812974" providerId="ADAL" clId="{CD6514A6-00FE-45A9-89FC-1A30C77E7373}" dt="2023-02-18T04:53:58.045" v="27" actId="20577"/>
          <ac:spMkLst>
            <pc:docMk/>
            <pc:sldMk cId="700707328" sldId="256"/>
            <ac:spMk id="2" creationId="{00000000-0000-0000-0000-000000000000}"/>
          </ac:spMkLst>
        </pc:spChg>
        <pc:graphicFrameChg chg="modGraphic">
          <ac:chgData name="Dr. Md Mehedi Hasan" userId="5eb39d97-deb0-466a-af4c-298e34812974" providerId="ADAL" clId="{CD6514A6-00FE-45A9-89FC-1A30C77E7373}" dt="2023-02-18T04:53:45.582" v="17" actId="20577"/>
          <ac:graphicFrameMkLst>
            <pc:docMk/>
            <pc:sldMk cId="700707328" sldId="256"/>
            <ac:graphicFrameMk id="7" creationId="{29FF08AD-7519-4C4A-8E0D-640DF5BB5E58}"/>
          </ac:graphicFrameMkLst>
        </pc:graphicFrameChg>
      </pc:sldChg>
      <pc:sldChg chg="del">
        <pc:chgData name="Dr. Md Mehedi Hasan" userId="5eb39d97-deb0-466a-af4c-298e34812974" providerId="ADAL" clId="{CD6514A6-00FE-45A9-89FC-1A30C77E7373}" dt="2023-02-18T04:54:22.224" v="29" actId="47"/>
        <pc:sldMkLst>
          <pc:docMk/>
          <pc:sldMk cId="2743588993" sldId="302"/>
        </pc:sldMkLst>
      </pc:sldChg>
      <pc:sldChg chg="del">
        <pc:chgData name="Dr. Md Mehedi Hasan" userId="5eb39d97-deb0-466a-af4c-298e34812974" providerId="ADAL" clId="{CD6514A6-00FE-45A9-89FC-1A30C77E7373}" dt="2023-02-18T04:54:20.879" v="28" actId="47"/>
        <pc:sldMkLst>
          <pc:docMk/>
          <pc:sldMk cId="349817542" sldId="303"/>
        </pc:sldMkLst>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11/13/2025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11/13/2025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11/13/2025</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11/13/2025</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mousumi.bala@aiub.edu"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Routing</a:t>
            </a:r>
          </a:p>
        </p:txBody>
      </p:sp>
      <p:sp>
        <p:nvSpPr>
          <p:cNvPr id="3" name="Subtitle 2"/>
          <p:cNvSpPr>
            <a:spLocks noGrp="1"/>
          </p:cNvSpPr>
          <p:nvPr>
            <p:ph type="subTitle" idx="1"/>
          </p:nvPr>
        </p:nvSpPr>
        <p:spPr>
          <a:xfrm>
            <a:off x="476205" y="1532427"/>
            <a:ext cx="2789509" cy="484632"/>
          </a:xfrm>
        </p:spPr>
        <p:txBody>
          <a:bodyPr/>
          <a:lstStyle/>
          <a:p>
            <a:r>
              <a:rPr lang="en-US" dirty="0"/>
              <a:t>Course Code:  CSC 3116</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2834979582"/>
              </p:ext>
            </p:extLst>
          </p:nvPr>
        </p:nvGraphicFramePr>
        <p:xfrm>
          <a:off x="476205" y="5186042"/>
          <a:ext cx="8335798" cy="1018816"/>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923108">
                  <a:extLst>
                    <a:ext uri="{9D8B030D-6E8A-4147-A177-3AD203B41FA5}">
                      <a16:colId xmlns:a16="http://schemas.microsoft.com/office/drawing/2014/main" val="1762131981"/>
                    </a:ext>
                  </a:extLst>
                </a:gridCol>
                <a:gridCol w="1197429">
                  <a:extLst>
                    <a:ext uri="{9D8B030D-6E8A-4147-A177-3AD203B41FA5}">
                      <a16:colId xmlns:a16="http://schemas.microsoft.com/office/drawing/2014/main" val="445458238"/>
                    </a:ext>
                  </a:extLst>
                </a:gridCol>
                <a:gridCol w="2106403">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r>
                        <a:rPr lang="en-US" dirty="0"/>
                        <a:t>5</a:t>
                      </a:r>
                    </a:p>
                  </a:txBody>
                  <a:tcPr/>
                </a:tc>
                <a:tc>
                  <a:txBody>
                    <a:bodyPr/>
                    <a:lstStyle/>
                    <a:p>
                      <a:r>
                        <a:rPr lang="en-US" dirty="0"/>
                        <a:t>Week No:</a:t>
                      </a:r>
                    </a:p>
                  </a:txBody>
                  <a:tcPr/>
                </a:tc>
                <a:tc>
                  <a:txBody>
                    <a:bodyPr/>
                    <a:lstStyle/>
                    <a:p>
                      <a:r>
                        <a:rPr lang="en-US" dirty="0"/>
                        <a:t>5</a:t>
                      </a:r>
                    </a:p>
                  </a:txBody>
                  <a:tcPr/>
                </a:tc>
                <a:tc>
                  <a:txBody>
                    <a:bodyPr/>
                    <a:lstStyle/>
                    <a:p>
                      <a:r>
                        <a:rPr lang="en-US" dirty="0"/>
                        <a:t>Semester:</a:t>
                      </a:r>
                    </a:p>
                  </a:txBody>
                  <a:tcPr/>
                </a:tc>
                <a:tc>
                  <a:txBody>
                    <a:bodyPr/>
                    <a:lstStyle/>
                    <a:p>
                      <a:r>
                        <a:rPr lang="en-US"/>
                        <a:t>Fall 24-25</a:t>
                      </a:r>
                      <a:endParaRPr lang="en-US" dirty="0"/>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Assistant Professor:</a:t>
                      </a:r>
                    </a:p>
                  </a:txBody>
                  <a:tcPr/>
                </a:tc>
                <a:tc gridSpan="5">
                  <a:txBody>
                    <a:bodyPr/>
                    <a:lstStyle/>
                    <a:p>
                      <a:r>
                        <a:rPr lang="en-US" i="1" dirty="0"/>
                        <a:t>Dr. Mousumi Bala; </a:t>
                      </a:r>
                      <a:r>
                        <a:rPr lang="en-US" i="1" dirty="0">
                          <a:hlinkClick r:id="rId2"/>
                        </a:rPr>
                        <a:t>mousumi</a:t>
                      </a:r>
                      <a:r>
                        <a:rPr lang="en-US" i="1">
                          <a:hlinkClick r:id="rId2"/>
                        </a:rPr>
                        <a:t>.bala@</a:t>
                      </a:r>
                      <a:r>
                        <a:rPr lang="en-US" i="1" dirty="0">
                          <a:hlinkClick r:id="rId2"/>
                        </a:rPr>
                        <a:t>aiub.edu</a:t>
                      </a:r>
                      <a:r>
                        <a:rPr lang="en-US" i="1" dirty="0"/>
                        <a:t> </a:t>
                      </a:r>
                    </a:p>
                  </a:txBody>
                  <a:tcPr/>
                </a:tc>
                <a:tc hMerge="1">
                  <a:txBody>
                    <a:bodyPr/>
                    <a:lstStyle/>
                    <a:p>
                      <a:endParaRPr lang="en-FI"/>
                    </a:p>
                  </a:txBody>
                  <a:tcPr/>
                </a:tc>
                <a:tc hMerge="1">
                  <a:txBody>
                    <a:bodyPr/>
                    <a:lstStyle/>
                    <a:p>
                      <a:endParaRPr lang="en-FI"/>
                    </a:p>
                  </a:txBody>
                  <a:tcPr/>
                </a:tc>
                <a:tc hMerge="1">
                  <a:txBody>
                    <a:bodyPr/>
                    <a:lstStyle/>
                    <a:p>
                      <a:endParaRPr lang="en-FI"/>
                    </a:p>
                  </a:txBody>
                  <a:tcPr/>
                </a:tc>
                <a:tc hMerge="1">
                  <a:txBody>
                    <a:bodyPr/>
                    <a:lstStyle/>
                    <a:p>
                      <a:endParaRPr lang="en-FI"/>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Computer Networks</a:t>
            </a:r>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486697" y="2363928"/>
            <a:ext cx="7754112" cy="3009930"/>
          </a:xfrm>
        </p:spPr>
        <p:txBody>
          <a:bodyPr>
            <a:normAutofit/>
          </a:bodyPr>
          <a:lstStyle/>
          <a:p>
            <a:pPr marL="342900" indent="-342900">
              <a:buAutoNum type="arabicPeriod"/>
            </a:pPr>
            <a:r>
              <a:rPr lang="en-US" sz="2600" dirty="0">
                <a:solidFill>
                  <a:schemeClr val="tx1"/>
                </a:solidFill>
                <a:latin typeface="Perpetua" panose="02020502060401020303" pitchFamily="18" charset="0"/>
              </a:rPr>
              <a:t>Introduction</a:t>
            </a:r>
          </a:p>
          <a:p>
            <a:pPr marL="342900" indent="-342900">
              <a:buAutoNum type="arabicPeriod"/>
            </a:pPr>
            <a:r>
              <a:rPr lang="en-US" sz="2600" dirty="0">
                <a:solidFill>
                  <a:schemeClr val="tx1"/>
                </a:solidFill>
                <a:latin typeface="Perpetua" panose="02020502060401020303" pitchFamily="18" charset="0"/>
              </a:rPr>
              <a:t>Static routing vs dynamic routing</a:t>
            </a:r>
          </a:p>
          <a:p>
            <a:pPr marL="342900" indent="-342900">
              <a:buAutoNum type="arabicPeriod"/>
            </a:pPr>
            <a:r>
              <a:rPr lang="en-US" sz="2600" dirty="0">
                <a:solidFill>
                  <a:schemeClr val="tx1"/>
                </a:solidFill>
                <a:latin typeface="Perpetua" panose="02020502060401020303" pitchFamily="18" charset="0"/>
              </a:rPr>
              <a:t>Dynamic routing</a:t>
            </a:r>
          </a:p>
          <a:p>
            <a:pPr marL="342900" indent="-342900">
              <a:buAutoNum type="arabicPeriod"/>
            </a:pPr>
            <a:r>
              <a:rPr lang="en-US" sz="2600" dirty="0">
                <a:solidFill>
                  <a:schemeClr val="tx1"/>
                </a:solidFill>
                <a:latin typeface="Perpetua" panose="02020502060401020303" pitchFamily="18" charset="0"/>
              </a:rPr>
              <a:t>Routing information protocol (RIP)</a:t>
            </a:r>
          </a:p>
          <a:p>
            <a:pPr marL="342900" indent="-342900">
              <a:buAutoNum type="arabicPeriod"/>
            </a:pPr>
            <a:endParaRPr lang="en-US" sz="2600" dirty="0">
              <a:solidFill>
                <a:schemeClr val="tx1"/>
              </a:solidFill>
              <a:latin typeface="Perpetua" panose="02020502060401020303" pitchFamily="18" charset="0"/>
            </a:endParaRPr>
          </a:p>
          <a:p>
            <a:pPr marL="342900" indent="-342900">
              <a:buAutoNum type="arabicPeriod"/>
            </a:pPr>
            <a:endParaRPr lang="en-US" sz="2600" dirty="0">
              <a:solidFill>
                <a:schemeClr val="tx1"/>
              </a:solidFill>
              <a:latin typeface="Perpetua" panose="02020502060401020303" pitchFamily="18" charset="0"/>
            </a:endParaRP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Introduction</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en-FI" dirty="0"/>
          </a:p>
        </p:txBody>
      </p:sp>
      <p:sp>
        <p:nvSpPr>
          <p:cNvPr id="3" name="Rectangle 2">
            <a:extLst>
              <a:ext uri="{FF2B5EF4-FFF2-40B4-BE49-F238E27FC236}">
                <a16:creationId xmlns:a16="http://schemas.microsoft.com/office/drawing/2014/main" id="{0B3A29AB-BF7B-4ACB-BF50-6DF730E2EA7E}"/>
              </a:ext>
            </a:extLst>
          </p:cNvPr>
          <p:cNvSpPr/>
          <p:nvPr/>
        </p:nvSpPr>
        <p:spPr>
          <a:xfrm>
            <a:off x="326572" y="2620563"/>
            <a:ext cx="8501742" cy="2086725"/>
          </a:xfrm>
          <a:prstGeom prst="rect">
            <a:avLst/>
          </a:prstGeom>
        </p:spPr>
        <p:txBody>
          <a:bodyPr wrap="square">
            <a:spAutoFit/>
          </a:bodyPr>
          <a:lstStyle/>
          <a:p>
            <a:pPr marL="342900" marR="0" lvl="0" indent="-342900" defTabSz="914400" eaLnBrk="1" fontAlgn="auto" latinLnBrk="0" hangingPunct="1">
              <a:lnSpc>
                <a:spcPct val="100000"/>
              </a:lnSpc>
              <a:spcBef>
                <a:spcPct val="20000"/>
              </a:spcBef>
              <a:spcAft>
                <a:spcPts val="0"/>
              </a:spcAft>
              <a:buClrTx/>
              <a:buSzTx/>
              <a:buFont typeface="Wingdings" panose="05000000000000000000" pitchFamily="2" charset="2"/>
              <a:buChar char="v"/>
              <a:tabLst/>
              <a:defRPr/>
            </a:pPr>
            <a:r>
              <a:rPr kumimoji="0" lang="en-US" sz="2400" b="0" i="0" u="none" strike="noStrike" kern="0" cap="none" spc="0" normalizeH="0" baseline="0" noProof="0" dirty="0">
                <a:ln>
                  <a:noFill/>
                </a:ln>
                <a:solidFill>
                  <a:prstClr val="black"/>
                </a:solidFill>
                <a:effectLst/>
                <a:uLnTx/>
                <a:uFillTx/>
                <a:latin typeface="Perpetua" panose="02020502060401020303" pitchFamily="18" charset="0"/>
              </a:rPr>
              <a:t>Routing</a:t>
            </a:r>
          </a:p>
          <a:p>
            <a:pPr marL="800100" lvl="1" indent="-342900">
              <a:spcBef>
                <a:spcPct val="20000"/>
              </a:spcBef>
              <a:buFont typeface="Wingdings" panose="05000000000000000000" pitchFamily="2" charset="2"/>
              <a:buChar char="Ø"/>
            </a:pPr>
            <a:r>
              <a:rPr kumimoji="0" lang="en-US" sz="2200" b="0" i="0" u="none" strike="noStrike" kern="0" cap="none" spc="0" normalizeH="0" baseline="0" noProof="0" dirty="0">
                <a:ln>
                  <a:noFill/>
                </a:ln>
                <a:solidFill>
                  <a:prstClr val="black"/>
                </a:solidFill>
                <a:effectLst/>
                <a:uLnTx/>
                <a:uFillTx/>
                <a:latin typeface="Perpetua" panose="02020502060401020303" pitchFamily="18" charset="0"/>
              </a:rPr>
              <a:t>     </a:t>
            </a:r>
            <a:r>
              <a:rPr lang="en-US" sz="2200" kern="0" dirty="0">
                <a:solidFill>
                  <a:prstClr val="black"/>
                </a:solidFill>
                <a:latin typeface="Perpetua" panose="02020502060401020303" pitchFamily="18" charset="0"/>
              </a:rPr>
              <a:t>routing is the act of forwarding network packets from a source</a:t>
            </a:r>
          </a:p>
          <a:p>
            <a:pPr lvl="1">
              <a:spcBef>
                <a:spcPct val="20000"/>
              </a:spcBef>
            </a:pPr>
            <a:r>
              <a:rPr lang="en-US" sz="2200" kern="0" dirty="0">
                <a:solidFill>
                  <a:prstClr val="black"/>
                </a:solidFill>
                <a:latin typeface="Perpetua" panose="02020502060401020303" pitchFamily="18" charset="0"/>
              </a:rPr>
              <a:t>network to a destination networks by a router based on its routing table [2].</a:t>
            </a:r>
          </a:p>
          <a:p>
            <a:pPr lvl="1">
              <a:spcBef>
                <a:spcPct val="20000"/>
              </a:spcBef>
            </a:pPr>
            <a:endParaRPr lang="en-US" sz="2200" kern="0" dirty="0">
              <a:solidFill>
                <a:prstClr val="black"/>
              </a:solidFill>
              <a:latin typeface="Perpetua" panose="02020502060401020303" pitchFamily="18" charset="0"/>
            </a:endParaRPr>
          </a:p>
          <a:p>
            <a:pPr lvl="1">
              <a:spcBef>
                <a:spcPct val="20000"/>
              </a:spcBef>
            </a:pPr>
            <a:endParaRPr kumimoji="0" lang="en-US" sz="2200" b="0" i="0" u="none" strike="noStrike" kern="0" cap="none" spc="0" normalizeH="0" baseline="0" noProof="0" dirty="0">
              <a:ln>
                <a:noFill/>
              </a:ln>
              <a:solidFill>
                <a:prstClr val="black"/>
              </a:solidFill>
              <a:effectLst/>
              <a:uLnTx/>
              <a:uFillTx/>
              <a:latin typeface="Perpetua" panose="02020502060401020303" pitchFamily="18" charset="0"/>
            </a:endParaRPr>
          </a:p>
        </p:txBody>
      </p:sp>
      <p:pic>
        <p:nvPicPr>
          <p:cNvPr id="4" name="Picture 3">
            <a:extLst>
              <a:ext uri="{FF2B5EF4-FFF2-40B4-BE49-F238E27FC236}">
                <a16:creationId xmlns:a16="http://schemas.microsoft.com/office/drawing/2014/main" id="{34F81881-5A94-47D2-81BD-85BF9DD6B8DD}"/>
              </a:ext>
            </a:extLst>
          </p:cNvPr>
          <p:cNvPicPr>
            <a:picLocks noChangeAspect="1"/>
          </p:cNvPicPr>
          <p:nvPr/>
        </p:nvPicPr>
        <p:blipFill>
          <a:blip r:embed="rId2"/>
          <a:stretch>
            <a:fillRect/>
          </a:stretch>
        </p:blipFill>
        <p:spPr>
          <a:xfrm>
            <a:off x="749326" y="3943248"/>
            <a:ext cx="7362319" cy="1966913"/>
          </a:xfrm>
          <a:prstGeom prst="rect">
            <a:avLst/>
          </a:prstGeom>
        </p:spPr>
      </p:pic>
      <p:sp>
        <p:nvSpPr>
          <p:cNvPr id="7" name="TextBox 6">
            <a:extLst>
              <a:ext uri="{FF2B5EF4-FFF2-40B4-BE49-F238E27FC236}">
                <a16:creationId xmlns:a16="http://schemas.microsoft.com/office/drawing/2014/main" id="{48B0772E-9B42-4B19-AA48-8AA739CD9F0C}"/>
              </a:ext>
            </a:extLst>
          </p:cNvPr>
          <p:cNvSpPr txBox="1"/>
          <p:nvPr/>
        </p:nvSpPr>
        <p:spPr>
          <a:xfrm>
            <a:off x="2122714" y="5845307"/>
            <a:ext cx="3236655" cy="369332"/>
          </a:xfrm>
          <a:prstGeom prst="rect">
            <a:avLst/>
          </a:prstGeom>
          <a:noFill/>
        </p:spPr>
        <p:txBody>
          <a:bodyPr wrap="none" rtlCol="0">
            <a:spAutoFit/>
          </a:bodyPr>
          <a:lstStyle/>
          <a:p>
            <a:r>
              <a:rPr lang="en-US" dirty="0"/>
              <a:t>Fig. A simplified routing table [2]</a:t>
            </a:r>
          </a:p>
        </p:txBody>
      </p:sp>
    </p:spTree>
    <p:extLst>
      <p:ext uri="{BB962C8B-B14F-4D97-AF65-F5344CB8AC3E}">
        <p14:creationId xmlns:p14="http://schemas.microsoft.com/office/powerpoint/2010/main" val="6353942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Introduction</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en-FI" dirty="0"/>
          </a:p>
        </p:txBody>
      </p:sp>
      <p:sp>
        <p:nvSpPr>
          <p:cNvPr id="3" name="Rectangle 2">
            <a:extLst>
              <a:ext uri="{FF2B5EF4-FFF2-40B4-BE49-F238E27FC236}">
                <a16:creationId xmlns:a16="http://schemas.microsoft.com/office/drawing/2014/main" id="{0B3A29AB-BF7B-4ACB-BF50-6DF730E2EA7E}"/>
              </a:ext>
            </a:extLst>
          </p:cNvPr>
          <p:cNvSpPr/>
          <p:nvPr/>
        </p:nvSpPr>
        <p:spPr>
          <a:xfrm>
            <a:off x="321129" y="2206906"/>
            <a:ext cx="8501742" cy="4795159"/>
          </a:xfrm>
          <a:prstGeom prst="rect">
            <a:avLst/>
          </a:prstGeom>
        </p:spPr>
        <p:txBody>
          <a:bodyPr wrap="square">
            <a:spAutoFit/>
          </a:bodyPr>
          <a:lstStyle/>
          <a:p>
            <a:pPr marL="342900" marR="0" lvl="0" indent="-342900" defTabSz="914400" eaLnBrk="1" fontAlgn="auto" latinLnBrk="0" hangingPunct="1">
              <a:lnSpc>
                <a:spcPct val="100000"/>
              </a:lnSpc>
              <a:spcBef>
                <a:spcPct val="20000"/>
              </a:spcBef>
              <a:spcAft>
                <a:spcPts val="0"/>
              </a:spcAft>
              <a:buClrTx/>
              <a:buSzTx/>
              <a:buFont typeface="Wingdings" panose="05000000000000000000" pitchFamily="2" charset="2"/>
              <a:buChar char="v"/>
              <a:tabLst/>
              <a:defRPr/>
            </a:pPr>
            <a:r>
              <a:rPr kumimoji="0" lang="en-US" sz="2400" b="0" i="0" u="none" strike="noStrike" kern="0" cap="none" spc="0" normalizeH="0" baseline="0" noProof="0" dirty="0">
                <a:ln>
                  <a:noFill/>
                </a:ln>
                <a:solidFill>
                  <a:prstClr val="black"/>
                </a:solidFill>
                <a:effectLst/>
                <a:uLnTx/>
                <a:uFillTx/>
                <a:latin typeface="Perpetua" panose="02020502060401020303" pitchFamily="18" charset="0"/>
              </a:rPr>
              <a:t>How is the routing table created?</a:t>
            </a:r>
          </a:p>
          <a:p>
            <a:pPr marL="800100" lvl="1" indent="-342900">
              <a:spcBef>
                <a:spcPct val="20000"/>
              </a:spcBef>
              <a:buFont typeface="Wingdings" panose="05000000000000000000" pitchFamily="2" charset="2"/>
              <a:buChar char="§"/>
            </a:pPr>
            <a:r>
              <a:rPr kumimoji="0" lang="en-US" sz="2200" b="0" i="0" u="none" strike="noStrike" kern="0" cap="none" spc="0" normalizeH="0" baseline="0" noProof="0" dirty="0">
                <a:ln>
                  <a:noFill/>
                </a:ln>
                <a:solidFill>
                  <a:prstClr val="black"/>
                </a:solidFill>
                <a:effectLst/>
                <a:uLnTx/>
                <a:uFillTx/>
                <a:latin typeface="Perpetua" panose="02020502060401020303" pitchFamily="18" charset="0"/>
              </a:rPr>
              <a:t> Static routing</a:t>
            </a:r>
          </a:p>
          <a:p>
            <a:pPr marL="1257300" lvl="2" indent="-342900">
              <a:spcBef>
                <a:spcPct val="20000"/>
              </a:spcBef>
              <a:buFont typeface="Wingdings" panose="05000000000000000000" pitchFamily="2" charset="2"/>
              <a:buChar char="Ø"/>
            </a:pPr>
            <a:r>
              <a:rPr kumimoji="0" lang="en-US" sz="2200" b="0" i="0" u="none" strike="noStrike" kern="0" cap="none" spc="0" normalizeH="0" baseline="0" noProof="0" dirty="0">
                <a:ln>
                  <a:noFill/>
                </a:ln>
                <a:solidFill>
                  <a:prstClr val="black"/>
                </a:solidFill>
                <a:effectLst/>
                <a:uLnTx/>
                <a:uFillTx/>
                <a:latin typeface="Perpetua" panose="02020502060401020303" pitchFamily="18" charset="0"/>
              </a:rPr>
              <a:t> </a:t>
            </a:r>
            <a:r>
              <a:rPr lang="en-US" sz="2200" kern="0" dirty="0">
                <a:solidFill>
                  <a:prstClr val="black"/>
                </a:solidFill>
                <a:latin typeface="Perpetua" panose="02020502060401020303" pitchFamily="18" charset="0"/>
              </a:rPr>
              <a:t>If it is done manually by inputting information for each destination network by a network engineer, </a:t>
            </a:r>
          </a:p>
          <a:p>
            <a:pPr marL="1257300" lvl="2" indent="-342900">
              <a:spcBef>
                <a:spcPct val="20000"/>
              </a:spcBef>
              <a:buFont typeface="Wingdings" panose="05000000000000000000" pitchFamily="2" charset="2"/>
              <a:buChar char="Ø"/>
            </a:pPr>
            <a:r>
              <a:rPr lang="en-US" sz="2200" kern="0" dirty="0">
                <a:solidFill>
                  <a:prstClr val="black"/>
                </a:solidFill>
                <a:latin typeface="Perpetua" panose="02020502060401020303" pitchFamily="18" charset="0"/>
              </a:rPr>
              <a:t>Suitable for very small network</a:t>
            </a:r>
          </a:p>
          <a:p>
            <a:pPr marL="800100" lvl="1" indent="-342900">
              <a:spcBef>
                <a:spcPct val="20000"/>
              </a:spcBef>
              <a:buFont typeface="Wingdings" panose="05000000000000000000" pitchFamily="2" charset="2"/>
              <a:buChar char="§"/>
            </a:pPr>
            <a:r>
              <a:rPr lang="en-US" sz="2200" kern="0" dirty="0">
                <a:solidFill>
                  <a:prstClr val="black"/>
                </a:solidFill>
                <a:latin typeface="Perpetua" panose="02020502060401020303" pitchFamily="18" charset="0"/>
              </a:rPr>
              <a:t>Dynamic routing</a:t>
            </a:r>
          </a:p>
          <a:p>
            <a:pPr marL="1257300" lvl="2" indent="-342900">
              <a:spcBef>
                <a:spcPct val="20000"/>
              </a:spcBef>
              <a:buFont typeface="Wingdings" panose="05000000000000000000" pitchFamily="2" charset="2"/>
              <a:buChar char="Ø"/>
            </a:pPr>
            <a:r>
              <a:rPr lang="en-US" sz="2200" kern="0" dirty="0">
                <a:solidFill>
                  <a:prstClr val="black"/>
                </a:solidFill>
                <a:latin typeface="Perpetua" panose="02020502060401020303" pitchFamily="18" charset="0"/>
              </a:rPr>
              <a:t>If the table is created and modified automatically depending on the network condition by a routing protocol</a:t>
            </a:r>
          </a:p>
          <a:p>
            <a:pPr marL="1257300" lvl="2" indent="-342900">
              <a:spcBef>
                <a:spcPct val="20000"/>
              </a:spcBef>
              <a:buFont typeface="Wingdings" panose="05000000000000000000" pitchFamily="2" charset="2"/>
              <a:buChar char="Ø"/>
            </a:pPr>
            <a:r>
              <a:rPr lang="en-US" sz="2200" kern="0" dirty="0">
                <a:solidFill>
                  <a:prstClr val="black"/>
                </a:solidFill>
                <a:latin typeface="Perpetua" panose="02020502060401020303" pitchFamily="18" charset="0"/>
              </a:rPr>
              <a:t>Dynamic routing can be deployed on small to large size network.</a:t>
            </a:r>
          </a:p>
          <a:p>
            <a:pPr marL="1257300" lvl="2" indent="-342900">
              <a:spcBef>
                <a:spcPct val="20000"/>
              </a:spcBef>
              <a:buFont typeface="Wingdings" panose="05000000000000000000" pitchFamily="2" charset="2"/>
              <a:buChar char="Ø"/>
            </a:pPr>
            <a:endParaRPr lang="en-US" sz="2200" kern="0" dirty="0">
              <a:solidFill>
                <a:prstClr val="black"/>
              </a:solidFill>
              <a:latin typeface="Perpetua" panose="02020502060401020303" pitchFamily="18" charset="0"/>
            </a:endParaRPr>
          </a:p>
          <a:p>
            <a:pPr lvl="1">
              <a:spcBef>
                <a:spcPct val="20000"/>
              </a:spcBef>
            </a:pPr>
            <a:endParaRPr lang="en-US" sz="2200" kern="0" dirty="0">
              <a:solidFill>
                <a:prstClr val="black"/>
              </a:solidFill>
              <a:latin typeface="Perpetua" panose="02020502060401020303" pitchFamily="18" charset="0"/>
            </a:endParaRPr>
          </a:p>
          <a:p>
            <a:pPr lvl="1">
              <a:spcBef>
                <a:spcPct val="20000"/>
              </a:spcBef>
            </a:pPr>
            <a:endParaRPr kumimoji="0" lang="en-US" sz="2200" b="0" i="0" u="none" strike="noStrike" kern="0" cap="none" spc="0" normalizeH="0" baseline="0" noProof="0" dirty="0">
              <a:ln>
                <a:noFill/>
              </a:ln>
              <a:solidFill>
                <a:prstClr val="black"/>
              </a:solidFill>
              <a:effectLst/>
              <a:uLnTx/>
              <a:uFillTx/>
              <a:latin typeface="Perpetua" panose="02020502060401020303" pitchFamily="18" charset="0"/>
            </a:endParaRPr>
          </a:p>
        </p:txBody>
      </p:sp>
    </p:spTree>
    <p:extLst>
      <p:ext uri="{BB962C8B-B14F-4D97-AF65-F5344CB8AC3E}">
        <p14:creationId xmlns:p14="http://schemas.microsoft.com/office/powerpoint/2010/main" val="6679278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Dynamic Routing</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Features</a:t>
            </a:r>
            <a:endParaRPr lang="en-FI" dirty="0"/>
          </a:p>
        </p:txBody>
      </p:sp>
      <p:sp>
        <p:nvSpPr>
          <p:cNvPr id="4" name="Rectangle 3">
            <a:extLst>
              <a:ext uri="{FF2B5EF4-FFF2-40B4-BE49-F238E27FC236}">
                <a16:creationId xmlns:a16="http://schemas.microsoft.com/office/drawing/2014/main" id="{76C550C3-62AD-43BE-9E6A-F16C5865461A}"/>
              </a:ext>
            </a:extLst>
          </p:cNvPr>
          <p:cNvSpPr/>
          <p:nvPr/>
        </p:nvSpPr>
        <p:spPr>
          <a:xfrm>
            <a:off x="421341" y="2754217"/>
            <a:ext cx="8191590" cy="2086725"/>
          </a:xfrm>
          <a:prstGeom prst="rect">
            <a:avLst/>
          </a:prstGeom>
        </p:spPr>
        <p:txBody>
          <a:bodyPr wrap="square">
            <a:spAutoFit/>
          </a:bodyPr>
          <a:lstStyle/>
          <a:p>
            <a:pPr marL="342900" marR="0" lvl="0" indent="-342900" algn="just" defTabSz="914400" eaLnBrk="1" fontAlgn="auto" latinLnBrk="0" hangingPunct="1">
              <a:lnSpc>
                <a:spcPct val="100000"/>
              </a:lnSpc>
              <a:spcBef>
                <a:spcPct val="20000"/>
              </a:spcBef>
              <a:spcAft>
                <a:spcPts val="0"/>
              </a:spcAft>
              <a:buClr>
                <a:srgbClr val="C00000"/>
              </a:buClr>
              <a:buSzPct val="150000"/>
              <a:buFont typeface="Arial" panose="020B0604020202020204" pitchFamily="34" charset="0"/>
              <a:buChar char="•"/>
              <a:tabLst/>
              <a:defRPr/>
            </a:pPr>
            <a:r>
              <a:rPr kumimoji="0" lang="en-US" sz="2400" b="0" i="0" u="none" strike="noStrike" kern="0" cap="none" spc="0" normalizeH="0" baseline="0" noProof="0" dirty="0">
                <a:ln>
                  <a:noFill/>
                </a:ln>
                <a:solidFill>
                  <a:prstClr val="black"/>
                </a:solidFill>
                <a:effectLst/>
                <a:uLnTx/>
                <a:uFillTx/>
                <a:latin typeface="Perpetua" panose="02020502060401020303" pitchFamily="18" charset="0"/>
              </a:rPr>
              <a:t>Facilitates the exchange of routing information between routers</a:t>
            </a:r>
          </a:p>
          <a:p>
            <a:pPr marL="342900" marR="0" lvl="0" indent="-342900" algn="just" defTabSz="914400" eaLnBrk="1" fontAlgn="auto" latinLnBrk="0" hangingPunct="1">
              <a:lnSpc>
                <a:spcPct val="100000"/>
              </a:lnSpc>
              <a:spcBef>
                <a:spcPct val="20000"/>
              </a:spcBef>
              <a:spcAft>
                <a:spcPts val="0"/>
              </a:spcAft>
              <a:buClr>
                <a:srgbClr val="C00000"/>
              </a:buClr>
              <a:buSzPct val="150000"/>
              <a:buFont typeface="Arial" panose="020B0604020202020204" pitchFamily="34" charset="0"/>
              <a:buChar char="•"/>
              <a:tabLst/>
              <a:defRPr/>
            </a:pPr>
            <a:r>
              <a:rPr kumimoji="0" lang="en-US" sz="2400" b="0" i="0" u="none" strike="noStrike" kern="0" cap="none" spc="0" normalizeH="0" baseline="0" noProof="0" dirty="0">
                <a:ln>
                  <a:noFill/>
                </a:ln>
                <a:solidFill>
                  <a:prstClr val="black"/>
                </a:solidFill>
                <a:effectLst/>
                <a:uLnTx/>
                <a:uFillTx/>
                <a:latin typeface="Perpetua" panose="02020502060401020303" pitchFamily="18" charset="0"/>
              </a:rPr>
              <a:t>Allow routers to dynamically learn information about remote networks and automatically add this information to their own routing tables</a:t>
            </a:r>
          </a:p>
          <a:p>
            <a:pPr marL="342900" marR="0" lvl="0" indent="-342900" algn="just" defTabSz="914400" eaLnBrk="1" fontAlgn="auto" latinLnBrk="0" hangingPunct="1">
              <a:lnSpc>
                <a:spcPct val="100000"/>
              </a:lnSpc>
              <a:spcBef>
                <a:spcPct val="20000"/>
              </a:spcBef>
              <a:spcAft>
                <a:spcPts val="0"/>
              </a:spcAft>
              <a:buClr>
                <a:srgbClr val="C00000"/>
              </a:buClr>
              <a:buSzPct val="150000"/>
              <a:buFont typeface="Arial" panose="020B0604020202020204" pitchFamily="34" charset="0"/>
              <a:buChar char="•"/>
              <a:tabLst/>
              <a:defRPr/>
            </a:pPr>
            <a:r>
              <a:rPr kumimoji="0" lang="en-US" sz="2400" b="0" i="0" u="none" strike="noStrike" kern="0" cap="none" spc="0" normalizeH="0" baseline="0" noProof="0" dirty="0">
                <a:ln>
                  <a:noFill/>
                </a:ln>
                <a:solidFill>
                  <a:prstClr val="black"/>
                </a:solidFill>
                <a:effectLst/>
                <a:uLnTx/>
                <a:uFillTx/>
                <a:latin typeface="Perpetua" panose="02020502060401020303" pitchFamily="18" charset="0"/>
              </a:rPr>
              <a:t>Determines the best path to each network</a:t>
            </a:r>
            <a:endParaRPr kumimoji="0" lang="en-US" sz="2400" b="0" i="0" u="none" strike="noStrike" kern="0" cap="none" spc="0" normalizeH="0" baseline="0" noProof="0" dirty="0">
              <a:ln>
                <a:noFill/>
              </a:ln>
              <a:solidFill>
                <a:sysClr val="windowText" lastClr="000000"/>
              </a:solidFill>
              <a:effectLst/>
              <a:uLnTx/>
              <a:uFillTx/>
              <a:latin typeface="Perpetua" panose="02020502060401020303" pitchFamily="18" charset="0"/>
            </a:endParaRPr>
          </a:p>
        </p:txBody>
      </p:sp>
    </p:spTree>
    <p:extLst>
      <p:ext uri="{BB962C8B-B14F-4D97-AF65-F5344CB8AC3E}">
        <p14:creationId xmlns:p14="http://schemas.microsoft.com/office/powerpoint/2010/main" val="17671607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Dynamic Routing….</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Ways to classify routing protocols</a:t>
            </a:r>
            <a:endParaRPr lang="en-FI" dirty="0"/>
          </a:p>
        </p:txBody>
      </p:sp>
      <p:sp>
        <p:nvSpPr>
          <p:cNvPr id="3" name="Rectangle 2">
            <a:extLst>
              <a:ext uri="{FF2B5EF4-FFF2-40B4-BE49-F238E27FC236}">
                <a16:creationId xmlns:a16="http://schemas.microsoft.com/office/drawing/2014/main" id="{F5B0BA49-C7A3-470A-8BDA-4AA974047851}"/>
              </a:ext>
            </a:extLst>
          </p:cNvPr>
          <p:cNvSpPr/>
          <p:nvPr/>
        </p:nvSpPr>
        <p:spPr>
          <a:xfrm>
            <a:off x="366478" y="2754969"/>
            <a:ext cx="7863839" cy="904863"/>
          </a:xfrm>
          <a:prstGeom prst="rect">
            <a:avLst/>
          </a:prstGeom>
        </p:spPr>
        <p:txBody>
          <a:bodyPr wrap="square">
            <a:spAutoFit/>
          </a:bodyPr>
          <a:lstStyle/>
          <a:p>
            <a:pPr marL="342900" marR="0" lvl="0" indent="-342900" defTabSz="914400" eaLnBrk="1" fontAlgn="auto" latinLnBrk="0" hangingPunct="1">
              <a:lnSpc>
                <a:spcPct val="100000"/>
              </a:lnSpc>
              <a:spcBef>
                <a:spcPct val="20000"/>
              </a:spcBef>
              <a:spcAft>
                <a:spcPts val="0"/>
              </a:spcAft>
              <a:buClr>
                <a:srgbClr val="C00000"/>
              </a:buClr>
              <a:buSzPct val="150000"/>
              <a:buFont typeface="Arial" panose="020B0604020202020204" pitchFamily="34" charset="0"/>
              <a:buChar char="•"/>
              <a:tabLst/>
              <a:defRPr/>
            </a:pPr>
            <a:r>
              <a:rPr kumimoji="0" lang="en-US" sz="2400" b="0" i="0" u="none" strike="noStrike" kern="0" cap="none" spc="0" normalizeH="0" baseline="0" noProof="0" dirty="0">
                <a:ln>
                  <a:noFill/>
                </a:ln>
                <a:solidFill>
                  <a:prstClr val="black"/>
                </a:solidFill>
                <a:effectLst/>
                <a:uLnTx/>
                <a:uFillTx/>
                <a:latin typeface="Perpetua" panose="02020502060401020303" pitchFamily="18" charset="0"/>
              </a:rPr>
              <a:t>Interior Gateway Protocols or Exterior Gateway protocols</a:t>
            </a:r>
          </a:p>
          <a:p>
            <a:pPr marL="342900" marR="0" lvl="0" indent="-342900" defTabSz="914400" eaLnBrk="1" fontAlgn="auto" latinLnBrk="0" hangingPunct="1">
              <a:lnSpc>
                <a:spcPct val="100000"/>
              </a:lnSpc>
              <a:spcBef>
                <a:spcPct val="20000"/>
              </a:spcBef>
              <a:spcAft>
                <a:spcPts val="0"/>
              </a:spcAft>
              <a:buClr>
                <a:srgbClr val="C00000"/>
              </a:buClr>
              <a:buSzPct val="150000"/>
              <a:buFont typeface="Arial" panose="020B0604020202020204" pitchFamily="34" charset="0"/>
              <a:buChar char="•"/>
              <a:tabLst/>
              <a:defRPr/>
            </a:pPr>
            <a:r>
              <a:rPr kumimoji="0" lang="en-US" sz="2400" b="0" i="0" u="none" strike="noStrike" kern="0" cap="none" spc="0" normalizeH="0" baseline="0" noProof="0" dirty="0">
                <a:ln>
                  <a:noFill/>
                </a:ln>
                <a:solidFill>
                  <a:prstClr val="black"/>
                </a:solidFill>
                <a:effectLst/>
                <a:uLnTx/>
                <a:uFillTx/>
                <a:latin typeface="Perpetua" panose="02020502060401020303" pitchFamily="18" charset="0"/>
              </a:rPr>
              <a:t>Distance vector or Link state</a:t>
            </a:r>
          </a:p>
        </p:txBody>
      </p:sp>
    </p:spTree>
    <p:extLst>
      <p:ext uri="{BB962C8B-B14F-4D97-AF65-F5344CB8AC3E}">
        <p14:creationId xmlns:p14="http://schemas.microsoft.com/office/powerpoint/2010/main" val="29320866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Dynamic Routing….</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IGP</a:t>
            </a:r>
            <a:endParaRPr lang="en-FI" dirty="0"/>
          </a:p>
        </p:txBody>
      </p:sp>
      <p:sp>
        <p:nvSpPr>
          <p:cNvPr id="3" name="Rectangle 2">
            <a:extLst>
              <a:ext uri="{FF2B5EF4-FFF2-40B4-BE49-F238E27FC236}">
                <a16:creationId xmlns:a16="http://schemas.microsoft.com/office/drawing/2014/main" id="{74C06CA6-8B24-459F-904A-B60C9874DF3A}"/>
              </a:ext>
            </a:extLst>
          </p:cNvPr>
          <p:cNvSpPr/>
          <p:nvPr/>
        </p:nvSpPr>
        <p:spPr>
          <a:xfrm>
            <a:off x="407253" y="2199776"/>
            <a:ext cx="8246454" cy="3810274"/>
          </a:xfrm>
          <a:prstGeom prst="rect">
            <a:avLst/>
          </a:prstGeom>
        </p:spPr>
        <p:txBody>
          <a:bodyPr wrap="square">
            <a:spAutoFit/>
          </a:bodyPr>
          <a:lstStyle/>
          <a:p>
            <a:pPr marL="342900" marR="0" lvl="0" indent="-342900" defTabSz="914400" eaLnBrk="1" fontAlgn="auto" latinLnBrk="0" hangingPunct="1">
              <a:lnSpc>
                <a:spcPct val="100000"/>
              </a:lnSpc>
              <a:spcBef>
                <a:spcPct val="20000"/>
              </a:spcBef>
              <a:spcAft>
                <a:spcPts val="0"/>
              </a:spcAft>
              <a:buClr>
                <a:srgbClr val="C00000"/>
              </a:buClr>
              <a:buSzTx/>
              <a:buFont typeface="Wingdings" panose="05000000000000000000" pitchFamily="2" charset="2"/>
              <a:buChar char="q"/>
              <a:tabLst/>
              <a:defRPr/>
            </a:pPr>
            <a:r>
              <a:rPr kumimoji="0" lang="en-US" sz="2800" b="0" i="0" u="none" strike="noStrike" kern="0" cap="none" spc="0" normalizeH="0" baseline="0" noProof="0" dirty="0">
                <a:ln>
                  <a:noFill/>
                </a:ln>
                <a:solidFill>
                  <a:prstClr val="black"/>
                </a:solidFill>
                <a:effectLst/>
                <a:uLnTx/>
                <a:uFillTx/>
                <a:latin typeface="Perpetua" panose="02020502060401020303" pitchFamily="18" charset="0"/>
              </a:rPr>
              <a:t>IGP</a:t>
            </a:r>
          </a:p>
          <a:p>
            <a:pPr marL="742950" marR="0" lvl="1" indent="-285750" defTabSz="914400" eaLnBrk="1" fontAlgn="auto" latinLnBrk="0" hangingPunct="1">
              <a:lnSpc>
                <a:spcPct val="100000"/>
              </a:lnSpc>
              <a:spcBef>
                <a:spcPct val="20000"/>
              </a:spcBef>
              <a:spcAft>
                <a:spcPts val="0"/>
              </a:spcAft>
              <a:buClr>
                <a:srgbClr val="C00000"/>
              </a:buClr>
              <a:buSzTx/>
              <a:buFont typeface="Wingdings" panose="05000000000000000000" pitchFamily="2" charset="2"/>
              <a:buChar char="Ø"/>
              <a:tabLst/>
              <a:defRPr/>
            </a:pPr>
            <a:r>
              <a:rPr kumimoji="0" lang="en-US" sz="2400" b="0" i="0" u="none" strike="noStrike" kern="0" cap="none" spc="0" normalizeH="0" baseline="0" noProof="0" dirty="0">
                <a:ln>
                  <a:noFill/>
                </a:ln>
                <a:solidFill>
                  <a:prstClr val="black"/>
                </a:solidFill>
                <a:effectLst/>
                <a:uLnTx/>
                <a:uFillTx/>
                <a:latin typeface="Perpetua" panose="02020502060401020303" pitchFamily="18" charset="0"/>
              </a:rPr>
              <a:t>Routing inside an autonomous system (AS), where, AS is a collection of networks under a common administrator</a:t>
            </a:r>
          </a:p>
          <a:p>
            <a:pPr marL="742950" marR="0" lvl="1" indent="-285750" defTabSz="914400" eaLnBrk="1" fontAlgn="auto" latinLnBrk="0" hangingPunct="1">
              <a:lnSpc>
                <a:spcPct val="100000"/>
              </a:lnSpc>
              <a:spcBef>
                <a:spcPct val="20000"/>
              </a:spcBef>
              <a:spcAft>
                <a:spcPts val="0"/>
              </a:spcAft>
              <a:buClr>
                <a:srgbClr val="C00000"/>
              </a:buClr>
              <a:buSzTx/>
              <a:buFont typeface="Wingdings" panose="05000000000000000000" pitchFamily="2" charset="2"/>
              <a:buChar char="Ø"/>
              <a:tabLst/>
              <a:defRPr/>
            </a:pPr>
            <a:r>
              <a:rPr kumimoji="0" lang="en-US" sz="2400" b="0" i="0" u="none" strike="noStrike" kern="0" cap="none" spc="0" normalizeH="0" baseline="0" noProof="0" dirty="0">
                <a:ln>
                  <a:noFill/>
                </a:ln>
                <a:solidFill>
                  <a:prstClr val="black"/>
                </a:solidFill>
                <a:effectLst/>
                <a:uLnTx/>
                <a:uFillTx/>
                <a:latin typeface="Perpetua" panose="02020502060401020303" pitchFamily="18" charset="0"/>
              </a:rPr>
              <a:t>Example</a:t>
            </a:r>
          </a:p>
          <a:p>
            <a:pPr marL="1143000" marR="0" lvl="2" indent="-342900" defTabSz="914400" eaLnBrk="1" fontAlgn="auto" latinLnBrk="0" hangingPunct="1">
              <a:lnSpc>
                <a:spcPct val="100000"/>
              </a:lnSpc>
              <a:spcBef>
                <a:spcPct val="20000"/>
              </a:spcBef>
              <a:spcAft>
                <a:spcPts val="0"/>
              </a:spcAft>
              <a:buClr>
                <a:srgbClr val="C00000"/>
              </a:buClr>
              <a:buSzTx/>
              <a:buFont typeface="Courier New" panose="02070309020205020404" pitchFamily="49" charset="0"/>
              <a:buChar char="o"/>
              <a:tabLst/>
              <a:defRPr/>
            </a:pPr>
            <a:r>
              <a:rPr kumimoji="0" lang="en-US" sz="2200" b="0" i="0" u="none" strike="noStrike" kern="0" cap="none" spc="0" normalizeH="0" baseline="0" noProof="0" dirty="0">
                <a:ln>
                  <a:noFill/>
                </a:ln>
                <a:solidFill>
                  <a:prstClr val="black"/>
                </a:solidFill>
                <a:effectLst/>
                <a:uLnTx/>
                <a:uFillTx/>
                <a:latin typeface="Perpetua" panose="02020502060401020303" pitchFamily="18" charset="0"/>
              </a:rPr>
              <a:t> Routing Information Protocol (RIP) version 1</a:t>
            </a:r>
          </a:p>
          <a:p>
            <a:pPr marL="1143000" marR="0" lvl="2" indent="-342900" defTabSz="914400" eaLnBrk="1" fontAlgn="auto" latinLnBrk="0" hangingPunct="1">
              <a:lnSpc>
                <a:spcPct val="100000"/>
              </a:lnSpc>
              <a:spcBef>
                <a:spcPct val="20000"/>
              </a:spcBef>
              <a:spcAft>
                <a:spcPts val="0"/>
              </a:spcAft>
              <a:buClr>
                <a:srgbClr val="C00000"/>
              </a:buClr>
              <a:buSzTx/>
              <a:buFont typeface="Courier New" panose="02070309020205020404" pitchFamily="49" charset="0"/>
              <a:buChar char="o"/>
              <a:tabLst/>
              <a:defRPr/>
            </a:pPr>
            <a:r>
              <a:rPr kumimoji="0" lang="en-US" sz="2200" b="0" i="0" u="none" strike="noStrike" kern="0" cap="none" spc="0" normalizeH="0" baseline="0" noProof="0" dirty="0">
                <a:ln>
                  <a:noFill/>
                </a:ln>
                <a:solidFill>
                  <a:prstClr val="black"/>
                </a:solidFill>
                <a:effectLst/>
                <a:uLnTx/>
                <a:uFillTx/>
                <a:latin typeface="Perpetua" panose="02020502060401020303" pitchFamily="18" charset="0"/>
              </a:rPr>
              <a:t> Interior Gateway Routing Protocol (IGRP)</a:t>
            </a:r>
          </a:p>
          <a:p>
            <a:pPr marL="1143000" marR="0" lvl="2" indent="-342900" defTabSz="914400" eaLnBrk="1" fontAlgn="auto" latinLnBrk="0" hangingPunct="1">
              <a:lnSpc>
                <a:spcPct val="100000"/>
              </a:lnSpc>
              <a:spcBef>
                <a:spcPct val="20000"/>
              </a:spcBef>
              <a:spcAft>
                <a:spcPts val="0"/>
              </a:spcAft>
              <a:buClr>
                <a:srgbClr val="C00000"/>
              </a:buClr>
              <a:buSzTx/>
              <a:buFont typeface="Courier New" panose="02070309020205020404" pitchFamily="49" charset="0"/>
              <a:buChar char="o"/>
              <a:tabLst/>
              <a:defRPr/>
            </a:pPr>
            <a:r>
              <a:rPr kumimoji="0" lang="en-US" sz="2200" b="0" i="0" u="none" strike="noStrike" kern="0" cap="none" spc="0" normalizeH="0" baseline="0" noProof="0" dirty="0">
                <a:ln>
                  <a:noFill/>
                </a:ln>
                <a:solidFill>
                  <a:prstClr val="black"/>
                </a:solidFill>
                <a:effectLst/>
                <a:uLnTx/>
                <a:uFillTx/>
                <a:latin typeface="Perpetua" panose="02020502060401020303" pitchFamily="18" charset="0"/>
              </a:rPr>
              <a:t> Enhanced IGRP (EIGRP)</a:t>
            </a:r>
          </a:p>
          <a:p>
            <a:pPr marL="1143000" marR="0" lvl="2" indent="-342900" defTabSz="914400" eaLnBrk="1" fontAlgn="auto" latinLnBrk="0" hangingPunct="1">
              <a:lnSpc>
                <a:spcPct val="100000"/>
              </a:lnSpc>
              <a:spcBef>
                <a:spcPct val="20000"/>
              </a:spcBef>
              <a:spcAft>
                <a:spcPts val="0"/>
              </a:spcAft>
              <a:buClr>
                <a:srgbClr val="C00000"/>
              </a:buClr>
              <a:buSzTx/>
              <a:buFont typeface="Courier New" panose="02070309020205020404" pitchFamily="49" charset="0"/>
              <a:buChar char="o"/>
              <a:tabLst/>
              <a:defRPr/>
            </a:pPr>
            <a:r>
              <a:rPr kumimoji="0" lang="en-US" sz="2200" b="0" i="0" u="none" strike="noStrike" kern="0" cap="none" spc="0" normalizeH="0" baseline="0" noProof="0" dirty="0">
                <a:ln>
                  <a:noFill/>
                </a:ln>
                <a:solidFill>
                  <a:prstClr val="black"/>
                </a:solidFill>
                <a:effectLst/>
                <a:uLnTx/>
                <a:uFillTx/>
                <a:latin typeface="Perpetua" panose="02020502060401020303" pitchFamily="18" charset="0"/>
              </a:rPr>
              <a:t> Open Shortest Path First (OSPF)</a:t>
            </a:r>
          </a:p>
          <a:p>
            <a:pPr marL="1143000" marR="0" lvl="2" indent="-342900" defTabSz="914400" eaLnBrk="1" fontAlgn="auto" latinLnBrk="0" hangingPunct="1">
              <a:lnSpc>
                <a:spcPct val="100000"/>
              </a:lnSpc>
              <a:spcBef>
                <a:spcPct val="20000"/>
              </a:spcBef>
              <a:spcAft>
                <a:spcPts val="0"/>
              </a:spcAft>
              <a:buClr>
                <a:srgbClr val="C00000"/>
              </a:buClr>
              <a:buSzTx/>
              <a:buFont typeface="Courier New" panose="02070309020205020404" pitchFamily="49" charset="0"/>
              <a:buChar char="o"/>
              <a:tabLst/>
              <a:defRPr/>
            </a:pPr>
            <a:r>
              <a:rPr kumimoji="0" lang="en-US" sz="2200" b="0" i="0" u="none" strike="noStrike" kern="0" cap="none" spc="0" normalizeH="0" baseline="0" noProof="0" dirty="0">
                <a:ln>
                  <a:noFill/>
                </a:ln>
                <a:solidFill>
                  <a:prstClr val="black"/>
                </a:solidFill>
                <a:effectLst/>
                <a:uLnTx/>
                <a:uFillTx/>
                <a:latin typeface="Perpetua" panose="02020502060401020303" pitchFamily="18" charset="0"/>
              </a:rPr>
              <a:t> Intermediate System (IS)-IS</a:t>
            </a:r>
          </a:p>
        </p:txBody>
      </p:sp>
    </p:spTree>
    <p:extLst>
      <p:ext uri="{BB962C8B-B14F-4D97-AF65-F5344CB8AC3E}">
        <p14:creationId xmlns:p14="http://schemas.microsoft.com/office/powerpoint/2010/main" val="25336653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Dynamic Routing….</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EGP </a:t>
            </a:r>
            <a:endParaRPr lang="en-FI" dirty="0"/>
          </a:p>
        </p:txBody>
      </p:sp>
      <p:sp>
        <p:nvSpPr>
          <p:cNvPr id="3" name="Rectangle 2">
            <a:extLst>
              <a:ext uri="{FF2B5EF4-FFF2-40B4-BE49-F238E27FC236}">
                <a16:creationId xmlns:a16="http://schemas.microsoft.com/office/drawing/2014/main" id="{17EF7A48-B096-478D-9693-784F7589D60F}"/>
              </a:ext>
            </a:extLst>
          </p:cNvPr>
          <p:cNvSpPr/>
          <p:nvPr/>
        </p:nvSpPr>
        <p:spPr>
          <a:xfrm>
            <a:off x="230034" y="2304910"/>
            <a:ext cx="8246454" cy="2062103"/>
          </a:xfrm>
          <a:prstGeom prst="rect">
            <a:avLst/>
          </a:prstGeom>
        </p:spPr>
        <p:txBody>
          <a:bodyPr wrap="square">
            <a:spAutoFit/>
          </a:bodyPr>
          <a:lstStyle/>
          <a:p>
            <a:pPr marL="342900" marR="0" lvl="0" indent="-342900" defTabSz="914400" eaLnBrk="1" fontAlgn="auto" latinLnBrk="0" hangingPunct="1">
              <a:lnSpc>
                <a:spcPct val="100000"/>
              </a:lnSpc>
              <a:spcBef>
                <a:spcPct val="20000"/>
              </a:spcBef>
              <a:spcAft>
                <a:spcPts val="0"/>
              </a:spcAft>
              <a:buClr>
                <a:srgbClr val="C00000"/>
              </a:buClr>
              <a:buSzTx/>
              <a:buFont typeface="Wingdings" panose="05000000000000000000" pitchFamily="2" charset="2"/>
              <a:buChar char="q"/>
              <a:tabLst/>
              <a:defRPr/>
            </a:pPr>
            <a:r>
              <a:rPr kumimoji="0" lang="en-US" sz="3200" b="0" i="0" u="none" strike="noStrike" kern="0" cap="none" spc="0" normalizeH="0" baseline="0" noProof="0" dirty="0">
                <a:ln>
                  <a:noFill/>
                </a:ln>
                <a:solidFill>
                  <a:prstClr val="black"/>
                </a:solidFill>
                <a:effectLst/>
                <a:uLnTx/>
                <a:uFillTx/>
                <a:latin typeface="Perpetua" panose="02020502060401020303" pitchFamily="18" charset="0"/>
              </a:rPr>
              <a:t>EGP</a:t>
            </a:r>
          </a:p>
          <a:p>
            <a:pPr marL="742950" marR="0" lvl="1" indent="-285750" defTabSz="914400" eaLnBrk="1" fontAlgn="auto" latinLnBrk="0" hangingPunct="1">
              <a:lnSpc>
                <a:spcPct val="100000"/>
              </a:lnSpc>
              <a:spcBef>
                <a:spcPct val="20000"/>
              </a:spcBef>
              <a:spcAft>
                <a:spcPts val="0"/>
              </a:spcAft>
              <a:buClr>
                <a:srgbClr val="C00000"/>
              </a:buClr>
              <a:buSzTx/>
              <a:buFont typeface="Wingdings" panose="05000000000000000000" pitchFamily="2" charset="2"/>
              <a:buChar char="Ø"/>
              <a:tabLst/>
              <a:defRPr/>
            </a:pPr>
            <a:r>
              <a:rPr kumimoji="0" lang="en-US" sz="2800" b="0" i="0" u="none" strike="noStrike" kern="0" cap="none" spc="0" normalizeH="0" baseline="0" noProof="0" dirty="0">
                <a:ln>
                  <a:noFill/>
                </a:ln>
                <a:solidFill>
                  <a:prstClr val="black"/>
                </a:solidFill>
                <a:effectLst/>
                <a:uLnTx/>
                <a:uFillTx/>
                <a:latin typeface="Perpetua" panose="02020502060401020303" pitchFamily="18" charset="0"/>
              </a:rPr>
              <a:t>Routing between autonomous systems(AS)</a:t>
            </a:r>
          </a:p>
          <a:p>
            <a:pPr marL="742950" marR="0" lvl="1" indent="-285750" defTabSz="914400" eaLnBrk="1" fontAlgn="auto" latinLnBrk="0" hangingPunct="1">
              <a:lnSpc>
                <a:spcPct val="100000"/>
              </a:lnSpc>
              <a:spcBef>
                <a:spcPct val="20000"/>
              </a:spcBef>
              <a:spcAft>
                <a:spcPts val="0"/>
              </a:spcAft>
              <a:buClr>
                <a:srgbClr val="C00000"/>
              </a:buClr>
              <a:buSzTx/>
              <a:buFont typeface="Wingdings" panose="05000000000000000000" pitchFamily="2" charset="2"/>
              <a:buChar char="Ø"/>
              <a:tabLst/>
              <a:defRPr/>
            </a:pPr>
            <a:r>
              <a:rPr kumimoji="0" lang="en-US" sz="2800" b="0" i="0" u="none" strike="noStrike" kern="0" cap="none" spc="0" normalizeH="0" baseline="0" noProof="0" dirty="0">
                <a:ln>
                  <a:noFill/>
                </a:ln>
                <a:solidFill>
                  <a:prstClr val="black"/>
                </a:solidFill>
                <a:effectLst/>
                <a:uLnTx/>
                <a:uFillTx/>
                <a:latin typeface="Perpetua" panose="02020502060401020303" pitchFamily="18" charset="0"/>
              </a:rPr>
              <a:t>Example</a:t>
            </a:r>
          </a:p>
          <a:p>
            <a:pPr marL="1143000" marR="0" lvl="2" indent="-228600" defTabSz="914400" eaLnBrk="1" fontAlgn="auto" latinLnBrk="0" hangingPunct="1">
              <a:lnSpc>
                <a:spcPct val="100000"/>
              </a:lnSpc>
              <a:spcBef>
                <a:spcPct val="20000"/>
              </a:spcBef>
              <a:spcAft>
                <a:spcPts val="0"/>
              </a:spcAft>
              <a:buClr>
                <a:srgbClr val="C00000"/>
              </a:buClr>
              <a:buSzTx/>
              <a:buFont typeface="Courier New" panose="02070309020205020404" pitchFamily="49" charset="0"/>
              <a:buChar char="o"/>
              <a:tabLst/>
              <a:defRPr/>
            </a:pPr>
            <a:r>
              <a:rPr kumimoji="0" lang="en-US" sz="2400" b="0" i="0" u="none" strike="noStrike" kern="0" cap="none" spc="0" normalizeH="0" baseline="0" noProof="0" dirty="0">
                <a:ln>
                  <a:noFill/>
                </a:ln>
                <a:solidFill>
                  <a:prstClr val="black"/>
                </a:solidFill>
                <a:effectLst/>
                <a:uLnTx/>
                <a:uFillTx/>
                <a:latin typeface="Perpetua" panose="02020502060401020303" pitchFamily="18" charset="0"/>
              </a:rPr>
              <a:t>Border Gateway Protocol (BGP)</a:t>
            </a:r>
          </a:p>
        </p:txBody>
      </p:sp>
    </p:spTree>
    <p:extLst>
      <p:ext uri="{BB962C8B-B14F-4D97-AF65-F5344CB8AC3E}">
        <p14:creationId xmlns:p14="http://schemas.microsoft.com/office/powerpoint/2010/main" val="2035999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Dynamic Routing….</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Classification</a:t>
            </a:r>
            <a:endParaRPr lang="en-FI" dirty="0"/>
          </a:p>
        </p:txBody>
      </p:sp>
      <p:pic>
        <p:nvPicPr>
          <p:cNvPr id="4" name="Picture 2">
            <a:extLst>
              <a:ext uri="{FF2B5EF4-FFF2-40B4-BE49-F238E27FC236}">
                <a16:creationId xmlns:a16="http://schemas.microsoft.com/office/drawing/2014/main" id="{AB209BBB-690D-4FC4-9784-5596957DA12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3242297" y="2323178"/>
            <a:ext cx="5301343" cy="368462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a:extLst>
              <a:ext uri="{FF2B5EF4-FFF2-40B4-BE49-F238E27FC236}">
                <a16:creationId xmlns:a16="http://schemas.microsoft.com/office/drawing/2014/main" id="{6C2EBD34-404C-42C3-A949-6FD72739C438}"/>
              </a:ext>
            </a:extLst>
          </p:cNvPr>
          <p:cNvSpPr/>
          <p:nvPr/>
        </p:nvSpPr>
        <p:spPr>
          <a:xfrm>
            <a:off x="310124" y="2166648"/>
            <a:ext cx="2729914" cy="492443"/>
          </a:xfrm>
          <a:prstGeom prst="rect">
            <a:avLst/>
          </a:prstGeom>
        </p:spPr>
        <p:txBody>
          <a:bodyPr wrap="none">
            <a:spAutoFit/>
          </a:bodyPr>
          <a:lstStyle/>
          <a:p>
            <a:r>
              <a:rPr lang="en-US" sz="2600" dirty="0">
                <a:solidFill>
                  <a:srgbClr val="C00000"/>
                </a:solidFill>
                <a:latin typeface="Perpetua" panose="02020502060401020303" pitchFamily="18" charset="0"/>
              </a:rPr>
              <a:t>Autonomous systems</a:t>
            </a:r>
            <a:endParaRPr lang="en-FI" sz="2600" dirty="0">
              <a:solidFill>
                <a:srgbClr val="C00000"/>
              </a:solidFill>
              <a:latin typeface="Perpetua" panose="02020502060401020303" pitchFamily="18" charset="0"/>
            </a:endParaRPr>
          </a:p>
        </p:txBody>
      </p:sp>
      <p:sp>
        <p:nvSpPr>
          <p:cNvPr id="7" name="TextBox 6">
            <a:extLst>
              <a:ext uri="{FF2B5EF4-FFF2-40B4-BE49-F238E27FC236}">
                <a16:creationId xmlns:a16="http://schemas.microsoft.com/office/drawing/2014/main" id="{27E8EE67-00D7-E359-4345-05385A8FF4DC}"/>
              </a:ext>
            </a:extLst>
          </p:cNvPr>
          <p:cNvSpPr txBox="1"/>
          <p:nvPr/>
        </p:nvSpPr>
        <p:spPr>
          <a:xfrm>
            <a:off x="310124" y="5150343"/>
            <a:ext cx="4572000" cy="923330"/>
          </a:xfrm>
          <a:prstGeom prst="rect">
            <a:avLst/>
          </a:prstGeom>
          <a:noFill/>
        </p:spPr>
        <p:txBody>
          <a:bodyPr wrap="square">
            <a:spAutoFit/>
          </a:bodyPr>
          <a:lstStyle/>
          <a:p>
            <a:r>
              <a:rPr lang="en-US" dirty="0"/>
              <a:t>An autonomous system (AS) is a very large network or group of networks with a single routing policy.</a:t>
            </a:r>
          </a:p>
        </p:txBody>
      </p:sp>
    </p:spTree>
    <p:extLst>
      <p:ext uri="{BB962C8B-B14F-4D97-AF65-F5344CB8AC3E}">
        <p14:creationId xmlns:p14="http://schemas.microsoft.com/office/powerpoint/2010/main" val="15175129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Dynamic Routing….</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Distance vector routing</a:t>
            </a:r>
            <a:endParaRPr lang="en-FI" dirty="0"/>
          </a:p>
        </p:txBody>
      </p:sp>
      <p:sp>
        <p:nvSpPr>
          <p:cNvPr id="7" name="Rectangle 6">
            <a:extLst>
              <a:ext uri="{FF2B5EF4-FFF2-40B4-BE49-F238E27FC236}">
                <a16:creationId xmlns:a16="http://schemas.microsoft.com/office/drawing/2014/main" id="{F494673C-260C-4842-BBA5-52634F2006CA}"/>
              </a:ext>
            </a:extLst>
          </p:cNvPr>
          <p:cNvSpPr/>
          <p:nvPr/>
        </p:nvSpPr>
        <p:spPr>
          <a:xfrm>
            <a:off x="476205" y="2160068"/>
            <a:ext cx="8537166" cy="4154984"/>
          </a:xfrm>
          <a:prstGeom prst="rect">
            <a:avLst/>
          </a:prstGeom>
        </p:spPr>
        <p:txBody>
          <a:bodyPr wrap="square">
            <a:spAutoFit/>
          </a:bodyPr>
          <a:lstStyle/>
          <a:p>
            <a:pPr marL="342900" indent="-342900" algn="just">
              <a:buClr>
                <a:srgbClr val="C00000"/>
              </a:buClr>
              <a:buSzPct val="150000"/>
              <a:buFont typeface="Arial" panose="020B0604020202020204" pitchFamily="34" charset="0"/>
              <a:buChar char="•"/>
            </a:pPr>
            <a:r>
              <a:rPr lang="en-US" sz="2200" dirty="0">
                <a:latin typeface="Perpetua" panose="02020502060401020303" pitchFamily="18" charset="0"/>
                <a:cs typeface="Times New Roman" panose="02020603050405020304" pitchFamily="18" charset="0"/>
              </a:rPr>
              <a:t>A router communicates with its neighbors only for populating its routing table</a:t>
            </a:r>
          </a:p>
          <a:p>
            <a:pPr marL="342900" indent="-342900" algn="just">
              <a:buClr>
                <a:srgbClr val="C00000"/>
              </a:buClr>
              <a:buSzPct val="150000"/>
              <a:buFont typeface="Arial" panose="020B0604020202020204" pitchFamily="34" charset="0"/>
              <a:buChar char="•"/>
            </a:pPr>
            <a:r>
              <a:rPr lang="en-US" sz="2200" i="1" dirty="0">
                <a:latin typeface="Perpetua" panose="02020502060401020303" pitchFamily="18" charset="0"/>
                <a:cs typeface="Times New Roman" panose="02020603050405020304" pitchFamily="18" charset="0"/>
              </a:rPr>
              <a:t>Distance vector </a:t>
            </a:r>
            <a:r>
              <a:rPr lang="en-US" sz="2200" dirty="0">
                <a:latin typeface="Perpetua" panose="02020502060401020303" pitchFamily="18" charset="0"/>
                <a:cs typeface="Times New Roman" panose="02020603050405020304" pitchFamily="18" charset="0"/>
              </a:rPr>
              <a:t>means that routes are advertised as </a:t>
            </a:r>
            <a:r>
              <a:rPr lang="en-US" sz="2200" i="1" dirty="0">
                <a:latin typeface="Perpetua" panose="02020502060401020303" pitchFamily="18" charset="0"/>
                <a:cs typeface="Times New Roman" panose="02020603050405020304" pitchFamily="18" charset="0"/>
              </a:rPr>
              <a:t>vectors </a:t>
            </a:r>
            <a:r>
              <a:rPr lang="en-US" sz="2200" dirty="0">
                <a:latin typeface="Perpetua" panose="02020502060401020303" pitchFamily="18" charset="0"/>
                <a:cs typeface="Times New Roman" panose="02020603050405020304" pitchFamily="18" charset="0"/>
              </a:rPr>
              <a:t>of distance and direction</a:t>
            </a:r>
          </a:p>
          <a:p>
            <a:pPr marL="342900" indent="-342900" algn="just">
              <a:buClr>
                <a:srgbClr val="C00000"/>
              </a:buClr>
              <a:buSzPct val="150000"/>
              <a:buFont typeface="Arial" panose="020B0604020202020204" pitchFamily="34" charset="0"/>
              <a:buChar char="•"/>
            </a:pPr>
            <a:r>
              <a:rPr lang="en-US" sz="2200" dirty="0">
                <a:latin typeface="Perpetua" panose="02020502060401020303" pitchFamily="18" charset="0"/>
                <a:cs typeface="Times New Roman" panose="02020603050405020304" pitchFamily="18" charset="0"/>
              </a:rPr>
              <a:t>Distance is defined in terms of a metric such as hop count, and direction is simply the next hop router or exit interface.</a:t>
            </a:r>
          </a:p>
          <a:p>
            <a:pPr marL="342900" indent="-342900" algn="just">
              <a:buClr>
                <a:srgbClr val="C00000"/>
              </a:buClr>
              <a:buSzPct val="150000"/>
              <a:buFont typeface="Arial" panose="020B0604020202020204" pitchFamily="34" charset="0"/>
              <a:buChar char="•"/>
            </a:pPr>
            <a:r>
              <a:rPr lang="en-US" sz="2200" dirty="0">
                <a:latin typeface="Perpetua" panose="02020502060401020303" pitchFamily="18" charset="0"/>
                <a:cs typeface="Times New Roman" panose="02020603050405020304" pitchFamily="18" charset="0"/>
              </a:rPr>
              <a:t>Bellman-Ford algorithm is used for the best-path route determination.</a:t>
            </a:r>
          </a:p>
          <a:p>
            <a:pPr marL="342900" indent="-342900" algn="just">
              <a:buClr>
                <a:srgbClr val="C00000"/>
              </a:buClr>
              <a:buSzPct val="150000"/>
              <a:buFont typeface="Arial" panose="020B0604020202020204" pitchFamily="34" charset="0"/>
              <a:buChar char="•"/>
            </a:pPr>
            <a:r>
              <a:rPr lang="en-US" sz="2200" dirty="0">
                <a:latin typeface="Perpetua" panose="02020502060401020303" pitchFamily="18" charset="0"/>
                <a:cs typeface="Times New Roman" panose="02020603050405020304" pitchFamily="18" charset="0"/>
              </a:rPr>
              <a:t>Some distance vector protocols periodically send complete routing tables to all connected neighbors. </a:t>
            </a:r>
          </a:p>
          <a:p>
            <a:pPr marL="342900" indent="-342900" algn="just">
              <a:buClr>
                <a:srgbClr val="C00000"/>
              </a:buClr>
              <a:buSzPct val="150000"/>
              <a:buFont typeface="Arial" panose="020B0604020202020204" pitchFamily="34" charset="0"/>
              <a:buChar char="•"/>
            </a:pPr>
            <a:r>
              <a:rPr lang="en-US" sz="2200" dirty="0">
                <a:latin typeface="Perpetua" panose="02020502060401020303" pitchFamily="18" charset="0"/>
                <a:cs typeface="Times New Roman" panose="02020603050405020304" pitchFamily="18" charset="0"/>
              </a:rPr>
              <a:t>In large networks, these routing updates can become enormous, causing significant traffic on the links.</a:t>
            </a:r>
          </a:p>
          <a:p>
            <a:pPr marL="342900" indent="-342900">
              <a:buClr>
                <a:srgbClr val="C00000"/>
              </a:buClr>
              <a:buSzPct val="150000"/>
              <a:buFont typeface="Arial" panose="020B0604020202020204" pitchFamily="34" charset="0"/>
              <a:buChar char="•"/>
            </a:pPr>
            <a:r>
              <a:rPr lang="en-US" sz="2200" dirty="0">
                <a:latin typeface="Perpetua" panose="02020502060401020303" pitchFamily="18" charset="0"/>
              </a:rPr>
              <a:t>Example</a:t>
            </a:r>
          </a:p>
          <a:p>
            <a:r>
              <a:rPr lang="en-US" sz="2200" dirty="0">
                <a:latin typeface="Perpetua" panose="02020502060401020303" pitchFamily="18" charset="0"/>
              </a:rPr>
              <a:t>         RIP, EIGRP</a:t>
            </a:r>
          </a:p>
        </p:txBody>
      </p:sp>
    </p:spTree>
    <p:extLst>
      <p:ext uri="{BB962C8B-B14F-4D97-AF65-F5344CB8AC3E}">
        <p14:creationId xmlns:p14="http://schemas.microsoft.com/office/powerpoint/2010/main" val="18210926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Dynamic Routing….</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Link state routing</a:t>
            </a:r>
            <a:endParaRPr lang="en-FI" dirty="0"/>
          </a:p>
        </p:txBody>
      </p:sp>
      <p:sp>
        <p:nvSpPr>
          <p:cNvPr id="3" name="Rectangle 2">
            <a:extLst>
              <a:ext uri="{FF2B5EF4-FFF2-40B4-BE49-F238E27FC236}">
                <a16:creationId xmlns:a16="http://schemas.microsoft.com/office/drawing/2014/main" id="{993559ED-1B69-46EB-8008-B21A5CA8B375}"/>
              </a:ext>
            </a:extLst>
          </p:cNvPr>
          <p:cNvSpPr/>
          <p:nvPr/>
        </p:nvSpPr>
        <p:spPr>
          <a:xfrm>
            <a:off x="421341" y="2453501"/>
            <a:ext cx="8461402" cy="2733056"/>
          </a:xfrm>
          <a:prstGeom prst="rect">
            <a:avLst/>
          </a:prstGeom>
        </p:spPr>
        <p:txBody>
          <a:bodyPr wrap="square">
            <a:spAutoFit/>
          </a:bodyPr>
          <a:lstStyle/>
          <a:p>
            <a:pPr marL="342900" marR="0" lvl="0" indent="-342900" algn="just" defTabSz="914400" eaLnBrk="1" fontAlgn="auto" latinLnBrk="0" hangingPunct="1">
              <a:lnSpc>
                <a:spcPct val="100000"/>
              </a:lnSpc>
              <a:spcBef>
                <a:spcPct val="20000"/>
              </a:spcBef>
              <a:spcAft>
                <a:spcPts val="0"/>
              </a:spcAft>
              <a:buClr>
                <a:srgbClr val="C00000"/>
              </a:buClr>
              <a:buSzPct val="150000"/>
              <a:buFont typeface="Arial" panose="020B0604020202020204" pitchFamily="34" charset="0"/>
              <a:buChar char="•"/>
              <a:tabLst/>
              <a:defRPr/>
            </a:pPr>
            <a:r>
              <a:rPr kumimoji="0" lang="en-US" sz="2200" b="0" i="0" u="none" strike="noStrike" kern="0" cap="none" spc="0" normalizeH="0" baseline="0" noProof="0" dirty="0">
                <a:ln>
                  <a:noFill/>
                </a:ln>
                <a:solidFill>
                  <a:prstClr val="black"/>
                </a:solidFill>
                <a:effectLst/>
                <a:uLnTx/>
                <a:uFillTx/>
                <a:latin typeface="Perpetua" panose="02020502060401020303" pitchFamily="18" charset="0"/>
              </a:rPr>
              <a:t>A router configured with a </a:t>
            </a:r>
            <a:r>
              <a:rPr kumimoji="0" lang="en-US" sz="2200" b="0" i="1" u="none" strike="noStrike" kern="0" cap="none" spc="0" normalizeH="0" baseline="0" noProof="0" dirty="0" err="1">
                <a:ln>
                  <a:noFill/>
                </a:ln>
                <a:solidFill>
                  <a:prstClr val="black"/>
                </a:solidFill>
                <a:effectLst/>
                <a:uLnTx/>
                <a:uFillTx/>
                <a:latin typeface="Perpetua" panose="02020502060401020303" pitchFamily="18" charset="0"/>
              </a:rPr>
              <a:t>linkstate</a:t>
            </a:r>
            <a:r>
              <a:rPr kumimoji="0" lang="en-US" sz="2200" b="0" i="1" u="none" strike="noStrike" kern="0" cap="none" spc="0" normalizeH="0" baseline="0" noProof="0" dirty="0">
                <a:ln>
                  <a:noFill/>
                </a:ln>
                <a:solidFill>
                  <a:prstClr val="black"/>
                </a:solidFill>
                <a:effectLst/>
                <a:uLnTx/>
                <a:uFillTx/>
                <a:latin typeface="Perpetua" panose="02020502060401020303" pitchFamily="18" charset="0"/>
              </a:rPr>
              <a:t> </a:t>
            </a:r>
            <a:r>
              <a:rPr kumimoji="0" lang="en-US" sz="2200" b="0" i="0" u="none" strike="noStrike" kern="0" cap="none" spc="0" normalizeH="0" baseline="0" noProof="0" dirty="0">
                <a:ln>
                  <a:noFill/>
                </a:ln>
                <a:solidFill>
                  <a:prstClr val="black"/>
                </a:solidFill>
                <a:effectLst/>
                <a:uLnTx/>
                <a:uFillTx/>
                <a:latin typeface="Perpetua" panose="02020502060401020303" pitchFamily="18" charset="0"/>
              </a:rPr>
              <a:t>routing protocol can create a “complete view,” or topology, of the network by gathering information from all the other routers.</a:t>
            </a:r>
          </a:p>
          <a:p>
            <a:pPr marL="342900" marR="0" lvl="0" indent="-342900" algn="just" defTabSz="914400" eaLnBrk="1" fontAlgn="auto" latinLnBrk="0" hangingPunct="1">
              <a:lnSpc>
                <a:spcPct val="100000"/>
              </a:lnSpc>
              <a:spcBef>
                <a:spcPct val="20000"/>
              </a:spcBef>
              <a:spcAft>
                <a:spcPts val="0"/>
              </a:spcAft>
              <a:buClr>
                <a:srgbClr val="C00000"/>
              </a:buClr>
              <a:buSzPct val="150000"/>
              <a:buFont typeface="Arial" panose="020B0604020202020204" pitchFamily="34" charset="0"/>
              <a:buChar char="•"/>
              <a:tabLst/>
              <a:defRPr/>
            </a:pPr>
            <a:r>
              <a:rPr lang="en-US" sz="2200" kern="0" dirty="0">
                <a:solidFill>
                  <a:prstClr val="black"/>
                </a:solidFill>
                <a:latin typeface="Perpetua" panose="02020502060401020303" pitchFamily="18" charset="0"/>
              </a:rPr>
              <a:t>A router communicates with all other routers of the network</a:t>
            </a:r>
            <a:endParaRPr kumimoji="0" lang="en-US" sz="2200" b="0" i="0" u="none" strike="noStrike" kern="0" cap="none" spc="0" normalizeH="0" baseline="0" noProof="0" dirty="0">
              <a:ln>
                <a:noFill/>
              </a:ln>
              <a:solidFill>
                <a:prstClr val="black"/>
              </a:solidFill>
              <a:effectLst/>
              <a:uLnTx/>
              <a:uFillTx/>
              <a:latin typeface="Perpetua" panose="02020502060401020303" pitchFamily="18" charset="0"/>
            </a:endParaRPr>
          </a:p>
          <a:p>
            <a:pPr marL="342900" marR="0" lvl="0" indent="-342900" algn="just" defTabSz="914400" eaLnBrk="1" fontAlgn="auto" latinLnBrk="0" hangingPunct="1">
              <a:lnSpc>
                <a:spcPct val="100000"/>
              </a:lnSpc>
              <a:spcBef>
                <a:spcPct val="20000"/>
              </a:spcBef>
              <a:spcAft>
                <a:spcPts val="0"/>
              </a:spcAft>
              <a:buClr>
                <a:srgbClr val="C00000"/>
              </a:buClr>
              <a:buSzPct val="150000"/>
              <a:buFont typeface="Arial" panose="020B0604020202020204" pitchFamily="34" charset="0"/>
              <a:buChar char="•"/>
              <a:tabLst/>
              <a:defRPr/>
            </a:pPr>
            <a:r>
              <a:rPr kumimoji="0" lang="en-US" sz="2200" b="0" i="0" u="none" strike="noStrike" kern="0" cap="none" spc="0" normalizeH="0" baseline="0" noProof="0" dirty="0">
                <a:ln>
                  <a:noFill/>
                </a:ln>
                <a:solidFill>
                  <a:prstClr val="black"/>
                </a:solidFill>
                <a:effectLst/>
                <a:uLnTx/>
                <a:uFillTx/>
                <a:latin typeface="Perpetua" panose="02020502060401020303" pitchFamily="18" charset="0"/>
              </a:rPr>
              <a:t>Only send update (partial) when there is any change in the network topology</a:t>
            </a:r>
          </a:p>
          <a:p>
            <a:pPr marL="342900" marR="0" lvl="0" indent="-342900" defTabSz="914400" eaLnBrk="1" fontAlgn="auto" latinLnBrk="0" hangingPunct="1">
              <a:lnSpc>
                <a:spcPct val="100000"/>
              </a:lnSpc>
              <a:spcBef>
                <a:spcPct val="20000"/>
              </a:spcBef>
              <a:spcAft>
                <a:spcPts val="0"/>
              </a:spcAft>
              <a:buClr>
                <a:srgbClr val="C00000"/>
              </a:buClr>
              <a:buSzPct val="150000"/>
              <a:buFont typeface="Arial" panose="020B0604020202020204" pitchFamily="34" charset="0"/>
              <a:buChar char="•"/>
              <a:tabLst/>
              <a:defRPr/>
            </a:pPr>
            <a:r>
              <a:rPr kumimoji="0" lang="en-US" sz="2200" b="0" i="0" u="none" strike="noStrike" kern="0" cap="none" spc="0" normalizeH="0" baseline="0" noProof="0" dirty="0">
                <a:ln>
                  <a:noFill/>
                </a:ln>
                <a:solidFill>
                  <a:prstClr val="black"/>
                </a:solidFill>
                <a:effectLst/>
                <a:uLnTx/>
                <a:uFillTx/>
                <a:latin typeface="Perpetua" panose="02020502060401020303" pitchFamily="18" charset="0"/>
              </a:rPr>
              <a:t>Example</a:t>
            </a:r>
          </a:p>
          <a:p>
            <a:pPr marL="0" marR="0" lvl="0" indent="0" defTabSz="914400" eaLnBrk="1" fontAlgn="auto" latinLnBrk="0" hangingPunct="1">
              <a:lnSpc>
                <a:spcPct val="100000"/>
              </a:lnSpc>
              <a:spcBef>
                <a:spcPct val="20000"/>
              </a:spcBef>
              <a:spcAft>
                <a:spcPts val="0"/>
              </a:spcAft>
              <a:buClrTx/>
              <a:buSzTx/>
              <a:buFontTx/>
              <a:buNone/>
              <a:tabLst/>
              <a:defRPr/>
            </a:pPr>
            <a:r>
              <a:rPr kumimoji="0" lang="en-US" sz="2200" b="0" i="0" u="none" strike="noStrike" kern="0" cap="none" spc="0" normalizeH="0" baseline="0" noProof="0" dirty="0">
                <a:ln>
                  <a:noFill/>
                </a:ln>
                <a:solidFill>
                  <a:prstClr val="black"/>
                </a:solidFill>
                <a:effectLst/>
                <a:uLnTx/>
                <a:uFillTx/>
                <a:latin typeface="Perpetua" panose="02020502060401020303" pitchFamily="18" charset="0"/>
              </a:rPr>
              <a:t>         OSPF</a:t>
            </a:r>
            <a:endParaRPr kumimoji="0" lang="en-US" sz="2200" b="0" i="0" u="none" strike="noStrike" kern="0" cap="none" spc="0" normalizeH="0" baseline="0" noProof="0" dirty="0">
              <a:ln>
                <a:noFill/>
              </a:ln>
              <a:solidFill>
                <a:sysClr val="windowText" lastClr="000000"/>
              </a:solidFill>
              <a:effectLst/>
              <a:uLnTx/>
              <a:uFillTx/>
              <a:latin typeface="Perpetua" panose="02020502060401020303" pitchFamily="18" charset="0"/>
            </a:endParaRPr>
          </a:p>
        </p:txBody>
      </p:sp>
    </p:spTree>
    <p:extLst>
      <p:ext uri="{BB962C8B-B14F-4D97-AF65-F5344CB8AC3E}">
        <p14:creationId xmlns:p14="http://schemas.microsoft.com/office/powerpoint/2010/main" val="3695634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Dynamic Routing….</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Administrative Distance</a:t>
            </a:r>
            <a:endParaRPr lang="en-FI" dirty="0"/>
          </a:p>
        </p:txBody>
      </p:sp>
      <p:sp>
        <p:nvSpPr>
          <p:cNvPr id="3" name="Rectangle 2">
            <a:extLst>
              <a:ext uri="{FF2B5EF4-FFF2-40B4-BE49-F238E27FC236}">
                <a16:creationId xmlns:a16="http://schemas.microsoft.com/office/drawing/2014/main" id="{D9FF8E2F-084A-48D3-9E08-D02926B06E59}"/>
              </a:ext>
            </a:extLst>
          </p:cNvPr>
          <p:cNvSpPr/>
          <p:nvPr/>
        </p:nvSpPr>
        <p:spPr>
          <a:xfrm>
            <a:off x="421340" y="2179244"/>
            <a:ext cx="5430819" cy="4093428"/>
          </a:xfrm>
          <a:prstGeom prst="rect">
            <a:avLst/>
          </a:prstGeom>
        </p:spPr>
        <p:txBody>
          <a:bodyPr wrap="square">
            <a:spAutoFit/>
          </a:bodyPr>
          <a:lstStyle/>
          <a:p>
            <a:pPr marL="342900" marR="0" lvl="0" indent="-342900" defTabSz="914400" eaLnBrk="1" fontAlgn="auto" latinLnBrk="0" hangingPunct="1">
              <a:lnSpc>
                <a:spcPct val="100000"/>
              </a:lnSpc>
              <a:spcBef>
                <a:spcPct val="20000"/>
              </a:spcBef>
              <a:spcAft>
                <a:spcPts val="0"/>
              </a:spcAft>
              <a:buClr>
                <a:srgbClr val="C00000"/>
              </a:buClr>
              <a:buSzPct val="150000"/>
              <a:buFont typeface="Arial" panose="020B0604020202020204" pitchFamily="34" charset="0"/>
              <a:buChar char="•"/>
              <a:tabLst/>
              <a:defRPr/>
            </a:pPr>
            <a:r>
              <a:rPr kumimoji="0" lang="en-US" sz="2000" b="0" i="0" u="none" strike="noStrike" kern="0" cap="none" spc="0" normalizeH="0" baseline="0" noProof="0" dirty="0">
                <a:ln>
                  <a:noFill/>
                </a:ln>
                <a:solidFill>
                  <a:prstClr val="black"/>
                </a:solidFill>
                <a:effectLst/>
                <a:uLnTx/>
                <a:uFillTx/>
                <a:latin typeface="Perpetua" panose="02020502060401020303" pitchFamily="18" charset="0"/>
              </a:rPr>
              <a:t>The term </a:t>
            </a:r>
            <a:r>
              <a:rPr kumimoji="0" lang="en-US" sz="2000" b="0" i="1" u="none" strike="noStrike" kern="0" cap="none" spc="0" normalizeH="0" baseline="0" noProof="0" dirty="0">
                <a:ln>
                  <a:noFill/>
                </a:ln>
                <a:solidFill>
                  <a:prstClr val="black"/>
                </a:solidFill>
                <a:effectLst/>
                <a:uLnTx/>
                <a:uFillTx/>
                <a:latin typeface="Perpetua" panose="02020502060401020303" pitchFamily="18" charset="0"/>
              </a:rPr>
              <a:t>trustworthiness </a:t>
            </a:r>
            <a:r>
              <a:rPr kumimoji="0" lang="en-US" sz="2000" b="0" i="0" u="none" strike="noStrike" kern="0" cap="none" spc="0" normalizeH="0" baseline="0" noProof="0" dirty="0">
                <a:ln>
                  <a:noFill/>
                </a:ln>
                <a:solidFill>
                  <a:prstClr val="black"/>
                </a:solidFill>
                <a:effectLst/>
                <a:uLnTx/>
                <a:uFillTx/>
                <a:latin typeface="Perpetua" panose="02020502060401020303" pitchFamily="18" charset="0"/>
              </a:rPr>
              <a:t>is commonly used when defining administrative distance. </a:t>
            </a:r>
          </a:p>
          <a:p>
            <a:pPr marL="342900" marR="0" lvl="0" indent="-342900" defTabSz="914400" eaLnBrk="1" fontAlgn="auto" latinLnBrk="0" hangingPunct="1">
              <a:lnSpc>
                <a:spcPct val="100000"/>
              </a:lnSpc>
              <a:spcBef>
                <a:spcPct val="20000"/>
              </a:spcBef>
              <a:spcAft>
                <a:spcPts val="0"/>
              </a:spcAft>
              <a:buClr>
                <a:srgbClr val="C00000"/>
              </a:buClr>
              <a:buSzPct val="150000"/>
              <a:buFont typeface="Arial" panose="020B0604020202020204" pitchFamily="34" charset="0"/>
              <a:buChar char="•"/>
              <a:tabLst/>
              <a:defRPr/>
            </a:pPr>
            <a:r>
              <a:rPr kumimoji="0" lang="en-US" sz="2000" b="0" i="0" u="none" strike="noStrike" kern="0" cap="none" spc="0" normalizeH="0" baseline="0" noProof="0" dirty="0">
                <a:ln>
                  <a:noFill/>
                </a:ln>
                <a:solidFill>
                  <a:prstClr val="black"/>
                </a:solidFill>
                <a:effectLst/>
                <a:uLnTx/>
                <a:uFillTx/>
                <a:latin typeface="Perpetua" panose="02020502060401020303" pitchFamily="18" charset="0"/>
              </a:rPr>
              <a:t>Administrative distance (AD) defines the preference of a routing source. </a:t>
            </a:r>
          </a:p>
          <a:p>
            <a:pPr marL="342900" marR="0" lvl="0" indent="-342900" defTabSz="914400" eaLnBrk="1" fontAlgn="auto" latinLnBrk="0" hangingPunct="1">
              <a:lnSpc>
                <a:spcPct val="100000"/>
              </a:lnSpc>
              <a:spcBef>
                <a:spcPct val="20000"/>
              </a:spcBef>
              <a:spcAft>
                <a:spcPts val="0"/>
              </a:spcAft>
              <a:buClr>
                <a:srgbClr val="C00000"/>
              </a:buClr>
              <a:buSzPct val="150000"/>
              <a:buFont typeface="Arial" panose="020B0604020202020204" pitchFamily="34" charset="0"/>
              <a:buChar char="•"/>
              <a:tabLst/>
              <a:defRPr/>
            </a:pPr>
            <a:r>
              <a:rPr kumimoji="0" lang="en-US" sz="2000" b="0" i="0" u="none" strike="noStrike" kern="0" cap="none" spc="0" normalizeH="0" baseline="0" noProof="0" dirty="0">
                <a:ln>
                  <a:noFill/>
                </a:ln>
                <a:solidFill>
                  <a:prstClr val="black"/>
                </a:solidFill>
                <a:effectLst/>
                <a:uLnTx/>
                <a:uFillTx/>
                <a:latin typeface="Perpetua" panose="02020502060401020303" pitchFamily="18" charset="0"/>
              </a:rPr>
              <a:t>Administrative distance is an integer value from 0 to 255. </a:t>
            </a:r>
          </a:p>
          <a:p>
            <a:pPr marL="342900" marR="0" lvl="0" indent="-342900" defTabSz="914400" eaLnBrk="1" fontAlgn="auto" latinLnBrk="0" hangingPunct="1">
              <a:lnSpc>
                <a:spcPct val="100000"/>
              </a:lnSpc>
              <a:spcBef>
                <a:spcPct val="20000"/>
              </a:spcBef>
              <a:spcAft>
                <a:spcPts val="0"/>
              </a:spcAft>
              <a:buClr>
                <a:srgbClr val="C00000"/>
              </a:buClr>
              <a:buSzPct val="150000"/>
              <a:buFont typeface="Arial" panose="020B0604020202020204" pitchFamily="34" charset="0"/>
              <a:buChar char="•"/>
              <a:tabLst/>
              <a:defRPr/>
            </a:pPr>
            <a:r>
              <a:rPr kumimoji="0" lang="en-US" sz="2000" b="0" i="0" u="none" strike="noStrike" kern="0" cap="none" spc="0" normalizeH="0" baseline="0" noProof="0" dirty="0">
                <a:ln>
                  <a:noFill/>
                </a:ln>
                <a:solidFill>
                  <a:prstClr val="black"/>
                </a:solidFill>
                <a:effectLst/>
                <a:uLnTx/>
                <a:uFillTx/>
                <a:latin typeface="Perpetua" panose="02020502060401020303" pitchFamily="18" charset="0"/>
              </a:rPr>
              <a:t>The lower the value, the more preferred the route source. </a:t>
            </a:r>
          </a:p>
          <a:p>
            <a:pPr marL="342900" marR="0" lvl="0" indent="-342900" defTabSz="914400" eaLnBrk="1" fontAlgn="auto" latinLnBrk="0" hangingPunct="1">
              <a:lnSpc>
                <a:spcPct val="100000"/>
              </a:lnSpc>
              <a:spcBef>
                <a:spcPct val="20000"/>
              </a:spcBef>
              <a:spcAft>
                <a:spcPts val="0"/>
              </a:spcAft>
              <a:buClr>
                <a:srgbClr val="C00000"/>
              </a:buClr>
              <a:buSzPct val="150000"/>
              <a:buFont typeface="Arial" panose="020B0604020202020204" pitchFamily="34" charset="0"/>
              <a:buChar char="•"/>
              <a:tabLst/>
              <a:defRPr/>
            </a:pPr>
            <a:r>
              <a:rPr kumimoji="0" lang="en-US" sz="2000" b="0" i="0" u="none" strike="noStrike" kern="0" cap="none" spc="0" normalizeH="0" baseline="0" noProof="0" dirty="0">
                <a:ln>
                  <a:noFill/>
                </a:ln>
                <a:solidFill>
                  <a:prstClr val="black"/>
                </a:solidFill>
                <a:effectLst/>
                <a:uLnTx/>
                <a:uFillTx/>
                <a:latin typeface="Perpetua" panose="02020502060401020303" pitchFamily="18" charset="0"/>
              </a:rPr>
              <a:t>An administrative distance of 0 is the most preferred. </a:t>
            </a:r>
          </a:p>
          <a:p>
            <a:pPr marL="342900" marR="0" lvl="0" indent="-342900" defTabSz="914400" eaLnBrk="1" fontAlgn="auto" latinLnBrk="0" hangingPunct="1">
              <a:lnSpc>
                <a:spcPct val="100000"/>
              </a:lnSpc>
              <a:spcBef>
                <a:spcPct val="20000"/>
              </a:spcBef>
              <a:spcAft>
                <a:spcPts val="0"/>
              </a:spcAft>
              <a:buClr>
                <a:srgbClr val="C00000"/>
              </a:buClr>
              <a:buSzPct val="150000"/>
              <a:buFont typeface="Arial" panose="020B0604020202020204" pitchFamily="34" charset="0"/>
              <a:buChar char="•"/>
              <a:tabLst/>
              <a:defRPr/>
            </a:pPr>
            <a:r>
              <a:rPr kumimoji="0" lang="en-US" sz="2000" b="0" i="0" u="none" strike="noStrike" kern="0" cap="none" spc="0" normalizeH="0" baseline="0" noProof="0" dirty="0">
                <a:ln>
                  <a:noFill/>
                </a:ln>
                <a:solidFill>
                  <a:prstClr val="black"/>
                </a:solidFill>
                <a:effectLst/>
                <a:uLnTx/>
                <a:uFillTx/>
                <a:latin typeface="Perpetua" panose="02020502060401020303" pitchFamily="18" charset="0"/>
              </a:rPr>
              <a:t>Only a directly connected network has an administrative distance of 0, which cannot be changed.</a:t>
            </a:r>
          </a:p>
        </p:txBody>
      </p:sp>
      <p:pic>
        <p:nvPicPr>
          <p:cNvPr id="4" name="Picture 2">
            <a:extLst>
              <a:ext uri="{FF2B5EF4-FFF2-40B4-BE49-F238E27FC236}">
                <a16:creationId xmlns:a16="http://schemas.microsoft.com/office/drawing/2014/main" id="{E0FA0137-D4DF-0CD2-F013-86B5198D9E45}"/>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5767254" y="2179244"/>
            <a:ext cx="3078813" cy="36152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85384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RIP</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Features</a:t>
            </a:r>
            <a:endParaRPr lang="en-FI" dirty="0"/>
          </a:p>
        </p:txBody>
      </p:sp>
      <p:sp>
        <p:nvSpPr>
          <p:cNvPr id="3" name="Rectangle 2">
            <a:extLst>
              <a:ext uri="{FF2B5EF4-FFF2-40B4-BE49-F238E27FC236}">
                <a16:creationId xmlns:a16="http://schemas.microsoft.com/office/drawing/2014/main" id="{3CAB3D26-CBA3-417C-8050-ED5EDD20EC84}"/>
              </a:ext>
            </a:extLst>
          </p:cNvPr>
          <p:cNvSpPr/>
          <p:nvPr/>
        </p:nvSpPr>
        <p:spPr>
          <a:xfrm>
            <a:off x="421341" y="2186252"/>
            <a:ext cx="8134830" cy="3816429"/>
          </a:xfrm>
          <a:prstGeom prst="rect">
            <a:avLst/>
          </a:prstGeom>
        </p:spPr>
        <p:txBody>
          <a:bodyPr wrap="square">
            <a:spAutoFit/>
          </a:bodyPr>
          <a:lstStyle/>
          <a:p>
            <a:pPr marL="742950" lvl="1" indent="-285750" algn="just">
              <a:buClr>
                <a:srgbClr val="C00000"/>
              </a:buClr>
              <a:buSzPct val="150000"/>
              <a:buFont typeface="Arial" panose="020B0604020202020204" pitchFamily="34" charset="0"/>
              <a:buChar char="•"/>
            </a:pPr>
            <a:r>
              <a:rPr lang="en-US" sz="2200" dirty="0">
                <a:latin typeface="Perpetua" panose="02020502060401020303" pitchFamily="18" charset="0"/>
              </a:rPr>
              <a:t>Distance vector routing protocol</a:t>
            </a:r>
          </a:p>
          <a:p>
            <a:pPr marL="742950" lvl="1" indent="-285750" algn="just">
              <a:buClr>
                <a:srgbClr val="C00000"/>
              </a:buClr>
              <a:buSzPct val="150000"/>
              <a:buFont typeface="Arial" panose="020B0604020202020204" pitchFamily="34" charset="0"/>
              <a:buChar char="•"/>
            </a:pPr>
            <a:r>
              <a:rPr lang="en-US" sz="2200" dirty="0">
                <a:latin typeface="Perpetua" panose="02020502060401020303" pitchFamily="18" charset="0"/>
              </a:rPr>
              <a:t>Hop count is used as the metric for path selection.</a:t>
            </a:r>
          </a:p>
          <a:p>
            <a:pPr marL="742950" lvl="1" indent="-285750" algn="just">
              <a:buClr>
                <a:srgbClr val="C00000"/>
              </a:buClr>
              <a:buSzPct val="150000"/>
              <a:buFont typeface="Arial" panose="020B0604020202020204" pitchFamily="34" charset="0"/>
              <a:buChar char="•"/>
            </a:pPr>
            <a:r>
              <a:rPr lang="en-US" sz="2200" dirty="0">
                <a:latin typeface="Perpetua" panose="02020502060401020303" pitchFamily="18" charset="0"/>
              </a:rPr>
              <a:t>If the hop count for a network is greater than 15, RIP cannot supply a route to that network.</a:t>
            </a:r>
          </a:p>
          <a:p>
            <a:pPr marL="742950" lvl="1" indent="-285750" algn="just">
              <a:buClr>
                <a:srgbClr val="C00000"/>
              </a:buClr>
              <a:buSzPct val="150000"/>
              <a:buFont typeface="Arial" panose="020B0604020202020204" pitchFamily="34" charset="0"/>
              <a:buChar char="•"/>
            </a:pPr>
            <a:r>
              <a:rPr lang="en-US" sz="2200" dirty="0">
                <a:latin typeface="Perpetua" panose="02020502060401020303" pitchFamily="18" charset="0"/>
              </a:rPr>
              <a:t>Routing updates are broadcast or multicast every 30 seconds, by default.</a:t>
            </a:r>
          </a:p>
          <a:p>
            <a:pPr marL="742950" lvl="1" indent="-285750" algn="just">
              <a:buClr>
                <a:srgbClr val="C00000"/>
              </a:buClr>
              <a:buSzPct val="150000"/>
              <a:buFont typeface="Arial" panose="020B0604020202020204" pitchFamily="34" charset="0"/>
              <a:buChar char="•"/>
            </a:pPr>
            <a:r>
              <a:rPr lang="en-US" sz="2200" dirty="0">
                <a:solidFill>
                  <a:srgbClr val="222222"/>
                </a:solidFill>
                <a:latin typeface="Perpetua" panose="02020502060401020303" pitchFamily="18" charset="0"/>
              </a:rPr>
              <a:t>If for some reason, an update for a particular route is not received within a period of 180 seconds then that specific route is declared as invalid and the router which identified that, informs all its neighbors about this invalid route.</a:t>
            </a:r>
          </a:p>
          <a:p>
            <a:pPr marL="742950" lvl="1" indent="-285750" algn="just">
              <a:buClr>
                <a:srgbClr val="C00000"/>
              </a:buClr>
              <a:buSzPct val="150000"/>
              <a:buFont typeface="Arial" panose="020B0604020202020204" pitchFamily="34" charset="0"/>
              <a:buChar char="•"/>
            </a:pPr>
            <a:r>
              <a:rPr lang="en-US" sz="2200" dirty="0">
                <a:latin typeface="Perpetua" panose="02020502060401020303" pitchFamily="18" charset="0"/>
              </a:rPr>
              <a:t>Has two versions: RIPv1  &amp; RIPv2</a:t>
            </a:r>
          </a:p>
        </p:txBody>
      </p:sp>
    </p:spTree>
    <p:extLst>
      <p:ext uri="{BB962C8B-B14F-4D97-AF65-F5344CB8AC3E}">
        <p14:creationId xmlns:p14="http://schemas.microsoft.com/office/powerpoint/2010/main" val="31498314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RIP</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RIP v1-vs-RIPv2</a:t>
            </a:r>
            <a:endParaRPr lang="en-FI" dirty="0"/>
          </a:p>
        </p:txBody>
      </p:sp>
      <p:sp>
        <p:nvSpPr>
          <p:cNvPr id="3" name="Rectangle 2">
            <a:extLst>
              <a:ext uri="{FF2B5EF4-FFF2-40B4-BE49-F238E27FC236}">
                <a16:creationId xmlns:a16="http://schemas.microsoft.com/office/drawing/2014/main" id="{02B6BEB2-AB56-4DEE-A3A0-464A51DE2E29}"/>
              </a:ext>
            </a:extLst>
          </p:cNvPr>
          <p:cNvSpPr/>
          <p:nvPr/>
        </p:nvSpPr>
        <p:spPr>
          <a:xfrm>
            <a:off x="345141" y="2227312"/>
            <a:ext cx="8301318" cy="4093428"/>
          </a:xfrm>
          <a:prstGeom prst="rect">
            <a:avLst/>
          </a:prstGeom>
        </p:spPr>
        <p:txBody>
          <a:bodyPr wrap="square">
            <a:spAutoFit/>
          </a:bodyPr>
          <a:lstStyle/>
          <a:p>
            <a:pPr marL="342900" indent="-342900" algn="just">
              <a:buClr>
                <a:srgbClr val="C00000"/>
              </a:buClr>
              <a:buSzPct val="150000"/>
              <a:buFont typeface="Arial" panose="020B0604020202020204" pitchFamily="34" charset="0"/>
              <a:buChar char="•"/>
            </a:pPr>
            <a:r>
              <a:rPr lang="en-US" sz="2000" b="1" dirty="0">
                <a:latin typeface="Perpetua" panose="02020502060401020303" pitchFamily="18" charset="0"/>
              </a:rPr>
              <a:t>Uses Classless addressing</a:t>
            </a:r>
          </a:p>
          <a:p>
            <a:pPr lvl="1" algn="just"/>
            <a:r>
              <a:rPr lang="en-US" sz="2000" dirty="0">
                <a:latin typeface="Perpetua" panose="02020502060401020303" pitchFamily="18" charset="0"/>
              </a:rPr>
              <a:t>RIPv1 uses classful addressing, RIPv2 uses VLSM</a:t>
            </a:r>
          </a:p>
          <a:p>
            <a:pPr marL="342900" indent="-342900">
              <a:buClr>
                <a:srgbClr val="C00000"/>
              </a:buClr>
              <a:buSzPct val="150000"/>
              <a:buFont typeface="Arial" panose="020B0604020202020204" pitchFamily="34" charset="0"/>
              <a:buChar char="•"/>
            </a:pPr>
            <a:r>
              <a:rPr lang="en-US" sz="2000" b="1" dirty="0">
                <a:latin typeface="Perpetua" panose="02020502060401020303" pitchFamily="18" charset="0"/>
              </a:rPr>
              <a:t>Multicasting vs Broadcasting</a:t>
            </a:r>
          </a:p>
          <a:p>
            <a:pPr lvl="1" algn="just"/>
            <a:r>
              <a:rPr lang="en-US" sz="2000" dirty="0">
                <a:latin typeface="Perpetua" panose="02020502060401020303" pitchFamily="18" charset="0"/>
              </a:rPr>
              <a:t>Version 1 of RIP uses broadcasting (255.255.255.255) to send RIP messages to every neighbor. In this way, all the routers on the network receive the packets, as well as the hosts. RIP version 2, on the other hand, uses the all-router multicast address (224.0.0.9) to send the RIP messages only to RIP routers in the network.</a:t>
            </a:r>
          </a:p>
          <a:p>
            <a:pPr marL="342900" indent="-342900" algn="just">
              <a:buClr>
                <a:srgbClr val="C00000"/>
              </a:buClr>
              <a:buSzPct val="150000"/>
              <a:buFont typeface="Arial" panose="020B0604020202020204" pitchFamily="34" charset="0"/>
              <a:buChar char="•"/>
            </a:pPr>
            <a:r>
              <a:rPr lang="en-US" sz="2000" b="1" dirty="0">
                <a:latin typeface="Perpetua" panose="02020502060401020303" pitchFamily="18" charset="0"/>
              </a:rPr>
              <a:t>Updates</a:t>
            </a:r>
          </a:p>
          <a:p>
            <a:pPr lvl="1" algn="just"/>
            <a:r>
              <a:rPr lang="en-US" sz="2000" dirty="0">
                <a:latin typeface="Perpetua" panose="02020502060401020303" pitchFamily="18" charset="0"/>
              </a:rPr>
              <a:t>RIPv2 sends and receives version 2 updates only. RIPv1 sends version 1 updates and receives both 1 and 2, however, version 2 information is ignored.</a:t>
            </a:r>
          </a:p>
          <a:p>
            <a:pPr marL="342900" indent="-342900" algn="just">
              <a:buClr>
                <a:srgbClr val="C00000"/>
              </a:buClr>
              <a:buSzPct val="150000"/>
              <a:buFont typeface="Arial" panose="020B0604020202020204" pitchFamily="34" charset="0"/>
              <a:buChar char="•"/>
            </a:pPr>
            <a:r>
              <a:rPr lang="en-US" sz="2000" b="1" dirty="0">
                <a:latin typeface="Perpetua" panose="02020502060401020303" pitchFamily="18" charset="0"/>
              </a:rPr>
              <a:t>Authentication</a:t>
            </a:r>
          </a:p>
          <a:p>
            <a:pPr lvl="1" algn="just"/>
            <a:r>
              <a:rPr lang="en-US" sz="2000" dirty="0">
                <a:latin typeface="Perpetua" panose="02020502060401020303" pitchFamily="18" charset="0"/>
              </a:rPr>
              <a:t>RIPv2 ensures authentication, while RIPv1 does not</a:t>
            </a:r>
          </a:p>
          <a:p>
            <a:pPr lvl="1" algn="just"/>
            <a:endParaRPr lang="en-US" sz="2000" dirty="0">
              <a:latin typeface="Perpetua" panose="02020502060401020303" pitchFamily="18" charset="0"/>
            </a:endParaRPr>
          </a:p>
        </p:txBody>
      </p:sp>
    </p:spTree>
    <p:extLst>
      <p:ext uri="{BB962C8B-B14F-4D97-AF65-F5344CB8AC3E}">
        <p14:creationId xmlns:p14="http://schemas.microsoft.com/office/powerpoint/2010/main" val="30825086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RIP</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Routing table update</a:t>
            </a:r>
            <a:endParaRPr lang="en-FI" dirty="0"/>
          </a:p>
        </p:txBody>
      </p:sp>
      <p:pic>
        <p:nvPicPr>
          <p:cNvPr id="4" name="Picture 2">
            <a:extLst>
              <a:ext uri="{FF2B5EF4-FFF2-40B4-BE49-F238E27FC236}">
                <a16:creationId xmlns:a16="http://schemas.microsoft.com/office/drawing/2014/main" id="{669C4240-F5D8-4548-9163-35968573AE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1341" y="2833255"/>
            <a:ext cx="8170223" cy="2438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a:extLst>
              <a:ext uri="{FF2B5EF4-FFF2-40B4-BE49-F238E27FC236}">
                <a16:creationId xmlns:a16="http://schemas.microsoft.com/office/drawing/2014/main" id="{22561757-EDE0-44E5-9630-D0686C37EED9}"/>
              </a:ext>
            </a:extLst>
          </p:cNvPr>
          <p:cNvSpPr/>
          <p:nvPr/>
        </p:nvSpPr>
        <p:spPr>
          <a:xfrm>
            <a:off x="421341" y="2353337"/>
            <a:ext cx="1730474" cy="492443"/>
          </a:xfrm>
          <a:prstGeom prst="rect">
            <a:avLst/>
          </a:prstGeom>
        </p:spPr>
        <p:txBody>
          <a:bodyPr wrap="none">
            <a:spAutoFit/>
          </a:bodyPr>
          <a:lstStyle/>
          <a:p>
            <a:pPr>
              <a:buClr>
                <a:srgbClr val="C00000"/>
              </a:buClr>
              <a:buFont typeface="Wingdings" panose="05000000000000000000" pitchFamily="2" charset="2"/>
              <a:buChar char="v"/>
            </a:pPr>
            <a:r>
              <a:rPr lang="en-US" sz="2600" dirty="0">
                <a:latin typeface="Perpetua" panose="02020502060401020303" pitchFamily="18" charset="0"/>
              </a:rPr>
              <a:t>Cold Start</a:t>
            </a:r>
          </a:p>
        </p:txBody>
      </p:sp>
    </p:spTree>
    <p:extLst>
      <p:ext uri="{BB962C8B-B14F-4D97-AF65-F5344CB8AC3E}">
        <p14:creationId xmlns:p14="http://schemas.microsoft.com/office/powerpoint/2010/main" val="391621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Topic Heading..</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Routing table update</a:t>
            </a:r>
            <a:endParaRPr lang="en-FI" dirty="0"/>
          </a:p>
        </p:txBody>
      </p:sp>
      <p:pic>
        <p:nvPicPr>
          <p:cNvPr id="7" name="Picture 2">
            <a:extLst>
              <a:ext uri="{FF2B5EF4-FFF2-40B4-BE49-F238E27FC236}">
                <a16:creationId xmlns:a16="http://schemas.microsoft.com/office/drawing/2014/main" id="{9CA5EB5B-DB85-4FC8-8CE0-522FCC4E50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1341" y="2939143"/>
            <a:ext cx="8418897" cy="3124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a:extLst>
              <a:ext uri="{FF2B5EF4-FFF2-40B4-BE49-F238E27FC236}">
                <a16:creationId xmlns:a16="http://schemas.microsoft.com/office/drawing/2014/main" id="{BFE1F41B-5F2E-4F30-B095-D3270BC77B45}"/>
              </a:ext>
            </a:extLst>
          </p:cNvPr>
          <p:cNvSpPr/>
          <p:nvPr/>
        </p:nvSpPr>
        <p:spPr>
          <a:xfrm>
            <a:off x="617176" y="2435897"/>
            <a:ext cx="4231158" cy="492443"/>
          </a:xfrm>
          <a:prstGeom prst="rect">
            <a:avLst/>
          </a:prstGeom>
        </p:spPr>
        <p:txBody>
          <a:bodyPr wrap="none">
            <a:spAutoFit/>
          </a:bodyPr>
          <a:lstStyle/>
          <a:p>
            <a:pPr marL="285750" indent="-285750">
              <a:buClr>
                <a:srgbClr val="C00000"/>
              </a:buClr>
              <a:buFont typeface="Wingdings" panose="05000000000000000000" pitchFamily="2" charset="2"/>
              <a:buChar char="v"/>
            </a:pPr>
            <a:r>
              <a:rPr lang="en-US" sz="2600" dirty="0">
                <a:solidFill>
                  <a:srgbClr val="C00000"/>
                </a:solidFill>
                <a:latin typeface="Perpetua" panose="02020502060401020303" pitchFamily="18" charset="0"/>
              </a:rPr>
              <a:t>Initial Exchange of Information</a:t>
            </a:r>
          </a:p>
        </p:txBody>
      </p:sp>
    </p:spTree>
    <p:extLst>
      <p:ext uri="{BB962C8B-B14F-4D97-AF65-F5344CB8AC3E}">
        <p14:creationId xmlns:p14="http://schemas.microsoft.com/office/powerpoint/2010/main" val="31321545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Topic Heading..</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Routing table update</a:t>
            </a:r>
            <a:endParaRPr lang="en-FI" dirty="0"/>
          </a:p>
        </p:txBody>
      </p:sp>
      <p:pic>
        <p:nvPicPr>
          <p:cNvPr id="4" name="Picture 2">
            <a:extLst>
              <a:ext uri="{FF2B5EF4-FFF2-40B4-BE49-F238E27FC236}">
                <a16:creationId xmlns:a16="http://schemas.microsoft.com/office/drawing/2014/main" id="{BE0BB315-B9EB-4BFA-99D4-06E7164C1F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3100481"/>
            <a:ext cx="8701684" cy="26241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a:extLst>
              <a:ext uri="{FF2B5EF4-FFF2-40B4-BE49-F238E27FC236}">
                <a16:creationId xmlns:a16="http://schemas.microsoft.com/office/drawing/2014/main" id="{575C20F1-082C-492A-A819-C8F6E62CE87B}"/>
              </a:ext>
            </a:extLst>
          </p:cNvPr>
          <p:cNvSpPr/>
          <p:nvPr/>
        </p:nvSpPr>
        <p:spPr>
          <a:xfrm>
            <a:off x="607853" y="2251622"/>
            <a:ext cx="2302169" cy="492443"/>
          </a:xfrm>
          <a:prstGeom prst="rect">
            <a:avLst/>
          </a:prstGeom>
        </p:spPr>
        <p:txBody>
          <a:bodyPr wrap="none">
            <a:spAutoFit/>
          </a:bodyPr>
          <a:lstStyle/>
          <a:p>
            <a:pPr marL="285750" indent="-285750">
              <a:buClr>
                <a:srgbClr val="C00000"/>
              </a:buClr>
              <a:buFont typeface="Wingdings" panose="05000000000000000000" pitchFamily="2" charset="2"/>
              <a:buChar char="v"/>
            </a:pPr>
            <a:r>
              <a:rPr lang="en-US" sz="2600" dirty="0">
                <a:solidFill>
                  <a:srgbClr val="C00000"/>
                </a:solidFill>
                <a:latin typeface="Perpetua" panose="02020502060401020303" pitchFamily="18" charset="0"/>
              </a:rPr>
              <a:t>Table Updating</a:t>
            </a:r>
          </a:p>
        </p:txBody>
      </p:sp>
    </p:spTree>
    <p:extLst>
      <p:ext uri="{BB962C8B-B14F-4D97-AF65-F5344CB8AC3E}">
        <p14:creationId xmlns:p14="http://schemas.microsoft.com/office/powerpoint/2010/main" val="39325402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Topic Heading..</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Routing table update</a:t>
            </a:r>
            <a:endParaRPr lang="en-FI" dirty="0"/>
          </a:p>
        </p:txBody>
      </p:sp>
      <p:sp>
        <p:nvSpPr>
          <p:cNvPr id="6" name="Rectangle 5">
            <a:extLst>
              <a:ext uri="{FF2B5EF4-FFF2-40B4-BE49-F238E27FC236}">
                <a16:creationId xmlns:a16="http://schemas.microsoft.com/office/drawing/2014/main" id="{E9803165-33D7-42D3-AF2F-FE0B36D228E6}"/>
              </a:ext>
            </a:extLst>
          </p:cNvPr>
          <p:cNvSpPr/>
          <p:nvPr/>
        </p:nvSpPr>
        <p:spPr>
          <a:xfrm>
            <a:off x="607853" y="2251622"/>
            <a:ext cx="2042482" cy="492443"/>
          </a:xfrm>
          <a:prstGeom prst="rect">
            <a:avLst/>
          </a:prstGeom>
        </p:spPr>
        <p:txBody>
          <a:bodyPr wrap="none">
            <a:spAutoFit/>
          </a:bodyPr>
          <a:lstStyle/>
          <a:p>
            <a:pPr marL="285750" indent="-285750">
              <a:buClr>
                <a:srgbClr val="C00000"/>
              </a:buClr>
              <a:buFont typeface="Wingdings" panose="05000000000000000000" pitchFamily="2" charset="2"/>
              <a:buChar char="v"/>
            </a:pPr>
            <a:r>
              <a:rPr lang="en-US" sz="2600" dirty="0">
                <a:solidFill>
                  <a:srgbClr val="C00000"/>
                </a:solidFill>
                <a:latin typeface="Perpetua" panose="02020502060401020303" pitchFamily="18" charset="0"/>
              </a:rPr>
              <a:t>Next Update</a:t>
            </a:r>
          </a:p>
        </p:txBody>
      </p:sp>
      <p:pic>
        <p:nvPicPr>
          <p:cNvPr id="7" name="Picture 6">
            <a:extLst>
              <a:ext uri="{FF2B5EF4-FFF2-40B4-BE49-F238E27FC236}">
                <a16:creationId xmlns:a16="http://schemas.microsoft.com/office/drawing/2014/main" id="{7947A2F9-90AD-48EB-B84A-2046A4D92AE1}"/>
              </a:ext>
            </a:extLst>
          </p:cNvPr>
          <p:cNvPicPr>
            <a:picLocks noChangeAspect="1"/>
          </p:cNvPicPr>
          <p:nvPr/>
        </p:nvPicPr>
        <p:blipFill>
          <a:blip r:embed="rId2"/>
          <a:stretch>
            <a:fillRect/>
          </a:stretch>
        </p:blipFill>
        <p:spPr>
          <a:xfrm>
            <a:off x="276225" y="2895600"/>
            <a:ext cx="8591550" cy="3429000"/>
          </a:xfrm>
          <a:prstGeom prst="rect">
            <a:avLst/>
          </a:prstGeom>
        </p:spPr>
      </p:pic>
    </p:spTree>
    <p:extLst>
      <p:ext uri="{BB962C8B-B14F-4D97-AF65-F5344CB8AC3E}">
        <p14:creationId xmlns:p14="http://schemas.microsoft.com/office/powerpoint/2010/main" val="22572302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Topic Heading..</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Another Example</a:t>
            </a:r>
            <a:endParaRPr lang="en-FI" dirty="0"/>
          </a:p>
        </p:txBody>
      </p:sp>
      <p:pic>
        <p:nvPicPr>
          <p:cNvPr id="4" name="Picture 2">
            <a:extLst>
              <a:ext uri="{FF2B5EF4-FFF2-40B4-BE49-F238E27FC236}">
                <a16:creationId xmlns:a16="http://schemas.microsoft.com/office/drawing/2014/main" id="{6C743AE8-80D8-4A81-B07C-5E584ABB82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6205" y="2596614"/>
            <a:ext cx="7995818" cy="2819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488612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Topic Heading..</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New route</a:t>
            </a:r>
            <a:endParaRPr lang="en-FI" dirty="0"/>
          </a:p>
        </p:txBody>
      </p:sp>
      <p:pic>
        <p:nvPicPr>
          <p:cNvPr id="4" name="Picture 2">
            <a:extLst>
              <a:ext uri="{FF2B5EF4-FFF2-40B4-BE49-F238E27FC236}">
                <a16:creationId xmlns:a16="http://schemas.microsoft.com/office/drawing/2014/main" id="{419C2C8C-6479-4C63-BEDA-7E16479D7E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2258291"/>
            <a:ext cx="7967511" cy="3657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844039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Topic Heading..</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Removing a route</a:t>
            </a:r>
            <a:endParaRPr lang="en-FI" dirty="0"/>
          </a:p>
        </p:txBody>
      </p:sp>
      <p:pic>
        <p:nvPicPr>
          <p:cNvPr id="4" name="Picture 2">
            <a:extLst>
              <a:ext uri="{FF2B5EF4-FFF2-40B4-BE49-F238E27FC236}">
                <a16:creationId xmlns:a16="http://schemas.microsoft.com/office/drawing/2014/main" id="{B20C26C6-F7FA-4539-B2FA-62113A550E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9333" y="2158574"/>
            <a:ext cx="7347855" cy="40148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903860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3" name="TextBox 2">
            <a:extLst>
              <a:ext uri="{FF2B5EF4-FFF2-40B4-BE49-F238E27FC236}">
                <a16:creationId xmlns:a16="http://schemas.microsoft.com/office/drawing/2014/main" id="{56CD2EA8-B54C-CE4F-A943-BFB367453E0E}"/>
              </a:ext>
            </a:extLst>
          </p:cNvPr>
          <p:cNvSpPr txBox="1"/>
          <p:nvPr/>
        </p:nvSpPr>
        <p:spPr>
          <a:xfrm>
            <a:off x="564094" y="1497224"/>
            <a:ext cx="7908447" cy="1569660"/>
          </a:xfrm>
          <a:prstGeom prst="rect">
            <a:avLst/>
          </a:prstGeom>
          <a:noFill/>
        </p:spPr>
        <p:txBody>
          <a:bodyPr wrap="none" rtlCol="0">
            <a:spAutoFit/>
          </a:bodyPr>
          <a:lstStyle/>
          <a:p>
            <a:r>
              <a:rPr lang="en-US" sz="2400" dirty="0">
                <a:latin typeface="Perpetua" panose="02020502060401020303" pitchFamily="18" charset="0"/>
              </a:rPr>
              <a:t>[1] R. Graziani and A. Johnson, </a:t>
            </a:r>
            <a:r>
              <a:rPr lang="en-US" sz="2400" i="1" dirty="0">
                <a:latin typeface="Perpetua" panose="02020502060401020303" pitchFamily="18" charset="0"/>
              </a:rPr>
              <a:t>Routing Protocols and Concepts</a:t>
            </a:r>
            <a:r>
              <a:rPr lang="en-US" sz="2400" dirty="0">
                <a:latin typeface="Perpetua" panose="02020502060401020303" pitchFamily="18" charset="0"/>
              </a:rPr>
              <a:t>,  2</a:t>
            </a:r>
            <a:r>
              <a:rPr lang="en-US" sz="2400" baseline="30000" dirty="0">
                <a:latin typeface="Perpetua" panose="02020502060401020303" pitchFamily="18" charset="0"/>
              </a:rPr>
              <a:t>nd</a:t>
            </a:r>
            <a:r>
              <a:rPr lang="en-US" sz="2400" dirty="0">
                <a:latin typeface="Perpetua" panose="02020502060401020303" pitchFamily="18" charset="0"/>
              </a:rPr>
              <a:t> ed., </a:t>
            </a:r>
          </a:p>
          <a:p>
            <a:r>
              <a:rPr lang="en-US" sz="2400" dirty="0">
                <a:latin typeface="Perpetua" panose="02020502060401020303" pitchFamily="18" charset="0"/>
              </a:rPr>
              <a:t>     Cisco Systems, Inc., USA, 2008, pp. 148-173.</a:t>
            </a:r>
          </a:p>
          <a:p>
            <a:r>
              <a:rPr lang="en-US" sz="2400" dirty="0">
                <a:latin typeface="Perpetua" panose="02020502060401020303" pitchFamily="18" charset="0"/>
              </a:rPr>
              <a:t>[2] J. Macfarlane, </a:t>
            </a:r>
            <a:r>
              <a:rPr lang="en-US" sz="2400" i="1" dirty="0">
                <a:latin typeface="Perpetua" panose="02020502060401020303" pitchFamily="18" charset="0"/>
              </a:rPr>
              <a:t>Network Routing Basics</a:t>
            </a:r>
            <a:r>
              <a:rPr lang="en-US" sz="2400" dirty="0">
                <a:latin typeface="Perpetua" panose="02020502060401020303" pitchFamily="18" charset="0"/>
              </a:rPr>
              <a:t>, Wiley Publications. Inc., </a:t>
            </a:r>
          </a:p>
          <a:p>
            <a:r>
              <a:rPr lang="en-US" sz="2400" dirty="0">
                <a:latin typeface="Perpetua" panose="02020502060401020303" pitchFamily="18" charset="0"/>
              </a:rPr>
              <a:t>          2006, USA, pp.  70-104.</a:t>
            </a:r>
            <a:endParaRPr lang="en-FI" sz="2400" dirty="0">
              <a:latin typeface="Perpetua" panose="02020502060401020303" pitchFamily="18" charset="0"/>
            </a:endParaRPr>
          </a:p>
        </p:txBody>
      </p:sp>
    </p:spTree>
    <p:extLst>
      <p:ext uri="{BB962C8B-B14F-4D97-AF65-F5344CB8AC3E}">
        <p14:creationId xmlns:p14="http://schemas.microsoft.com/office/powerpoint/2010/main" val="32249698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Books</a:t>
            </a:r>
          </a:p>
        </p:txBody>
      </p:sp>
      <p:sp>
        <p:nvSpPr>
          <p:cNvPr id="6" name="TextBox 5"/>
          <p:cNvSpPr txBox="1"/>
          <p:nvPr/>
        </p:nvSpPr>
        <p:spPr>
          <a:xfrm>
            <a:off x="180953" y="2175164"/>
            <a:ext cx="8325737" cy="1908215"/>
          </a:xfrm>
          <a:prstGeom prst="rect">
            <a:avLst/>
          </a:prstGeom>
          <a:noFill/>
        </p:spPr>
        <p:txBody>
          <a:bodyPr wrap="square" rtlCol="0">
            <a:spAutoFit/>
          </a:bodyPr>
          <a:lstStyle/>
          <a:p>
            <a:pPr lvl="1" algn="just"/>
            <a:r>
              <a:rPr lang="en-US" sz="2000" b="1" dirty="0">
                <a:latin typeface="Times New Roman" panose="02020603050405020304" pitchFamily="18" charset="0"/>
                <a:cs typeface="Times New Roman" panose="02020603050405020304" pitchFamily="18" charset="0"/>
              </a:rPr>
              <a:t>1. Official Cert Guide CCNA 200-301 , vol. 1</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W. Odom</a:t>
            </a:r>
            <a:r>
              <a:rPr lang="en-US" sz="2000" dirty="0">
                <a:latin typeface="Times New Roman" panose="02020603050405020304" pitchFamily="18" charset="0"/>
                <a:cs typeface="Times New Roman" panose="02020603050405020304" pitchFamily="18" charset="0"/>
              </a:rPr>
              <a:t>, Cisco Press, First Edition, 2019, USA.</a:t>
            </a:r>
          </a:p>
          <a:p>
            <a:pPr marL="914400" lvl="1" indent="-457200" algn="just">
              <a:buAutoNum type="arabicPeriod"/>
            </a:pPr>
            <a:endParaRPr lang="en-US" sz="2000" dirty="0">
              <a:latin typeface="Times New Roman" panose="02020603050405020304" pitchFamily="18" charset="0"/>
              <a:cs typeface="Times New Roman" panose="02020603050405020304" pitchFamily="18" charset="0"/>
            </a:endParaRPr>
          </a:p>
          <a:p>
            <a:pPr lvl="1" algn="just"/>
            <a:r>
              <a:rPr lang="en-US" sz="2000" b="1" dirty="0">
                <a:latin typeface="Times New Roman" panose="02020603050405020304" pitchFamily="18" charset="0"/>
                <a:cs typeface="Times New Roman" panose="02020603050405020304" pitchFamily="18" charset="0"/>
              </a:rPr>
              <a:t>2. CCNA Routing and Switching</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T. </a:t>
            </a:r>
            <a:r>
              <a:rPr lang="en-US" sz="2000" i="1" dirty="0" err="1">
                <a:latin typeface="Times New Roman" panose="02020603050405020304" pitchFamily="18" charset="0"/>
                <a:cs typeface="Times New Roman" panose="02020603050405020304" pitchFamily="18" charset="0"/>
              </a:rPr>
              <a:t>Lammle</a:t>
            </a:r>
            <a:r>
              <a:rPr lang="en-US" sz="2000" dirty="0">
                <a:latin typeface="Times New Roman" panose="02020603050405020304" pitchFamily="18" charset="0"/>
                <a:cs typeface="Times New Roman" panose="02020603050405020304" pitchFamily="18" charset="0"/>
              </a:rPr>
              <a:t>, John Wily &amp; Sons, Second Edition, 2016, USA.</a:t>
            </a:r>
          </a:p>
          <a:p>
            <a:endParaRPr lang="en-US" dirty="0"/>
          </a:p>
        </p:txBody>
      </p:sp>
    </p:spTree>
    <p:extLst>
      <p:ext uri="{BB962C8B-B14F-4D97-AF65-F5344CB8AC3E}">
        <p14:creationId xmlns:p14="http://schemas.microsoft.com/office/powerpoint/2010/main" val="2874600335"/>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130A8883D509741AAD9698FAF47E5F3" ma:contentTypeVersion="0" ma:contentTypeDescription="Create a new document." ma:contentTypeScope="" ma:versionID="39e53041959977f92d18b7ce7b5c98b6">
  <xsd:schema xmlns:xsd="http://www.w3.org/2001/XMLSchema" xmlns:xs="http://www.w3.org/2001/XMLSchema" xmlns:p="http://schemas.microsoft.com/office/2006/metadata/properties" targetNamespace="http://schemas.microsoft.com/office/2006/metadata/properties" ma:root="true" ma:fieldsID="143bf7a643b81e0364fd4b57d70b3d55">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42F1EDE-AD05-4E79-B5DA-EBA5767A6CB2}">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EFEC5AFC-073C-4FFD-8EC4-3AF06A3F61ED}">
  <ds:schemaRefs>
    <ds:schemaRef ds:uri="http://schemas.microsoft.com/sharepoint/v3/contenttype/forms"/>
  </ds:schemaRefs>
</ds:datastoreItem>
</file>

<file path=customXml/itemProps3.xml><?xml version="1.0" encoding="utf-8"?>
<ds:datastoreItem xmlns:ds="http://schemas.openxmlformats.org/officeDocument/2006/customXml" ds:itemID="{9723EF21-917B-40FC-9E4D-8283609C509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Spectrum.thmx</Template>
  <TotalTime>2136</TotalTime>
  <Words>965</Words>
  <Application>Microsoft Office PowerPoint</Application>
  <PresentationFormat>On-screen Show (4:3)</PresentationFormat>
  <Paragraphs>133</Paragraphs>
  <Slides>23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Arial</vt:lpstr>
      <vt:lpstr>Calibri</vt:lpstr>
      <vt:lpstr>Corbel</vt:lpstr>
      <vt:lpstr>Courier New</vt:lpstr>
      <vt:lpstr>Perpetua</vt:lpstr>
      <vt:lpstr>Times New Roman</vt:lpstr>
      <vt:lpstr>Wingdings</vt:lpstr>
      <vt:lpstr>Spectrum</vt:lpstr>
      <vt:lpstr>Routing</vt:lpstr>
      <vt:lpstr>Lecture Outline</vt:lpstr>
      <vt:lpstr>Introduction</vt:lpstr>
      <vt:lpstr>Introduction</vt:lpstr>
      <vt:lpstr>Dynamic Routing</vt:lpstr>
      <vt:lpstr>Dynamic Routing….</vt:lpstr>
      <vt:lpstr>Dynamic Routing….</vt:lpstr>
      <vt:lpstr>Dynamic Routing….</vt:lpstr>
      <vt:lpstr>Dynamic Routing….</vt:lpstr>
      <vt:lpstr>Dynamic Routing….</vt:lpstr>
      <vt:lpstr>Dynamic Routing….</vt:lpstr>
      <vt:lpstr>Dynamic Routing….</vt:lpstr>
      <vt:lpstr>RIP</vt:lpstr>
      <vt:lpstr>RIP</vt:lpstr>
      <vt:lpstr>RIP</vt:lpstr>
      <vt:lpstr>Topic Heading..</vt:lpstr>
      <vt:lpstr>Topic Heading..</vt:lpstr>
      <vt:lpstr>Topic Heading..</vt:lpstr>
      <vt:lpstr>Topic Heading..</vt:lpstr>
      <vt:lpstr>Topic Heading..</vt:lpstr>
      <vt:lpstr>Topic Heading..</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mohsin eli</cp:lastModifiedBy>
  <cp:revision>54</cp:revision>
  <dcterms:created xsi:type="dcterms:W3CDTF">2018-12-10T17:20:29Z</dcterms:created>
  <dcterms:modified xsi:type="dcterms:W3CDTF">2025-11-13T08:59:45Z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0x0101000130A8883D509741AAD9698FAF47E5F3</vt:lpwstr>
  </property>
</Properties>
</file>