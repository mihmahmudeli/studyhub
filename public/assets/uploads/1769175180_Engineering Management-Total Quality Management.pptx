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  <p:sldMasterId id="2147483673" r:id="rId3"/>
    <p:sldMasterId id="2147483685" r:id="rId4"/>
  </p:sldMasterIdLst>
  <p:notesMasterIdLst>
    <p:notesMasterId r:id="rId34"/>
  </p:notesMasterIdLst>
  <p:handoutMasterIdLst>
    <p:handoutMasterId r:id="rId35"/>
  </p:handoutMasterIdLst>
  <p:sldIdLst>
    <p:sldId id="527" r:id="rId5"/>
    <p:sldId id="431" r:id="rId6"/>
    <p:sldId id="291" r:id="rId7"/>
    <p:sldId id="542" r:id="rId8"/>
    <p:sldId id="543" r:id="rId9"/>
    <p:sldId id="319" r:id="rId10"/>
    <p:sldId id="432" r:id="rId11"/>
    <p:sldId id="541" r:id="rId12"/>
    <p:sldId id="546" r:id="rId13"/>
    <p:sldId id="545" r:id="rId14"/>
    <p:sldId id="320" r:id="rId15"/>
    <p:sldId id="547" r:id="rId16"/>
    <p:sldId id="433" r:id="rId17"/>
    <p:sldId id="558" r:id="rId18"/>
    <p:sldId id="548" r:id="rId19"/>
    <p:sldId id="333" r:id="rId20"/>
    <p:sldId id="316" r:id="rId21"/>
    <p:sldId id="399" r:id="rId22"/>
    <p:sldId id="317" r:id="rId23"/>
    <p:sldId id="544" r:id="rId24"/>
    <p:sldId id="322" r:id="rId25"/>
    <p:sldId id="323" r:id="rId26"/>
    <p:sldId id="324" r:id="rId27"/>
    <p:sldId id="325" r:id="rId28"/>
    <p:sldId id="462" r:id="rId29"/>
    <p:sldId id="445" r:id="rId30"/>
    <p:sldId id="446" r:id="rId31"/>
    <p:sldId id="447" r:id="rId32"/>
    <p:sldId id="448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, Mohanapriya" initials="DM" lastIdx="1" clrIdx="0">
    <p:extLst>
      <p:ext uri="{19B8F6BF-5375-455C-9EA6-DF929625EA0E}">
        <p15:presenceInfo xmlns:p15="http://schemas.microsoft.com/office/powerpoint/2012/main" userId="S-1-5-21-617317731-1927854996-104450171-119495" providerId="AD"/>
      </p:ext>
    </p:extLst>
  </p:cmAuthor>
  <p:cmAuthor id="2" name="Rakshit, Nikhil" initials="RN" lastIdx="7" clrIdx="1">
    <p:extLst>
      <p:ext uri="{19B8F6BF-5375-455C-9EA6-DF929625EA0E}">
        <p15:presenceInfo xmlns:p15="http://schemas.microsoft.com/office/powerpoint/2012/main" userId="S-1-5-21-1085031214-2000478354-839522115-35921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7FA3"/>
    <a:srgbClr val="99008C"/>
    <a:srgbClr val="001581"/>
    <a:srgbClr val="82007C"/>
    <a:srgbClr val="96008F"/>
    <a:srgbClr val="595375"/>
    <a:srgbClr val="6B638B"/>
    <a:srgbClr val="FDB940"/>
    <a:srgbClr val="D4EA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94" autoAdjust="0"/>
    <p:restoredTop sz="93979" autoAdjust="0"/>
  </p:normalViewPr>
  <p:slideViewPr>
    <p:cSldViewPr>
      <p:cViewPr varScale="1">
        <p:scale>
          <a:sx n="78" d="100"/>
          <a:sy n="78" d="100"/>
        </p:scale>
        <p:origin x="133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1794" y="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openxmlformats.org/officeDocument/2006/relationships/customXml" Target="../customXml/item2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43" Type="http://schemas.openxmlformats.org/officeDocument/2006/relationships/customXml" Target="../customXml/item3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8D874E-E9D5-433B-A149-BDF6BFDD40A8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CAA22-461C-45B4-A301-BFCA580174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1922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51F04-9E25-42C3-8BC5-EC2E8469D95E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D6722-9B4D-4E29-B226-C325925A81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5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If this PowerPoint presentation contains mathematical equations, you may need to check that your computer has the following installed: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1) MathType Plugin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2) Math Player (free versions available)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3) NVDA Reader (free versions available)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064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white">
          <a:xfrm>
            <a:off x="0" y="0"/>
            <a:ext cx="9144000" cy="3886200"/>
          </a:xfrm>
          <a:prstGeom prst="rect">
            <a:avLst/>
          </a:prstGeom>
          <a:solidFill>
            <a:srgbClr val="007FA3"/>
          </a:solidFill>
          <a:ln>
            <a:solidFill>
              <a:srgbClr val="007F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28384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4687" y="3962400"/>
            <a:ext cx="7794626" cy="17526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1600200" y="6429345"/>
            <a:ext cx="716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ClrTx/>
              <a:defRPr/>
            </a:pPr>
            <a:r>
              <a:rPr lang="en-US" alt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2016, 2013, 2010 Pearson Education, Inc. All Rights Reserved.</a:t>
            </a:r>
          </a:p>
        </p:txBody>
      </p:sp>
      <p:pic>
        <p:nvPicPr>
          <p:cNvPr id="15" name="Picture 14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980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edition here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5029200" y="1600201"/>
            <a:ext cx="36576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 dirty="0"/>
              <a:t>Chapter ##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5029200" y="3200400"/>
            <a:ext cx="36576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65337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3048000" y="6529254"/>
            <a:ext cx="5867400" cy="187537"/>
          </a:xfrm>
        </p:spPr>
        <p:txBody>
          <a:bodyPr/>
          <a:lstStyle>
            <a:lvl1pPr marL="0" indent="0" algn="r">
              <a:buNone/>
              <a:defRPr sz="800" baseline="0"/>
            </a:lvl1pPr>
          </a:lstStyle>
          <a:p>
            <a:pPr lvl="0"/>
            <a:r>
              <a:rPr lang="en-US" dirty="0"/>
              <a:t>Click to add copyright line</a:t>
            </a:r>
            <a:endParaRPr lang="en-IN" dirty="0"/>
          </a:p>
        </p:txBody>
      </p:sp>
      <p:pic>
        <p:nvPicPr>
          <p:cNvPr id="12" name="Picture 11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06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earning Objectiv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Learning Objectives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027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Learning Objective(s)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457200" y="1600200"/>
            <a:ext cx="8229600" cy="4525963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463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7FA3"/>
              </a:buClr>
              <a:buSzPct val="100000"/>
              <a:defRPr/>
            </a:lvl1pPr>
            <a:lvl2pPr>
              <a:buClr>
                <a:srgbClr val="007FA3"/>
              </a:buClr>
              <a:defRPr/>
            </a:lvl2pPr>
            <a:lvl3pPr>
              <a:buClr>
                <a:srgbClr val="007FA3"/>
              </a:buClr>
              <a:defRPr/>
            </a:lvl3pPr>
            <a:lvl4pPr>
              <a:buClr>
                <a:srgbClr val="007FA3"/>
              </a:buClr>
              <a:defRPr/>
            </a:lvl4pPr>
            <a:lvl5pPr>
              <a:buClr>
                <a:srgbClr val="007FA3"/>
              </a:buClr>
              <a:defRPr/>
            </a:lvl5pPr>
            <a:lvl6pPr>
              <a:buClr>
                <a:srgbClr val="007FA3"/>
              </a:buClr>
              <a:defRPr/>
            </a:lvl6pPr>
            <a:lvl7pPr>
              <a:buClr>
                <a:srgbClr val="007FA3"/>
              </a:buClr>
              <a:defRPr/>
            </a:lvl7pPr>
            <a:lvl8pPr>
              <a:buClr>
                <a:srgbClr val="007FA3"/>
              </a:buClr>
              <a:defRPr/>
            </a:lvl8pPr>
            <a:lvl9pPr>
              <a:buClr>
                <a:srgbClr val="007FA3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909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18872" indent="-118872">
              <a:buClr>
                <a:srgbClr val="007FA3"/>
              </a:buClr>
              <a:buSzPct val="25000"/>
              <a:defRPr sz="1600"/>
            </a:lvl1pPr>
            <a:lvl2pPr marL="569913" indent="-285750">
              <a:buClr>
                <a:srgbClr val="007FA3"/>
              </a:buClr>
              <a:defRPr sz="1600"/>
            </a:lvl2pPr>
            <a:lvl3pPr>
              <a:buClr>
                <a:srgbClr val="007FA3"/>
              </a:buClr>
              <a:defRPr sz="1600"/>
            </a:lvl3pPr>
            <a:lvl4pPr>
              <a:buClr>
                <a:srgbClr val="007FA3"/>
              </a:buClr>
              <a:defRPr sz="1600"/>
            </a:lvl4pPr>
            <a:lvl5pPr>
              <a:buClr>
                <a:srgbClr val="007FA3"/>
              </a:buClr>
              <a:defRPr sz="1600"/>
            </a:lvl5pPr>
            <a:lvl6pPr>
              <a:buClr>
                <a:srgbClr val="007FA3"/>
              </a:buClr>
              <a:defRPr sz="1600"/>
            </a:lvl6pPr>
            <a:lvl7pPr>
              <a:buClr>
                <a:srgbClr val="007FA3"/>
              </a:buClr>
              <a:defRPr sz="1600"/>
            </a:lvl7pPr>
            <a:lvl8pPr>
              <a:buClr>
                <a:srgbClr val="007FA3"/>
              </a:buClr>
              <a:defRPr sz="1600"/>
            </a:lvl8pPr>
            <a:lvl9pPr>
              <a:buClr>
                <a:srgbClr val="007FA3"/>
              </a:buCl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00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g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066800"/>
          </a:xfrm>
        </p:spPr>
        <p:txBody>
          <a:bodyPr anchor="t"/>
          <a:lstStyle>
            <a:lvl1pPr>
              <a:defRPr sz="340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368160"/>
            <a:ext cx="8229600" cy="916856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800"/>
            </a:lvl1pPr>
            <a:lvl2pPr marL="0" indent="0">
              <a:spcBef>
                <a:spcPts val="0"/>
              </a:spcBef>
              <a:buNone/>
              <a:defRPr sz="1600"/>
            </a:lvl2pPr>
            <a:lvl3pPr marL="0" indent="0">
              <a:spcBef>
                <a:spcPts val="0"/>
              </a:spcBef>
              <a:buNone/>
              <a:defRPr sz="1600"/>
            </a:lvl3pPr>
            <a:lvl4pPr marL="0" indent="0">
              <a:spcBef>
                <a:spcPts val="0"/>
              </a:spcBef>
              <a:buNone/>
              <a:defRPr sz="1600"/>
            </a:lvl4pPr>
            <a:lvl5pPr marL="0" indent="0">
              <a:spcBef>
                <a:spcPts val="0"/>
              </a:spcBef>
              <a:buNone/>
              <a:defRPr sz="1600"/>
            </a:lvl5pPr>
            <a:lvl6pPr marL="0" indent="0">
              <a:spcBef>
                <a:spcPts val="0"/>
              </a:spcBef>
              <a:buNone/>
              <a:defRPr sz="1600"/>
            </a:lvl6pPr>
            <a:lvl7pPr marL="0" indent="0">
              <a:spcBef>
                <a:spcPts val="0"/>
              </a:spcBef>
              <a:buNone/>
              <a:defRPr sz="1600"/>
            </a:lvl7pPr>
            <a:lvl8pPr marL="0" indent="0">
              <a:spcBef>
                <a:spcPts val="0"/>
              </a:spcBef>
              <a:buNone/>
              <a:defRPr sz="1600"/>
            </a:lvl8pPr>
            <a:lvl9pPr marL="0" indent="0">
              <a:spcBef>
                <a:spcPts val="0"/>
              </a:spcBef>
              <a:buNone/>
              <a:defRPr sz="1600"/>
            </a:lvl9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1600200" y="6429345"/>
            <a:ext cx="716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ClrTx/>
              <a:defRPr/>
            </a:pPr>
            <a:r>
              <a:rPr lang="en-US" alt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2016, 2013, 2010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03796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1"/>
            <a:ext cx="8229600" cy="6096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idx="13"/>
          </p:nvPr>
        </p:nvSpPr>
        <p:spPr>
          <a:xfrm>
            <a:off x="457200" y="2286000"/>
            <a:ext cx="8229600" cy="5635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3048000"/>
            <a:ext cx="8229600" cy="5705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/>
          </p:nvPr>
        </p:nvSpPr>
        <p:spPr>
          <a:xfrm>
            <a:off x="457200" y="3733800"/>
            <a:ext cx="35052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6"/>
          </p:nvPr>
        </p:nvSpPr>
        <p:spPr>
          <a:xfrm>
            <a:off x="4343400" y="3733800"/>
            <a:ext cx="3886200" cy="99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7"/>
          </p:nvPr>
        </p:nvSpPr>
        <p:spPr>
          <a:xfrm>
            <a:off x="457200" y="4876800"/>
            <a:ext cx="3505200" cy="99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4799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47800"/>
            <a:ext cx="7772400" cy="2152651"/>
          </a:xfrm>
        </p:spPr>
        <p:txBody>
          <a:bodyPr anchor="b">
            <a:noAutofit/>
          </a:bodyPr>
          <a:lstStyle>
            <a:lvl1pPr algn="l">
              <a:defRPr sz="3400" b="1" cap="none" baseline="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4687" y="3962400"/>
            <a:ext cx="7794627" cy="175260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704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26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1600200" y="6429345"/>
            <a:ext cx="716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ClrTx/>
              <a:defRPr/>
            </a:pPr>
            <a:r>
              <a:rPr lang="en-US" alt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2016, 2013, 2010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11136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D3F4C-810C-E151-00BB-4AFFAD535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94568D-ADD9-467B-99B2-462F1EBC3BA7}" type="datetime1">
              <a:rPr lang="en-US"/>
              <a:pPr>
                <a:defRPr/>
              </a:pPr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78FE2-9609-2F54-9A3B-1EFAC69A7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 2103                                                                                                                   managing operations &amp;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8FB50-4181-CB54-78A0-291F6A5ED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565163-4986-4694-B655-F6FF2217857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7748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E81E1-EE59-4943-23C8-4CC4FF198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B19240-066F-493B-8A09-14C0E41DF0B6}" type="datetime1">
              <a:rPr lang="en-US"/>
              <a:pPr>
                <a:defRPr/>
              </a:pPr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31EB7-6924-D9F7-264A-5CDC8103A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 2103                                                                                                                   managing operations &amp;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8D1BE-2935-0FA3-AB98-A7151AF40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0B3295-14FC-416F-8137-6B466BC0C15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41201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4B048-E581-DCA6-C3AC-8B6578124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EE27C3-1F0D-4AE2-BAF6-A5B9EE2C78A3}" type="datetime1">
              <a:rPr lang="en-US"/>
              <a:pPr>
                <a:defRPr/>
              </a:pPr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E09CE-68BC-01C1-DCE4-45917A919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 2103                                                                                                                   managing operations &amp;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10113-25AB-B0B0-B25C-8E039B7FE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E7A7A7-E688-45CF-BB30-964AD3A1AA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72104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6F388B6-E3D1-9545-4826-F4CA1EEAB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65E782-6F1B-4AA2-9E78-D10338B4A9EA}" type="datetime1">
              <a:rPr lang="en-US"/>
              <a:pPr>
                <a:defRPr/>
              </a:pPr>
              <a:t>12/3/2025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0E29F2-F4C6-C50C-DBCD-1AB5428FA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 2103                                                                                                                   managing operations &amp; quality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A6F4ACF-9556-0D54-1FEA-252E5921F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D17CD2-76CA-4B13-B316-C3767F07FE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88671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07DB534-B37C-82AD-D55D-E2E1E1A98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00CBB7-9939-4688-A1C1-C04234F32984}" type="datetime1">
              <a:rPr lang="en-US"/>
              <a:pPr>
                <a:defRPr/>
              </a:pPr>
              <a:t>12/3/2025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96B917D-01C5-15A2-2D65-A76128CD1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 2103                                                                                                                   managing operations &amp; quality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8FDA305-CF6B-8424-D949-3AB9050ED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7DD440-AC54-4DDA-9B65-B5164BAFB2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0451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740B55B-4B09-B0F0-4F94-82A1012ED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F8D01-A46F-4E67-BC49-757F7652EE2D}" type="datetime1">
              <a:rPr lang="en-US"/>
              <a:pPr>
                <a:defRPr/>
              </a:pPr>
              <a:t>12/3/2025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8BBBC9C-C0D9-143E-183E-4F3361B2F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 2103                                                                                                                   managing operations &amp; quality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64FC5D2-DA86-9F17-4DFB-5650270C3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2140A7-D81B-4AA4-AFB7-98707AE09B6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91623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99FA106-F623-665C-AED5-34961B17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8AC2E-378F-48F7-9E6B-B096956DA89B}" type="datetime1">
              <a:rPr lang="en-US"/>
              <a:pPr>
                <a:defRPr/>
              </a:pPr>
              <a:t>12/3/2025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67381F8-E00C-4AD7-AB51-18944013C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 2103                                                                                                                   managing operations &amp; quality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9C44EBB-6D0B-D202-4D91-B8918CA4A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716B16-B813-457E-B38F-C08080399A5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42594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53F4FD5-1E6F-4648-52D3-6B2627CE8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81DA23-2AB1-42E5-9292-35D46A64E0B9}" type="datetime1">
              <a:rPr lang="en-US"/>
              <a:pPr>
                <a:defRPr/>
              </a:pPr>
              <a:t>12/3/2025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B10ACA2-D219-889F-5328-60E5144F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 2103                                                                                                                   managing operations &amp; quality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2D1ED8D-8FCD-580E-E5DD-08C9D02D5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562EFC-3F30-43F2-954A-CD3B0BD9466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34684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7CA9315-3844-E47D-EFFE-14162753C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5D00F5-909A-41DE-B385-C05183209BA8}" type="datetime1">
              <a:rPr lang="en-US"/>
              <a:pPr>
                <a:defRPr/>
              </a:pPr>
              <a:t>12/3/2025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36A796C-68FB-0681-59D7-1B2645A4C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 2103                                                                                                                   managing operations &amp; quality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9B2FA3-39FF-83D9-E6D3-87AD745D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959A0E-E21A-4838-9E0A-1133F58997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058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A2337-EADB-2F26-6F30-73E0F813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C3E8A8-99E9-48EB-831B-355ED6A80884}" type="datetime1">
              <a:rPr lang="en-US"/>
              <a:pPr>
                <a:defRPr/>
              </a:pPr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09AEB-C99E-7E86-2A48-7A8839F07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 2103                                                                                                                   managing operations &amp;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2B4F5-A550-E755-FB76-159B3A9B9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E848C6-3B47-44AD-BC03-DC96D717FB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5184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9B7E6-8843-729B-9795-FE48BE12F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D7175-0ED0-4B5C-9C39-2F24C42A831E}" type="datetime1">
              <a:rPr lang="en-US"/>
              <a:pPr>
                <a:defRPr/>
              </a:pPr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EEDC4-47D3-C3FD-6D0E-FE1F75322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mB 2103                                                                                                                   managing operations &amp;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0F913-DC03-0AA2-1DDF-502272A1D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AEFA0B-2808-4848-A91C-F9EFD0AAA7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35684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A296E-7D9C-82EF-1726-2B233D2B6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32197C-7321-CE39-F183-226DFDFF5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76CD9-399F-2FEB-F440-A80245163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6FA82-379D-4394-BC5D-8AFAC611F85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E51A3-DF59-0DF6-B0C9-21CFC846F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7F8CA-F5DA-70C7-C838-8F0FBEC16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98C8-6B4C-4BA6-BD94-8602C988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46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A0DB3-22B6-0550-5C54-EE6C94B5D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0FE4B-6A04-37D1-FD72-E3AF21EE4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597B7-5F69-A13C-D991-8B8783F4B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6FA82-379D-4394-BC5D-8AFAC611F85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41AF8-B541-58CC-7D2C-F6C2AA40E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18E7E-66CB-DAC2-940B-5D6B1DD75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98C8-6B4C-4BA6-BD94-8602C988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6371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EB5B-CB7A-2DA4-50C0-AB65930EE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65C1E-E22C-F85E-61C7-E93EA0FC6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C536E-7DCB-E848-926B-BD644BB52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6FA82-379D-4394-BC5D-8AFAC611F85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FC66A-7B86-DF5B-CC5B-70BB08574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774FD-4607-A2D8-B098-4531ECB90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98C8-6B4C-4BA6-BD94-8602C988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7036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31770-B94E-75FF-C7BB-7B21BE9BF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6DA56-2854-2FB1-E3F2-14A23FB778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945C37-A4BB-2858-5033-56E24699F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F90132-9C04-5BC5-4CCB-446B560F2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6FA82-379D-4394-BC5D-8AFAC611F85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6EFB6-8DF2-BFCB-02B2-1B8726CD9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79EFF-31DE-BDCE-9032-C78A6F6AF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98C8-6B4C-4BA6-BD94-8602C988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2049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64D4D-9AEF-6F91-3021-34D7A824F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037ED-1D10-4EAF-005D-B8013171D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2928F3-B79D-9DD8-638C-5C07631E1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FFB4B4-FF5F-C93E-DB04-72578D9F32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204E52-69AA-B805-CE66-0852C18827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C24ED4-826B-04CF-8AFC-D0DFEF84C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6FA82-379D-4394-BC5D-8AFAC611F85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19F01B-27BA-744F-FE3C-8578D195C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D76C2B-9D2B-6B90-7CFD-096158424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98C8-6B4C-4BA6-BD94-8602C988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02447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FADE7-6183-F31D-3937-EF18012B6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74BA9D-74B2-C29A-4268-B80DC0FC7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6FA82-379D-4394-BC5D-8AFAC611F85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6281CD-0044-AC6A-5370-BA87AE151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202D0D-9FCB-8555-092F-CDF185F9D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98C8-6B4C-4BA6-BD94-8602C988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7490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91605A-5723-AB88-DBAA-A85F9329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6FA82-379D-4394-BC5D-8AFAC611F85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8C4BEF-B971-07B3-B470-D8E8C386B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FF581-FDE7-8419-9BBE-0AE463465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98C8-6B4C-4BA6-BD94-8602C988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1514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C3F49-AEF9-6686-3778-600BE47A5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F9B0A-B143-DF19-9D76-E84D5DE65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8A51E9-B4D6-982F-399B-C796195B4F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D6BC44-64D4-BB3A-DDF1-B5831EED2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6FA82-379D-4394-BC5D-8AFAC611F85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931F13-D28E-56B0-84FA-31D1AACE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41317-F91C-F98B-D03C-D1C8AAC87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98C8-6B4C-4BA6-BD94-8602C988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840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7610-296B-CBE1-7C4C-3EFEE0AE6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0F9C72-D8D3-A0CD-EE7F-D3C1B73401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7702A9-D7B6-9918-E5DB-BF82305F7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1DF3E1-F75E-19D3-6DD6-6DA5A114E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6FA82-379D-4394-BC5D-8AFAC611F85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EF3A0-DABA-27B6-F60E-F647783A3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00792F-C5DF-2644-76C7-6742ADB5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98C8-6B4C-4BA6-BD94-8602C988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7720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66025-86B1-B7E8-9A70-91A6D9F28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DD4FFE-7D62-D219-9417-9FC37692C6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A02D2-E613-E52D-0837-0E78FEEF2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6FA82-379D-4394-BC5D-8AFAC611F85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83403-0CAF-9381-82B1-38CE8D194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D0904-48CD-7BC8-54B2-8DE189B79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98C8-6B4C-4BA6-BD94-8602C988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61992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E169C1-63CA-628E-45A1-2220A9F0B0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E12C22-0A20-DADB-D4D6-FA864BA0F1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31334-C962-9E68-B7EE-7C6897ADF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6FA82-379D-4394-BC5D-8AFAC611F85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8E60F-C44A-C63F-39DD-55AD25F5A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54D24-867D-FCF2-9DF7-15DBDBAD9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98C8-6B4C-4BA6-BD94-8602C988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1213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BD0237B-43B3-B153-DB2C-2FC68D05D2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" y="6416675"/>
            <a:ext cx="8991600" cy="365125"/>
          </a:xfrm>
          <a:prstGeom prst="rect">
            <a:avLst/>
          </a:prstGeom>
        </p:spPr>
        <p:txBody>
          <a:bodyPr/>
          <a:lstStyle>
            <a:lvl1pPr algn="l" eaLnBrk="1" hangingPunct="1">
              <a:defRPr/>
            </a:lvl1pPr>
          </a:lstStyle>
          <a:p>
            <a:pPr>
              <a:defRPr/>
            </a:pPr>
            <a:r>
              <a:rPr lang="sv-SE"/>
              <a:t>bba 3115                                                                                                                        Total Quality Management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9388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F9E777-19A8-E6EC-C3D8-F0339439ED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924154F-5710-BB1D-4724-6F0D9C7167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28AF6FA4-65ED-428B-8F6D-12A85BD02F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4656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3969" y="6172200"/>
            <a:ext cx="8595360" cy="23546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35713" y="113072"/>
            <a:ext cx="21336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12/3/2025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9312" y="113072"/>
            <a:ext cx="551783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1600200" y="6429345"/>
            <a:ext cx="716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ClrTx/>
              <a:defRPr/>
            </a:pPr>
            <a:r>
              <a:rPr lang="en-US" alt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2016, 2013, 2010 Pearson Education, Inc. All Rights Reserved.</a:t>
            </a:r>
          </a:p>
        </p:txBody>
      </p:sp>
      <p:pic>
        <p:nvPicPr>
          <p:cNvPr id="10" name="Picture 9" descr="Pearson Logo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57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6" r:id="rId3"/>
    <p:sldLayoutId id="2147483650" r:id="rId4"/>
    <p:sldLayoutId id="2147483659" r:id="rId5"/>
    <p:sldLayoutId id="2147483658" r:id="rId6"/>
    <p:sldLayoutId id="2147483660" r:id="rId7"/>
    <p:sldLayoutId id="2147483651" r:id="rId8"/>
    <p:sldLayoutId id="2147483654" r:id="rId9"/>
    <p:sldLayoutId id="2147483655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400" b="1" kern="1200">
          <a:solidFill>
            <a:srgbClr val="007FA3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56032" indent="-256032" algn="l" defTabSz="914400" rtl="0" eaLnBrk="1" latinLnBrk="0" hangingPunct="1">
        <a:spcBef>
          <a:spcPts val="15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ts val="600"/>
        </a:spcBef>
        <a:buClr>
          <a:srgbClr val="007FA3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968207DD-20CC-4ED9-FAFC-A5676FD702B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085A2340-D64F-92BD-3E1D-1C36691BB0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57AC7-B38A-59B0-C5E7-EC36ED5293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cs typeface="Arial" charset="0"/>
              </a:defRPr>
            </a:lvl1pPr>
          </a:lstStyle>
          <a:p>
            <a:pPr>
              <a:defRPr/>
            </a:pPr>
            <a:fld id="{5310DAE1-C55E-4252-B58B-E54A543E0A91}" type="datetime1">
              <a:rPr lang="en-US"/>
              <a:pPr>
                <a:defRPr/>
              </a:pPr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AFD27-77F4-3EB7-EC9A-F6EEF912A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mB 2103                                                                                                                   managing operations &amp; quality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D262E-D357-1B27-510B-FA8A5E61D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1D1500A1-B65B-4723-BFBB-D64F3C39D7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7942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C9DAC-D6DA-AB58-E269-AD5773B4E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99463-092C-70CA-8C05-DC89D7A5C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BB42E-8D1E-B63A-5CDD-3A4BE61AFE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6FA82-379D-4394-BC5D-8AFAC611F850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395CE-3349-4145-8855-8EB558074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C8B39-17DC-9262-728F-8E5E02F2C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2C98C8-6B4C-4BA6-BD94-8602C9880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95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Box 6">
            <a:extLst>
              <a:ext uri="{FF2B5EF4-FFF2-40B4-BE49-F238E27FC236}">
                <a16:creationId xmlns:a16="http://schemas.microsoft.com/office/drawing/2014/main" id="{F776A729-122B-1551-7B21-E069B99FC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75" y="87313"/>
            <a:ext cx="185738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400" i="1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380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cienciamx.com/index.php/centros-de-investigacion/14621-exponen-beneficios-de-industrializacion-en-aguascalientes" TargetMode="External"/><Relationship Id="rId5" Type="http://schemas.openxmlformats.org/officeDocument/2006/relationships/image" Target="../media/image4.jpg"/><Relationship Id="rId4" Type="http://schemas.openxmlformats.org/officeDocument/2006/relationships/hyperlink" Target="https://www.wallpaperflare.com/machine-industrial-factories-industry-factory-machinery-wallpaper-cbcwf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2590800" y="6466045"/>
            <a:ext cx="6076950" cy="191929"/>
          </a:xfrm>
        </p:spPr>
        <p:txBody>
          <a:bodyPr/>
          <a:lstStyle/>
          <a:p>
            <a:pPr algn="r">
              <a:buClrTx/>
              <a:defRPr/>
            </a:pPr>
            <a:r>
              <a:rPr lang="en-US" alt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2016, 2013, 2010 Pearson Education, Inc. All Rights Reserved.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85800" y="1828876"/>
            <a:ext cx="8229600" cy="1765828"/>
          </a:xfrm>
        </p:spPr>
        <p:txBody>
          <a:bodyPr/>
          <a:lstStyle/>
          <a:p>
            <a:pPr algn="ctr"/>
            <a:r>
              <a:rPr lang="en-US" sz="3600" dirty="0"/>
              <a:t>Total Quality Management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990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+mj-lt"/>
              </a:rPr>
              <a:t>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1"/>
            <a:ext cx="8382000" cy="2286000"/>
          </a:xfrm>
        </p:spPr>
        <p:txBody>
          <a:bodyPr/>
          <a:lstStyle/>
          <a:p>
            <a:pPr marL="255600" indent="-255600" algn="just"/>
            <a:r>
              <a:rPr lang="en-US" sz="2600" dirty="0"/>
              <a:t>Quality</a:t>
            </a:r>
          </a:p>
          <a:p>
            <a:pPr marL="742518" lvl="1" indent="-255600" algn="just"/>
            <a:r>
              <a:rPr lang="en-US" sz="2400" dirty="0"/>
              <a:t>Quality is the ability of a product or service to consistently meet  or exceed customer expectations.</a:t>
            </a:r>
          </a:p>
          <a:p>
            <a:pPr marL="486918" lvl="1" indent="0" algn="just">
              <a:buNone/>
            </a:pPr>
            <a:r>
              <a:rPr lang="en-US" sz="2400" dirty="0"/>
              <a:t>  (</a:t>
            </a:r>
            <a:r>
              <a:rPr lang="en-US" sz="2800" b="1" dirty="0">
                <a:solidFill>
                  <a:schemeClr val="accent5"/>
                </a:solidFill>
              </a:rPr>
              <a:t>What customers wants that is the quality</a:t>
            </a:r>
            <a:r>
              <a:rPr lang="en-US" sz="2400" dirty="0"/>
              <a:t>) </a:t>
            </a:r>
          </a:p>
          <a:p>
            <a:pPr marL="255600" indent="-255600" algn="just"/>
            <a:r>
              <a:rPr lang="en-US" sz="2600" dirty="0"/>
              <a:t>Defect</a:t>
            </a:r>
          </a:p>
          <a:p>
            <a:pPr marL="742518" lvl="1" indent="-255600" algn="just"/>
            <a:r>
              <a:rPr lang="en-US" sz="2400" dirty="0"/>
              <a:t>Any instance when a process fails to satisfy its customer</a:t>
            </a:r>
          </a:p>
        </p:txBody>
      </p:sp>
    </p:spTree>
    <p:extLst>
      <p:ext uri="{BB962C8B-B14F-4D97-AF65-F5344CB8AC3E}">
        <p14:creationId xmlns:p14="http://schemas.microsoft.com/office/powerpoint/2010/main" val="2982462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>
            <a:extLst>
              <a:ext uri="{FF2B5EF4-FFF2-40B4-BE49-F238E27FC236}">
                <a16:creationId xmlns:a16="http://schemas.microsoft.com/office/drawing/2014/main" id="{5F00D609-137F-829A-F3DC-81F0986A1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04800"/>
            <a:ext cx="3429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Dimensions of Quality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195" name="Text Box 3">
            <a:extLst>
              <a:ext uri="{FF2B5EF4-FFF2-40B4-BE49-F238E27FC236}">
                <a16:creationId xmlns:a16="http://schemas.microsoft.com/office/drawing/2014/main" id="{4D2725F7-6CF3-9C41-40B1-174A1D5A3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1149350"/>
            <a:ext cx="2704587" cy="409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Manufactured Product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Performance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Features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Reliability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Conformance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Durability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Serviceability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Aesthetics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Safety</a:t>
            </a:r>
          </a:p>
        </p:txBody>
      </p:sp>
      <p:sp>
        <p:nvSpPr>
          <p:cNvPr id="8196" name="Text Box 4">
            <a:extLst>
              <a:ext uri="{FF2B5EF4-FFF2-40B4-BE49-F238E27FC236}">
                <a16:creationId xmlns:a16="http://schemas.microsoft.com/office/drawing/2014/main" id="{ECEBC42A-833C-94BE-2697-B39DF2ECD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1179513"/>
            <a:ext cx="3937553" cy="36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Service Product</a:t>
            </a:r>
            <a:endParaRPr kumimoji="0" lang="en-US" altLang="en-US" sz="2000" b="0" i="0" u="sng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Timeliness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Completeness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Courtesy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Consistency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Accessibility and Convenience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Accuracy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Responsiveness</a:t>
            </a:r>
          </a:p>
        </p:txBody>
      </p:sp>
    </p:spTree>
    <p:extLst>
      <p:ext uri="{BB962C8B-B14F-4D97-AF65-F5344CB8AC3E}">
        <p14:creationId xmlns:p14="http://schemas.microsoft.com/office/powerpoint/2010/main" val="162924155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B97DC-9C03-B18B-19C3-8501BD5C0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D81CF-6B90-050E-4874-25B0CC06F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auto"/>
            <a:r>
              <a:rPr lang="en-US" sz="2000" b="0" i="0" dirty="0">
                <a:effectLst/>
                <a:latin typeface="-apple-system"/>
              </a:rPr>
              <a:t>1.    </a:t>
            </a:r>
            <a:r>
              <a:rPr lang="en-US" sz="2000" b="1" i="0" dirty="0">
                <a:effectLst/>
                <a:latin typeface="-apple-system"/>
              </a:rPr>
              <a:t>Performance</a:t>
            </a:r>
            <a:r>
              <a:rPr lang="en-US" sz="2000" b="0" i="0" dirty="0">
                <a:effectLst/>
                <a:latin typeface="-apple-system"/>
              </a:rPr>
              <a:t>: primary operating characteristics of the product; they are usually measurable, e.g. fuel consumption of an automobile, seating space, hard disk capacity of a computer, writing capacity of pen or pencil, etc.</a:t>
            </a:r>
          </a:p>
          <a:p>
            <a:pPr algn="l" fontAlgn="auto"/>
            <a:r>
              <a:rPr lang="en-US" sz="2000" b="0" i="0" dirty="0">
                <a:effectLst/>
                <a:latin typeface="-apple-system"/>
              </a:rPr>
              <a:t>2.    </a:t>
            </a:r>
            <a:r>
              <a:rPr lang="en-US" sz="2000" b="1" i="0" dirty="0">
                <a:effectLst/>
                <a:latin typeface="-apple-system"/>
              </a:rPr>
              <a:t>Features</a:t>
            </a:r>
            <a:r>
              <a:rPr lang="en-US" sz="2000" b="0" i="0" dirty="0">
                <a:effectLst/>
                <a:latin typeface="-apple-system"/>
              </a:rPr>
              <a:t>: additional characteristics that enhance the product/services appeal to the user, e.g. digital speedometer or cassette recorder in an automobile, rubber attached to a pencil, internet services on a mobile phone, etc.</a:t>
            </a:r>
          </a:p>
          <a:p>
            <a:pPr algn="l" fontAlgn="auto"/>
            <a:r>
              <a:rPr lang="en-US" sz="2000" b="0" i="0" dirty="0">
                <a:effectLst/>
                <a:latin typeface="-apple-system"/>
              </a:rPr>
              <a:t>3.    </a:t>
            </a:r>
            <a:r>
              <a:rPr lang="en-US" sz="2000" b="1" i="0" dirty="0">
                <a:effectLst/>
                <a:latin typeface="-apple-system"/>
              </a:rPr>
              <a:t>Reliability</a:t>
            </a:r>
            <a:r>
              <a:rPr lang="en-US" sz="2000" b="0" i="0" dirty="0">
                <a:effectLst/>
                <a:latin typeface="-apple-system"/>
              </a:rPr>
              <a:t>: likelihood that a product will not fail within a specific time period, e.g. number of defects occurring in a car or any machine in one year’s use, or failure rate of mobile set per annum, etc.</a:t>
            </a:r>
          </a:p>
          <a:p>
            <a:pPr algn="l" fontAlgn="auto"/>
            <a:r>
              <a:rPr lang="en-US" sz="2000" b="0" i="0" dirty="0">
                <a:effectLst/>
                <a:latin typeface="-apple-system"/>
              </a:rPr>
              <a:t>4.    </a:t>
            </a:r>
            <a:r>
              <a:rPr lang="en-US" sz="2000" b="1" i="0" dirty="0">
                <a:effectLst/>
                <a:latin typeface="-apple-system"/>
              </a:rPr>
              <a:t>Conformance</a:t>
            </a:r>
            <a:r>
              <a:rPr lang="en-US" sz="2000" b="0" i="0" dirty="0">
                <a:effectLst/>
                <a:latin typeface="-apple-system"/>
              </a:rPr>
              <a:t>: precision with which the product meets the specified standards (Acceptable Quality Level), e.g. compliance to specification of a product when manufactured, e.g. Vendors’ Acceptable Quality Level, etc.</a:t>
            </a:r>
          </a:p>
        </p:txBody>
      </p:sp>
    </p:spTree>
    <p:extLst>
      <p:ext uri="{BB962C8B-B14F-4D97-AF65-F5344CB8AC3E}">
        <p14:creationId xmlns:p14="http://schemas.microsoft.com/office/powerpoint/2010/main" val="2142376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810D1-1649-9EDA-895D-E601EB932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FB898-1855-B7E4-1A51-93C39BEEE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0" i="0" dirty="0">
                <a:effectLst/>
                <a:latin typeface="-apple-system"/>
              </a:rPr>
              <a:t>5.    </a:t>
            </a:r>
            <a:r>
              <a:rPr lang="en-US" sz="2000" b="1" i="0" dirty="0">
                <a:effectLst/>
                <a:latin typeface="-apple-system"/>
              </a:rPr>
              <a:t>Durability</a:t>
            </a:r>
            <a:r>
              <a:rPr lang="en-US" sz="2000" b="0" i="0" dirty="0">
                <a:effectLst/>
                <a:latin typeface="-apple-system"/>
              </a:rPr>
              <a:t>: measures the length of a product’s life, e.g. 15 years or 20 years of useful life of a car, </a:t>
            </a:r>
            <a:r>
              <a:rPr lang="en-US" sz="2000" dirty="0"/>
              <a:t> </a:t>
            </a:r>
            <a:r>
              <a:rPr lang="en-US" sz="2000" b="0" i="0" dirty="0">
                <a:effectLst/>
                <a:latin typeface="-apple-system"/>
              </a:rPr>
              <a:t>1-2 years of an ordinary ink pen, etc.</a:t>
            </a:r>
          </a:p>
          <a:p>
            <a:pPr algn="l" fontAlgn="auto"/>
            <a:r>
              <a:rPr lang="en-US" sz="2000" b="0" i="0" dirty="0">
                <a:effectLst/>
                <a:latin typeface="-apple-system"/>
              </a:rPr>
              <a:t>6.    </a:t>
            </a:r>
            <a:r>
              <a:rPr lang="en-US" sz="2000" b="1" i="0" dirty="0">
                <a:effectLst/>
                <a:latin typeface="-apple-system"/>
              </a:rPr>
              <a:t>Serviceability</a:t>
            </a:r>
            <a:r>
              <a:rPr lang="en-US" sz="2000" b="0" i="0" dirty="0">
                <a:effectLst/>
                <a:latin typeface="-apple-system"/>
              </a:rPr>
              <a:t>: speed with which the product can be put into service when it breaks down, e.g. time to carry out the service of a car, software fixing time when it fails (or crashes), etc.</a:t>
            </a:r>
          </a:p>
          <a:p>
            <a:pPr algn="l" fontAlgn="auto"/>
            <a:r>
              <a:rPr lang="en-US" sz="2000" b="0" i="0" dirty="0">
                <a:effectLst/>
                <a:latin typeface="-apple-system"/>
              </a:rPr>
              <a:t>7.    </a:t>
            </a:r>
            <a:r>
              <a:rPr lang="en-US" sz="2000" b="1" i="0" dirty="0">
                <a:effectLst/>
                <a:latin typeface="-apple-system"/>
              </a:rPr>
              <a:t>Aesthetics</a:t>
            </a:r>
            <a:r>
              <a:rPr lang="en-US" sz="2000" b="0" i="0" dirty="0">
                <a:effectLst/>
                <a:latin typeface="-apple-system"/>
              </a:rPr>
              <a:t>: subjective dimension indicating the kind of response a user has to a product. It represents the individual’s personal preference-the way an individual responds to the look, feel, sound, taste and smell, e.g. color and décor of a car</a:t>
            </a:r>
          </a:p>
          <a:p>
            <a:pPr algn="l" fontAlgn="auto"/>
            <a:r>
              <a:rPr lang="en-US" sz="2000" b="0" i="0" dirty="0">
                <a:effectLst/>
                <a:latin typeface="-apple-system"/>
              </a:rPr>
              <a:t>8.    </a:t>
            </a:r>
            <a:r>
              <a:rPr lang="en-US" sz="2000" b="1" i="0" dirty="0">
                <a:effectLst/>
                <a:latin typeface="-apple-system"/>
              </a:rPr>
              <a:t>Perceived Quality</a:t>
            </a:r>
            <a:r>
              <a:rPr lang="en-US" sz="2000" b="0" i="0" dirty="0">
                <a:effectLst/>
                <a:latin typeface="-apple-system"/>
              </a:rPr>
              <a:t>: a subjective dimension; it is the quality attributed to a good or service based on indirect measures, e.g. brand popularity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292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5">
            <a:extLst>
              <a:ext uri="{FF2B5EF4-FFF2-40B4-BE49-F238E27FC236}">
                <a16:creationId xmlns:a16="http://schemas.microsoft.com/office/drawing/2014/main" id="{0C940984-7A36-00CC-519F-1A3728161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3917950"/>
            <a:ext cx="2286000" cy="2554288"/>
          </a:xfrm>
          <a:prstGeom prst="rect">
            <a:avLst/>
          </a:prstGeom>
          <a:solidFill>
            <a:srgbClr val="CC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C00000"/>
                </a:solidFill>
                <a:latin typeface="Arial" panose="020B0604020202020204" pitchFamily="34" charset="0"/>
              </a:rPr>
              <a:t>Prevention Costs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quality planning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new product review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supplier quality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evaluation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training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product design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processing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Information</a:t>
            </a:r>
          </a:p>
          <a:p>
            <a:pPr>
              <a:spcBef>
                <a:spcPct val="0"/>
              </a:spcBef>
            </a:pPr>
            <a:endParaRPr lang="en-US" altLang="en-US" sz="1600">
              <a:latin typeface="Arial" panose="020B0604020202020204" pitchFamily="34" charset="0"/>
            </a:endParaRPr>
          </a:p>
        </p:txBody>
      </p:sp>
      <p:sp>
        <p:nvSpPr>
          <p:cNvPr id="11267" name="Rectangle 26">
            <a:extLst>
              <a:ext uri="{FF2B5EF4-FFF2-40B4-BE49-F238E27FC236}">
                <a16:creationId xmlns:a16="http://schemas.microsoft.com/office/drawing/2014/main" id="{49FAC222-B878-2F2E-2843-D892F36495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922713"/>
            <a:ext cx="2590800" cy="2554287"/>
          </a:xfrm>
          <a:prstGeom prst="rect">
            <a:avLst/>
          </a:prstGeom>
          <a:solidFill>
            <a:srgbClr val="CC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C00000"/>
                </a:solidFill>
                <a:latin typeface="Arial" panose="020B0604020202020204" pitchFamily="34" charset="0"/>
              </a:rPr>
              <a:t>Appraisal Costs</a:t>
            </a:r>
            <a:r>
              <a:rPr lang="en-US" altLang="en-US" sz="1600" b="1" i="1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incoming inspection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in-process inspection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final inspection and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testing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product quality audits, 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maintaining accuracy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of testing equipment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>
              <a:latin typeface="Arial" panose="020B0604020202020204" pitchFamily="34" charset="0"/>
            </a:endParaRPr>
          </a:p>
        </p:txBody>
      </p:sp>
      <p:sp>
        <p:nvSpPr>
          <p:cNvPr id="11268" name="Rectangle 27">
            <a:extLst>
              <a:ext uri="{FF2B5EF4-FFF2-40B4-BE49-F238E27FC236}">
                <a16:creationId xmlns:a16="http://schemas.microsoft.com/office/drawing/2014/main" id="{5A9D27E4-6C14-22B3-ACE5-E8E1EC5BE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922713"/>
            <a:ext cx="2362200" cy="2554287"/>
          </a:xfrm>
          <a:prstGeom prst="rect">
            <a:avLst/>
          </a:prstGeom>
          <a:solidFill>
            <a:srgbClr val="CC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C00000"/>
                </a:solidFill>
                <a:latin typeface="Arial" panose="020B0604020202020204" pitchFamily="34" charset="0"/>
              </a:rPr>
              <a:t>Internal Failure Costs</a:t>
            </a:r>
            <a:r>
              <a:rPr lang="en-US" altLang="en-US" sz="1600">
                <a:latin typeface="Arial" panose="020B0604020202020204" pitchFamily="34" charset="0"/>
              </a:rPr>
              <a:t> 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scrap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rework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failure analysis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repeated service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repeated production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re-investigation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refuse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</a:pPr>
            <a:endParaRPr lang="en-US" altLang="en-US" sz="1600">
              <a:latin typeface="Arial" panose="020B0604020202020204" pitchFamily="34" charset="0"/>
            </a:endParaRPr>
          </a:p>
        </p:txBody>
      </p:sp>
      <p:sp>
        <p:nvSpPr>
          <p:cNvPr id="11269" name="Rectangle 28">
            <a:extLst>
              <a:ext uri="{FF2B5EF4-FFF2-40B4-BE49-F238E27FC236}">
                <a16:creationId xmlns:a16="http://schemas.microsoft.com/office/drawing/2014/main" id="{800FBF26-1DFC-46AC-4FF1-206E929C0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922713"/>
            <a:ext cx="2286000" cy="2554287"/>
          </a:xfrm>
          <a:prstGeom prst="rect">
            <a:avLst/>
          </a:prstGeom>
          <a:solidFill>
            <a:srgbClr val="CC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C00000"/>
                </a:solidFill>
                <a:latin typeface="Arial" panose="020B0604020202020204" pitchFamily="34" charset="0"/>
              </a:rPr>
              <a:t>External Failure Costs</a:t>
            </a:r>
            <a:r>
              <a:rPr lang="en-US" altLang="en-US" sz="1600">
                <a:latin typeface="Arial" panose="020B0604020202020204" pitchFamily="34" charset="0"/>
              </a:rPr>
              <a:t> 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servicing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guarantees and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 returning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product canceling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 costs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warranty charges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complaint adjustment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returned material</a:t>
            </a:r>
          </a:p>
          <a:p>
            <a:pPr>
              <a:spcBef>
                <a:spcPct val="0"/>
              </a:spcBef>
            </a:pPr>
            <a:r>
              <a:rPr lang="en-US" altLang="en-US" sz="1600">
                <a:latin typeface="Arial" panose="020B0604020202020204" pitchFamily="34" charset="0"/>
              </a:rPr>
              <a:t>allowances</a:t>
            </a:r>
          </a:p>
        </p:txBody>
      </p:sp>
      <p:sp>
        <p:nvSpPr>
          <p:cNvPr id="11270" name="Rectangle 2">
            <a:extLst>
              <a:ext uri="{FF2B5EF4-FFF2-40B4-BE49-F238E27FC236}">
                <a16:creationId xmlns:a16="http://schemas.microsoft.com/office/drawing/2014/main" id="{972631E3-E3C6-CEDC-A7AA-7FE78784C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971800"/>
            <a:ext cx="2133600" cy="6858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Pct val="50000"/>
              <a:buFont typeface="Monotype Sorts" pitchFamily="2" charset="2"/>
              <a:buNone/>
            </a:pPr>
            <a:r>
              <a:rPr lang="en-US" altLang="en-US" sz="1800">
                <a:latin typeface="Arial" panose="020B0604020202020204" pitchFamily="34" charset="0"/>
              </a:rPr>
              <a:t>External failure</a:t>
            </a:r>
          </a:p>
          <a:p>
            <a:pPr algn="ctr" eaLnBrk="1" hangingPunct="1">
              <a:spcBef>
                <a:spcPct val="0"/>
              </a:spcBef>
              <a:buSzPct val="50000"/>
              <a:buFont typeface="Monotype Sorts" pitchFamily="2" charset="2"/>
              <a:buNone/>
            </a:pPr>
            <a:r>
              <a:rPr lang="en-US" altLang="en-US" sz="1800">
                <a:latin typeface="Arial" panose="020B0604020202020204" pitchFamily="34" charset="0"/>
              </a:rPr>
              <a:t> costs</a:t>
            </a:r>
          </a:p>
        </p:txBody>
      </p:sp>
      <p:sp>
        <p:nvSpPr>
          <p:cNvPr id="11271" name="Rectangle 3">
            <a:extLst>
              <a:ext uri="{FF2B5EF4-FFF2-40B4-BE49-F238E27FC236}">
                <a16:creationId xmlns:a16="http://schemas.microsoft.com/office/drawing/2014/main" id="{B6C6A255-CEFF-85CE-74F0-59E36E5F5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971800"/>
            <a:ext cx="1981200" cy="6858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Pct val="50000"/>
              <a:buFont typeface="Monotype Sorts" pitchFamily="2" charset="2"/>
              <a:buNone/>
            </a:pPr>
            <a:r>
              <a:rPr lang="en-US" altLang="en-US" sz="1800">
                <a:solidFill>
                  <a:srgbClr val="FF9900"/>
                </a:solidFill>
                <a:latin typeface="Arial" panose="020B0604020202020204" pitchFamily="34" charset="0"/>
              </a:rPr>
              <a:t>  </a:t>
            </a:r>
            <a:endParaRPr lang="en-US" altLang="en-US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SzPct val="50000"/>
              <a:buFont typeface="Monotype Sorts" pitchFamily="2" charset="2"/>
              <a:buNone/>
            </a:pPr>
            <a:r>
              <a:rPr lang="en-US" altLang="en-US" sz="1800">
                <a:latin typeface="Arial" panose="020B0604020202020204" pitchFamily="34" charset="0"/>
              </a:rPr>
              <a:t>Prevention costs</a:t>
            </a:r>
          </a:p>
          <a:p>
            <a:pPr eaLnBrk="1" hangingPunct="1">
              <a:spcBef>
                <a:spcPct val="0"/>
              </a:spcBef>
              <a:buSzPct val="50000"/>
              <a:buFont typeface="Monotype Sorts" pitchFamily="2" charset="2"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272" name="Rectangle 4">
            <a:extLst>
              <a:ext uri="{FF2B5EF4-FFF2-40B4-BE49-F238E27FC236}">
                <a16:creationId xmlns:a16="http://schemas.microsoft.com/office/drawing/2014/main" id="{A2FF2E7F-661F-3674-2C35-0F124B5CA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2133600"/>
            <a:ext cx="3200400" cy="5334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Costs of non-conformance</a:t>
            </a:r>
          </a:p>
        </p:txBody>
      </p:sp>
      <p:sp>
        <p:nvSpPr>
          <p:cNvPr id="11273" name="Rectangle 8">
            <a:extLst>
              <a:ext uri="{FF2B5EF4-FFF2-40B4-BE49-F238E27FC236}">
                <a16:creationId xmlns:a16="http://schemas.microsoft.com/office/drawing/2014/main" id="{598E393E-1A6A-F5AF-0BE3-F8DD82DD6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1066800"/>
            <a:ext cx="2133600" cy="4572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Costs of Quality</a:t>
            </a:r>
          </a:p>
        </p:txBody>
      </p:sp>
      <p:sp>
        <p:nvSpPr>
          <p:cNvPr id="11274" name="Rectangle 9">
            <a:extLst>
              <a:ext uri="{FF2B5EF4-FFF2-40B4-BE49-F238E27FC236}">
                <a16:creationId xmlns:a16="http://schemas.microsoft.com/office/drawing/2014/main" id="{E5EF238B-DBDE-0C55-A6C5-167553484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133600"/>
            <a:ext cx="3048000" cy="5334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Costs of conformance</a:t>
            </a:r>
          </a:p>
        </p:txBody>
      </p:sp>
      <p:sp>
        <p:nvSpPr>
          <p:cNvPr id="11275" name="Line 10">
            <a:extLst>
              <a:ext uri="{FF2B5EF4-FFF2-40B4-BE49-F238E27FC236}">
                <a16:creationId xmlns:a16="http://schemas.microsoft.com/office/drawing/2014/main" id="{4CC08A6C-9E21-E339-3624-24FA4BD9113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1828800"/>
            <a:ext cx="457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6" name="Line 11">
            <a:extLst>
              <a:ext uri="{FF2B5EF4-FFF2-40B4-BE49-F238E27FC236}">
                <a16:creationId xmlns:a16="http://schemas.microsoft.com/office/drawing/2014/main" id="{C1976FDE-A293-06DF-0001-B7256359A6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1554163"/>
            <a:ext cx="0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7" name="Line 12">
            <a:extLst>
              <a:ext uri="{FF2B5EF4-FFF2-40B4-BE49-F238E27FC236}">
                <a16:creationId xmlns:a16="http://schemas.microsoft.com/office/drawing/2014/main" id="{8363F2CC-DDA7-4EC5-6520-2614EDA7678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1858963"/>
            <a:ext cx="0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8" name="Line 13">
            <a:extLst>
              <a:ext uri="{FF2B5EF4-FFF2-40B4-BE49-F238E27FC236}">
                <a16:creationId xmlns:a16="http://schemas.microsoft.com/office/drawing/2014/main" id="{8AB69D65-EFB5-71BC-4860-3D27C96CAFD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1858963"/>
            <a:ext cx="0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9" name="Line 14">
            <a:extLst>
              <a:ext uri="{FF2B5EF4-FFF2-40B4-BE49-F238E27FC236}">
                <a16:creationId xmlns:a16="http://schemas.microsoft.com/office/drawing/2014/main" id="{BE3FBBC0-E112-695E-473B-EBEBB5A4FC6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697163"/>
            <a:ext cx="0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0" name="Line 15">
            <a:extLst>
              <a:ext uri="{FF2B5EF4-FFF2-40B4-BE49-F238E27FC236}">
                <a16:creationId xmlns:a16="http://schemas.microsoft.com/office/drawing/2014/main" id="{B1CD1504-0971-A579-4BD2-BDAD5EB2BFD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697163"/>
            <a:ext cx="0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1" name="Rectangle 16">
            <a:extLst>
              <a:ext uri="{FF2B5EF4-FFF2-40B4-BE49-F238E27FC236}">
                <a16:creationId xmlns:a16="http://schemas.microsoft.com/office/drawing/2014/main" id="{5A51CF7F-C721-AA54-B7CE-81534CF09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2971800"/>
            <a:ext cx="1752600" cy="6858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Appraisal costs</a:t>
            </a:r>
          </a:p>
        </p:txBody>
      </p:sp>
      <p:sp>
        <p:nvSpPr>
          <p:cNvPr id="11282" name="Line 17">
            <a:extLst>
              <a:ext uri="{FF2B5EF4-FFF2-40B4-BE49-F238E27FC236}">
                <a16:creationId xmlns:a16="http://schemas.microsoft.com/office/drawing/2014/main" id="{E5E53489-3875-5316-CD12-46B118A4D6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697163"/>
            <a:ext cx="0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83" name="Rectangle 18">
            <a:extLst>
              <a:ext uri="{FF2B5EF4-FFF2-40B4-BE49-F238E27FC236}">
                <a16:creationId xmlns:a16="http://schemas.microsoft.com/office/drawing/2014/main" id="{65196EB9-0FED-A5CF-CF04-19B8E0017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2971800"/>
            <a:ext cx="1981200" cy="685800"/>
          </a:xfrm>
          <a:prstGeom prst="rect">
            <a:avLst/>
          </a:prstGeom>
          <a:solidFill>
            <a:srgbClr val="CC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Pct val="50000"/>
              <a:buFont typeface="Monotype Sorts" pitchFamily="2" charset="2"/>
              <a:buNone/>
            </a:pPr>
            <a:r>
              <a:rPr lang="en-US" altLang="en-US" sz="1800">
                <a:latin typeface="Arial" panose="020B0604020202020204" pitchFamily="34" charset="0"/>
              </a:rPr>
              <a:t>Internal failure </a:t>
            </a:r>
          </a:p>
          <a:p>
            <a:pPr algn="ctr" eaLnBrk="1" hangingPunct="1">
              <a:spcBef>
                <a:spcPct val="0"/>
              </a:spcBef>
              <a:buSzPct val="50000"/>
              <a:buFont typeface="Monotype Sorts" pitchFamily="2" charset="2"/>
              <a:buNone/>
            </a:pPr>
            <a:r>
              <a:rPr lang="en-US" altLang="en-US" sz="1800">
                <a:latin typeface="Arial" panose="020B0604020202020204" pitchFamily="34" charset="0"/>
              </a:rPr>
              <a:t>costs</a:t>
            </a:r>
          </a:p>
        </p:txBody>
      </p:sp>
      <p:sp>
        <p:nvSpPr>
          <p:cNvPr id="11284" name="Line 19">
            <a:extLst>
              <a:ext uri="{FF2B5EF4-FFF2-40B4-BE49-F238E27FC236}">
                <a16:creationId xmlns:a16="http://schemas.microsoft.com/office/drawing/2014/main" id="{FFEBB450-7EAA-ABFD-CC63-972AC98D992F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2697163"/>
            <a:ext cx="0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78075F6-464E-719C-CA40-09B7779E9ABD}"/>
              </a:ext>
            </a:extLst>
          </p:cNvPr>
          <p:cNvCxnSpPr/>
          <p:nvPr/>
        </p:nvCxnSpPr>
        <p:spPr>
          <a:xfrm rot="5400000">
            <a:off x="913607" y="3810794"/>
            <a:ext cx="3048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5E47E65-4AC1-C1B8-0286-5358CE94470F}"/>
              </a:ext>
            </a:extLst>
          </p:cNvPr>
          <p:cNvCxnSpPr/>
          <p:nvPr/>
        </p:nvCxnSpPr>
        <p:spPr>
          <a:xfrm rot="5400000">
            <a:off x="3123407" y="3809206"/>
            <a:ext cx="304800" cy="15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068A682-A025-FCEF-84B9-471EEBFC96B3}"/>
              </a:ext>
            </a:extLst>
          </p:cNvPr>
          <p:cNvCxnSpPr/>
          <p:nvPr/>
        </p:nvCxnSpPr>
        <p:spPr>
          <a:xfrm rot="5400000">
            <a:off x="5334794" y="3809206"/>
            <a:ext cx="304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7324A06-085A-13A6-CC49-1B03334E8E06}"/>
              </a:ext>
            </a:extLst>
          </p:cNvPr>
          <p:cNvCxnSpPr/>
          <p:nvPr/>
        </p:nvCxnSpPr>
        <p:spPr>
          <a:xfrm rot="5400000">
            <a:off x="7696994" y="3809206"/>
            <a:ext cx="304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89" name="Text Box 2">
            <a:extLst>
              <a:ext uri="{FF2B5EF4-FFF2-40B4-BE49-F238E27FC236}">
                <a16:creationId xmlns:a16="http://schemas.microsoft.com/office/drawing/2014/main" id="{D74EDCA1-A3E0-F3C4-DE81-490F66249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23838"/>
            <a:ext cx="3962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C00000"/>
                </a:solidFill>
                <a:latin typeface="Arial" panose="020B0604020202020204" pitchFamily="34" charset="0"/>
              </a:rPr>
              <a:t>Costs of Quality Category</a:t>
            </a:r>
            <a:endParaRPr lang="en-US" altLang="en-US" sz="240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394228"/>
          </a:xfrm>
        </p:spPr>
        <p:txBody>
          <a:bodyPr/>
          <a:lstStyle/>
          <a:p>
            <a:r>
              <a:rPr lang="en-US" sz="3600" dirty="0">
                <a:latin typeface="+mj-lt"/>
              </a:rPr>
              <a:t>Costs of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85800"/>
            <a:ext cx="8686800" cy="4343400"/>
          </a:xfrm>
        </p:spPr>
        <p:txBody>
          <a:bodyPr/>
          <a:lstStyle/>
          <a:p>
            <a:pPr marL="255600" indent="-255600" algn="just">
              <a:spcBef>
                <a:spcPts val="500"/>
              </a:spcBef>
            </a:pPr>
            <a:r>
              <a:rPr lang="en-US" sz="2000" b="1" dirty="0"/>
              <a:t>Prevention costs</a:t>
            </a:r>
          </a:p>
          <a:p>
            <a:pPr marL="742518" lvl="1" indent="-255600" algn="just">
              <a:spcBef>
                <a:spcPts val="500"/>
              </a:spcBef>
            </a:pPr>
            <a:r>
              <a:rPr lang="en-US" sz="2000" dirty="0"/>
              <a:t>Costs associated with preventing defects before they happen [All TQ training, TQ planning, customer assessment, process control, and quality improvement costs to prevent defects from occurring]</a:t>
            </a:r>
          </a:p>
          <a:p>
            <a:pPr marL="255600" indent="-255600" algn="just"/>
            <a:r>
              <a:rPr lang="en-US" sz="2000" b="1" dirty="0"/>
              <a:t>Appraisal costs</a:t>
            </a:r>
          </a:p>
          <a:p>
            <a:pPr marL="742518" lvl="1" indent="-255600" algn="just"/>
            <a:r>
              <a:rPr lang="en-US" sz="2000" dirty="0"/>
              <a:t>Costs incurred when the firm assesses the performance level of its processes [raw material check, quality audit, supplier rating, checking final product]</a:t>
            </a:r>
          </a:p>
          <a:p>
            <a:pPr marL="255600" indent="-255600" algn="just"/>
            <a:r>
              <a:rPr lang="en-US" sz="2000" b="1" dirty="0"/>
              <a:t>Internal Failure costs</a:t>
            </a:r>
          </a:p>
          <a:p>
            <a:pPr marL="742518" lvl="1" indent="-255600" algn="just"/>
            <a:r>
              <a:rPr lang="en-US" sz="2000" dirty="0"/>
              <a:t>Costs resulting from defects that are discovered during the production of a service or product [defect products and associated raw material cost, overhead, labor cost]</a:t>
            </a:r>
          </a:p>
          <a:p>
            <a:pPr marL="255600" indent="-255600" algn="just"/>
            <a:r>
              <a:rPr lang="en-US" sz="2000" b="1" dirty="0"/>
              <a:t>External Failure costs</a:t>
            </a:r>
          </a:p>
          <a:p>
            <a:pPr marL="742518" lvl="1" indent="-255600" algn="just"/>
            <a:r>
              <a:rPr lang="en-US" sz="2000" dirty="0"/>
              <a:t>Costs that arise when a defect is discovered after the customer receives the service or product [refurbishing, retaking item, logistics]</a:t>
            </a:r>
          </a:p>
        </p:txBody>
      </p:sp>
    </p:spTree>
    <p:extLst>
      <p:ext uri="{BB962C8B-B14F-4D97-AF65-F5344CB8AC3E}">
        <p14:creationId xmlns:p14="http://schemas.microsoft.com/office/powerpoint/2010/main" val="847718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5D502-DD2A-1F82-137E-4560E94A6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Myth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6101D-1E83-EAA3-F37A-0158FFA02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85800"/>
          </a:xfrm>
        </p:spPr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High quality, High cost (Not true)</a:t>
            </a:r>
          </a:p>
          <a:p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B63BBF4-80E3-8DE5-82CA-705116D29213}"/>
              </a:ext>
            </a:extLst>
          </p:cNvPr>
          <p:cNvSpPr/>
          <p:nvPr/>
        </p:nvSpPr>
        <p:spPr>
          <a:xfrm>
            <a:off x="1714499" y="2492551"/>
            <a:ext cx="2133600" cy="1600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High Quality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1405D3A-0C0A-4147-7CED-D99F3A6558AE}"/>
              </a:ext>
            </a:extLst>
          </p:cNvPr>
          <p:cNvSpPr/>
          <p:nvPr/>
        </p:nvSpPr>
        <p:spPr>
          <a:xfrm>
            <a:off x="5029202" y="2522621"/>
            <a:ext cx="2133600" cy="1600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Low Quality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630268-7854-E06D-4A94-773122188652}"/>
              </a:ext>
            </a:extLst>
          </p:cNvPr>
          <p:cNvSpPr txBox="1"/>
          <p:nvPr/>
        </p:nvSpPr>
        <p:spPr>
          <a:xfrm>
            <a:off x="2892595" y="4427618"/>
            <a:ext cx="2895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 Preventive Cost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Internal failure cost</a:t>
            </a:r>
          </a:p>
          <a:p>
            <a:pPr algn="ctr"/>
            <a:r>
              <a:rPr lang="en-US" sz="2000" b="1" dirty="0"/>
              <a:t>External failure cost</a:t>
            </a:r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19A9D348-0330-D4DF-DEDB-4AD1C61BF423}"/>
              </a:ext>
            </a:extLst>
          </p:cNvPr>
          <p:cNvSpPr/>
          <p:nvPr/>
        </p:nvSpPr>
        <p:spPr>
          <a:xfrm>
            <a:off x="2514600" y="4319335"/>
            <a:ext cx="533400" cy="505329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854323AD-DD39-9135-8D9D-59689CCD50DE}"/>
              </a:ext>
            </a:extLst>
          </p:cNvPr>
          <p:cNvSpPr/>
          <p:nvPr/>
        </p:nvSpPr>
        <p:spPr>
          <a:xfrm>
            <a:off x="5829302" y="5001127"/>
            <a:ext cx="533400" cy="749930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E6C4FA4-9217-AA22-53D6-5734D6F0F6A0}"/>
              </a:ext>
            </a:extLst>
          </p:cNvPr>
          <p:cNvSpPr/>
          <p:nvPr/>
        </p:nvSpPr>
        <p:spPr>
          <a:xfrm>
            <a:off x="2550694" y="5189619"/>
            <a:ext cx="461211" cy="549423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B2C87CA8-B97B-2A8E-0DBB-0A5D17E36BE6}"/>
              </a:ext>
            </a:extLst>
          </p:cNvPr>
          <p:cNvSpPr/>
          <p:nvPr/>
        </p:nvSpPr>
        <p:spPr>
          <a:xfrm>
            <a:off x="5466355" y="4407588"/>
            <a:ext cx="461211" cy="549423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2965344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3DCAC-3C0B-AB49-CDB5-280F0B26C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470428"/>
          </a:xfrm>
        </p:spPr>
        <p:txBody>
          <a:bodyPr/>
          <a:lstStyle/>
          <a:p>
            <a:r>
              <a:rPr lang="en-US" dirty="0"/>
              <a:t>An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4E524B-2F4E-3859-0A15-A01F737E78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838200"/>
            <a:ext cx="6629400" cy="3128036"/>
          </a:xfrm>
        </p:spPr>
      </p:pic>
      <p:pic>
        <p:nvPicPr>
          <p:cNvPr id="7" name="Picture 6" descr="A group of robots working on a car&#10;&#10;Description automatically generated">
            <a:extLst>
              <a:ext uri="{FF2B5EF4-FFF2-40B4-BE49-F238E27FC236}">
                <a16:creationId xmlns:a16="http://schemas.microsoft.com/office/drawing/2014/main" id="{48F63E34-2E26-6401-C413-C533496EF2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09600" y="4036643"/>
            <a:ext cx="3213338" cy="1807867"/>
          </a:xfrm>
          <a:prstGeom prst="rect">
            <a:avLst/>
          </a:prstGeom>
        </p:spPr>
      </p:pic>
      <p:pic>
        <p:nvPicPr>
          <p:cNvPr id="9" name="Picture 8" descr="A car assembly line in a factory&#10;&#10;Description automatically generated">
            <a:extLst>
              <a:ext uri="{FF2B5EF4-FFF2-40B4-BE49-F238E27FC236}">
                <a16:creationId xmlns:a16="http://schemas.microsoft.com/office/drawing/2014/main" id="{A0A7CE4E-F028-7C5C-C985-630366B227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137531" y="4036643"/>
            <a:ext cx="4264800" cy="159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526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BD8F05-F8C1-E055-06DF-8798C8AB35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41731" y="3733800"/>
            <a:ext cx="4949869" cy="223709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D5728B-99C4-FC9F-4592-09C02A130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253091"/>
            <a:ext cx="4648200" cy="21759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478967-07CB-D894-56CB-FA2A8B3AEB1D}"/>
              </a:ext>
            </a:extLst>
          </p:cNvPr>
          <p:cNvSpPr txBox="1"/>
          <p:nvPr/>
        </p:nvSpPr>
        <p:spPr>
          <a:xfrm>
            <a:off x="533400" y="205847"/>
            <a:ext cx="8458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Study showed that the </a:t>
            </a:r>
            <a:r>
              <a:rPr lang="en-US" b="1" dirty="0">
                <a:solidFill>
                  <a:srgbClr val="FF0000"/>
                </a:solidFill>
              </a:rPr>
              <a:t>cost of good quality is 22 ~ 50 times lower than cost of poor quality</a:t>
            </a:r>
            <a:r>
              <a:rPr lang="en-US" b="1" dirty="0">
                <a:solidFill>
                  <a:srgbClr val="000000"/>
                </a:solidFill>
              </a:rPr>
              <a:t> and this comparative ratio is derived and may be used as rule of thumb.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E0670B-430C-83BF-C82F-E403089C8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220181"/>
            <a:ext cx="4114800" cy="22417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021E67E-6692-A99C-CF95-952D46E2E3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944" y="3691366"/>
            <a:ext cx="3652837" cy="223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135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F320594D-C96D-36F0-8792-24B7D6393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688" y="1066800"/>
            <a:ext cx="7504112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Rectangle 4">
            <a:extLst>
              <a:ext uri="{FF2B5EF4-FFF2-40B4-BE49-F238E27FC236}">
                <a16:creationId xmlns:a16="http://schemas.microsoft.com/office/drawing/2014/main" id="{4A849308-962F-2FCB-299E-AE4A6D6A0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096000"/>
            <a:ext cx="23383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669900"/>
                </a:solidFill>
                <a:latin typeface="Tahoma" panose="020B0604030504040204" pitchFamily="34" charset="0"/>
                <a:cs typeface="Times New Roman" panose="02020603050405020304" pitchFamily="18" charset="0"/>
              </a:rPr>
              <a:t>Cost of quality model</a:t>
            </a:r>
            <a:endParaRPr lang="en-US" altLang="en-US" sz="1800">
              <a:solidFill>
                <a:srgbClr val="669900"/>
              </a:solidFill>
              <a:latin typeface="Tahoma" panose="020B0604030504040204" pitchFamily="34" charset="0"/>
            </a:endParaRPr>
          </a:p>
        </p:txBody>
      </p:sp>
      <p:sp>
        <p:nvSpPr>
          <p:cNvPr id="12292" name="Rectangle 5">
            <a:extLst>
              <a:ext uri="{FF2B5EF4-FFF2-40B4-BE49-F238E27FC236}">
                <a16:creationId xmlns:a16="http://schemas.microsoft.com/office/drawing/2014/main" id="{66FA71AE-59C9-A4E4-60F3-2DEB48BE9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763" y="147638"/>
            <a:ext cx="44656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C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Key Aspects of Quality Costs</a:t>
            </a:r>
            <a:endParaRPr lang="en-US" altLang="en-US" sz="2400">
              <a:solidFill>
                <a:srgbClr val="C00000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B8C1-4DE9-6023-D4C2-896257D67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470428"/>
          </a:xfrm>
        </p:spPr>
        <p:txBody>
          <a:bodyPr/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ElsevierGulliver"/>
              </a:rPr>
              <a:t>Lundvall-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ElsevierGulliver"/>
              </a:rPr>
              <a:t>juran</a:t>
            </a:r>
            <a:r>
              <a:rPr lang="en-US" b="0" i="0" dirty="0">
                <a:solidFill>
                  <a:srgbClr val="1F1F1F"/>
                </a:solidFill>
                <a:effectLst/>
                <a:latin typeface="ElsevierGulliver"/>
              </a:rPr>
              <a:t> curve 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5583E9-2821-BA3F-974D-E62CCB102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590" y="1828800"/>
            <a:ext cx="7572823" cy="403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509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168" y="-18567"/>
            <a:ext cx="7391400" cy="1097280"/>
          </a:xfrm>
        </p:spPr>
        <p:txBody>
          <a:bodyPr/>
          <a:lstStyle/>
          <a:p>
            <a:r>
              <a:rPr lang="en-US" sz="3600" dirty="0">
                <a:latin typeface="+mj-lt"/>
              </a:rPr>
              <a:t>Total Quality Management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153400" cy="3810000"/>
          </a:xfrm>
        </p:spPr>
        <p:txBody>
          <a:bodyPr/>
          <a:lstStyle/>
          <a:p>
            <a:pPr marL="255600" indent="-255600" algn="just"/>
            <a:r>
              <a:rPr lang="en-US" sz="2400" dirty="0"/>
              <a:t>Total Quality Management</a:t>
            </a:r>
          </a:p>
          <a:p>
            <a:pPr marL="742518" lvl="1" indent="-255600" algn="just"/>
            <a:r>
              <a:rPr lang="en-US" sz="2000" dirty="0"/>
              <a:t>A philosophy that stresses three principles (customer satisfaction, employee involvement and continuous improvement) for achieving high level of process performance and quality</a:t>
            </a:r>
          </a:p>
        </p:txBody>
      </p:sp>
      <p:pic>
        <p:nvPicPr>
          <p:cNvPr id="4" name="Picture 3" descr="A model for total quality management has three levels represented by concentric circles listed from the center outward. Level 1: customer satisfaction. Level 2: continuous improvement and employee involvement. Level 3: process design, purchasing, benchmarking, problem-solving tools, and service or product design.">
            <a:extLst>
              <a:ext uri="{FF2B5EF4-FFF2-40B4-BE49-F238E27FC236}">
                <a16:creationId xmlns:a16="http://schemas.microsoft.com/office/drawing/2014/main" id="{8107E88B-95AD-F964-C9B8-CD7E56B7EF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8404" y="2971800"/>
            <a:ext cx="3484927" cy="3490523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5ED4D33-05A1-988D-5455-B13009275AE2}"/>
              </a:ext>
            </a:extLst>
          </p:cNvPr>
          <p:cNvSpPr txBox="1">
            <a:spLocks/>
          </p:cNvSpPr>
          <p:nvPr/>
        </p:nvSpPr>
        <p:spPr>
          <a:xfrm>
            <a:off x="5761066" y="5626887"/>
            <a:ext cx="2971800" cy="3349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6032" indent="-256032" algn="l" defTabSz="914400" rtl="0" eaLnBrk="1" latinLnBrk="0" hangingPunct="1">
              <a:spcBef>
                <a:spcPts val="1500"/>
              </a:spcBef>
              <a:buClr>
                <a:srgbClr val="007FA3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ts val="600"/>
              </a:spcBef>
              <a:buClr>
                <a:srgbClr val="007FA3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ts val="600"/>
              </a:spcBef>
              <a:buClr>
                <a:srgbClr val="007FA3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ts val="600"/>
              </a:spcBef>
              <a:buClr>
                <a:srgbClr val="007FA3"/>
              </a:buClr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ts val="600"/>
              </a:spcBef>
              <a:buClr>
                <a:srgbClr val="007FA3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ts val="300"/>
              </a:spcBef>
              <a:buClr>
                <a:srgbClr val="007FA3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ts val="300"/>
              </a:spcBef>
              <a:buClr>
                <a:srgbClr val="007FA3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ts val="300"/>
              </a:spcBef>
              <a:buClr>
                <a:srgbClr val="007FA3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ts val="300"/>
              </a:spcBef>
              <a:buClr>
                <a:srgbClr val="007FA3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b="1" dirty="0"/>
              <a:t>Figure </a:t>
            </a:r>
            <a:r>
              <a:rPr lang="en-US" sz="2200" dirty="0"/>
              <a:t>TQM Wheel</a:t>
            </a:r>
          </a:p>
        </p:txBody>
      </p:sp>
    </p:spTree>
    <p:extLst>
      <p:ext uri="{BB962C8B-B14F-4D97-AF65-F5344CB8AC3E}">
        <p14:creationId xmlns:p14="http://schemas.microsoft.com/office/powerpoint/2010/main" val="1905757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CDB38-6E14-3A34-521B-32119E5C2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/>
          <a:lstStyle/>
          <a:p>
            <a:r>
              <a:rPr lang="en-US" dirty="0"/>
              <a:t>7 Basic QC tools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221EF23-AAD0-4BC7-C7D8-EFBCB3865D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1257300"/>
            <a:ext cx="8592472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971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A66CE-E93F-DE15-BF78-4DB4B3CB3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516465"/>
          </a:xfrm>
        </p:spPr>
        <p:txBody>
          <a:bodyPr/>
          <a:lstStyle/>
          <a:p>
            <a:r>
              <a:rPr lang="en-US" dirty="0"/>
              <a:t>Pareto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DE43C-3E92-1BDF-F79E-7E77F095D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7086600" cy="4983163"/>
          </a:xfrm>
        </p:spPr>
        <p:txBody>
          <a:bodyPr/>
          <a:lstStyle/>
          <a:p>
            <a:r>
              <a:rPr lang="en-US" sz="2400" b="1" dirty="0"/>
              <a:t>Vital few-Trivial many</a:t>
            </a:r>
          </a:p>
          <a:p>
            <a:r>
              <a:rPr lang="en-US" sz="2400" b="1" dirty="0"/>
              <a:t>ABC analysis</a:t>
            </a:r>
          </a:p>
          <a:p>
            <a:r>
              <a:rPr lang="en-US" sz="2400" b="1" dirty="0"/>
              <a:t>80-20 rule</a:t>
            </a:r>
          </a:p>
          <a:p>
            <a:r>
              <a:rPr lang="en-US" sz="2800" b="0" i="0" dirty="0">
                <a:solidFill>
                  <a:srgbClr val="040C28"/>
                </a:solidFill>
                <a:effectLst/>
                <a:latin typeface="Google Sans"/>
              </a:rPr>
              <a:t>Vilfredo Pareto</a:t>
            </a:r>
            <a:r>
              <a:rPr lang="en-US" sz="2800" b="0" i="0" dirty="0">
                <a:solidFill>
                  <a:srgbClr val="1F1F1F"/>
                </a:solidFill>
                <a:effectLst/>
                <a:latin typeface="Google Sans"/>
              </a:rPr>
              <a:t>, (born July 15, 1848, Paris, France—died August 19, 1923, Geneva, Switzerland), Italian economist and sociologist</a:t>
            </a:r>
          </a:p>
          <a:p>
            <a:r>
              <a:rPr lang="en-US" sz="2800" dirty="0">
                <a:solidFill>
                  <a:srgbClr val="1F1F1F"/>
                </a:solidFill>
                <a:latin typeface="Google Sans"/>
              </a:rPr>
              <a:t>80% wealth belong to less than 20% people</a:t>
            </a:r>
            <a:endParaRPr lang="en-US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6D7F53-1234-EED1-A032-A0D6673CF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760412"/>
            <a:ext cx="1600200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253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1891D1C9-190C-1020-6B03-92A92BA08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86"/>
          <a:stretch>
            <a:fillRect/>
          </a:stretch>
        </p:blipFill>
        <p:spPr bwMode="auto">
          <a:xfrm>
            <a:off x="990600" y="914400"/>
            <a:ext cx="7126288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TextBox 3">
            <a:extLst>
              <a:ext uri="{FF2B5EF4-FFF2-40B4-BE49-F238E27FC236}">
                <a16:creationId xmlns:a16="http://schemas.microsoft.com/office/drawing/2014/main" id="{91620B80-A4C4-2038-033D-7D9DC60C2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5562600"/>
            <a:ext cx="27066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>
                <a:solidFill>
                  <a:srgbClr val="008000"/>
                </a:solidFill>
              </a:rPr>
              <a:t>Pareto Chart Example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792" name="Group 88">
            <a:extLst>
              <a:ext uri="{FF2B5EF4-FFF2-40B4-BE49-F238E27FC236}">
                <a16:creationId xmlns:a16="http://schemas.microsoft.com/office/drawing/2014/main" id="{715BCAD5-9CC3-2EFD-BC53-0CFE65C2F7FA}"/>
              </a:ext>
            </a:extLst>
          </p:cNvPr>
          <p:cNvGraphicFramePr>
            <a:graphicFrameLocks noGrp="1"/>
          </p:cNvGraphicFramePr>
          <p:nvPr/>
        </p:nvGraphicFramePr>
        <p:xfrm>
          <a:off x="1752600" y="1981200"/>
          <a:ext cx="4006850" cy="3170240"/>
        </p:xfrm>
        <a:graphic>
          <a:graphicData uri="http://schemas.openxmlformats.org/drawingml/2006/table">
            <a:tbl>
              <a:tblPr/>
              <a:tblGrid>
                <a:gridCol w="230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Category 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Frequency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Wrong medicine </a:t>
                      </a: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Medicine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dc'd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Wrong dose </a:t>
                      </a: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Wrong patient </a:t>
                      </a: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Wrong time</a:t>
                      </a: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Missed dose</a:t>
                      </a: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Grand Total</a:t>
                      </a: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200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283" name="Rectangle 86">
            <a:extLst>
              <a:ext uri="{FF2B5EF4-FFF2-40B4-BE49-F238E27FC236}">
                <a16:creationId xmlns:a16="http://schemas.microsoft.com/office/drawing/2014/main" id="{1C925699-2B37-C890-CDA5-0AA44B879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047750"/>
            <a:ext cx="7772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/>
              <a:t>Construct a Pareto diagram from the data given in the table below. </a:t>
            </a:r>
          </a:p>
        </p:txBody>
      </p:sp>
      <p:sp>
        <p:nvSpPr>
          <p:cNvPr id="11284" name="TextBox 4">
            <a:extLst>
              <a:ext uri="{FF2B5EF4-FFF2-40B4-BE49-F238E27FC236}">
                <a16:creationId xmlns:a16="http://schemas.microsoft.com/office/drawing/2014/main" id="{F2A31BF0-26C3-B5C7-1ED2-B3B2D4F6E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28600"/>
            <a:ext cx="17081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400" b="1">
                <a:solidFill>
                  <a:srgbClr val="C00000"/>
                </a:solidFill>
              </a:rPr>
              <a:t>Example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88">
            <a:extLst>
              <a:ext uri="{FF2B5EF4-FFF2-40B4-BE49-F238E27FC236}">
                <a16:creationId xmlns:a16="http://schemas.microsoft.com/office/drawing/2014/main" id="{D2AB2F55-6D00-87BC-A07D-2E986836FE99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1752600"/>
          <a:ext cx="8458200" cy="3170240"/>
        </p:xfrm>
        <a:graphic>
          <a:graphicData uri="http://schemas.openxmlformats.org/drawingml/2006/table">
            <a:tbl>
              <a:tblPr/>
              <a:tblGrid>
                <a:gridCol w="230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17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96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Category 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Frequency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Percent of total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Cumulative % 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T="45725" marB="45725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Wrong dose </a:t>
                      </a: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Wrong time</a:t>
                      </a: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35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85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Wrong medicine </a:t>
                      </a: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7.5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92.5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Wrong patient </a:t>
                      </a: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96.5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Medicine dc'd</a:t>
                      </a: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98.5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Missed dose</a:t>
                      </a: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1.5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Grand Total</a:t>
                      </a:r>
                    </a:p>
                  </a:txBody>
                  <a:tcPr marT="45725" marB="45725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200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100%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100%</a:t>
                      </a:r>
                    </a:p>
                  </a:txBody>
                  <a:tcPr marT="45725" marB="45725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4" descr="pareto">
            <a:extLst>
              <a:ext uri="{FF2B5EF4-FFF2-40B4-BE49-F238E27FC236}">
                <a16:creationId xmlns:a16="http://schemas.microsoft.com/office/drawing/2014/main" id="{278105EC-DA74-7062-D284-BDDF37CA9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838200"/>
            <a:ext cx="7848600" cy="508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C374D-2C2D-C0D1-5F85-0D750B120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622828"/>
          </a:xfrm>
        </p:spPr>
        <p:txBody>
          <a:bodyPr/>
          <a:lstStyle/>
          <a:p>
            <a:r>
              <a:rPr lang="en-US" dirty="0"/>
              <a:t>Cause effect diagram </a:t>
            </a:r>
            <a:br>
              <a:rPr lang="en-US" dirty="0"/>
            </a:br>
            <a:r>
              <a:rPr lang="en-US" dirty="0"/>
              <a:t>(Ishikawa diagram/ Fish-bone diagram)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50EBE55-4348-5AC9-65B1-DFF189A55C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922" y="1600200"/>
            <a:ext cx="8046156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9814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5A2C5-3978-3E32-A3D6-112DA65B3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fishbone diagram for road crash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E4407D-41AA-116B-60C3-9CD46D9AC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83" y="2125266"/>
            <a:ext cx="7842746" cy="374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007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713AD-1600-C167-38D3-C852F2B1F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fishbone diagram for a particular defect (Nugget form) in a product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360459-022B-ECC7-15B0-A84680F8A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71" y="1905000"/>
            <a:ext cx="7296129" cy="40338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2BDCFB-6177-AA01-DED0-3CD5E430921C}"/>
              </a:ext>
            </a:extLst>
          </p:cNvPr>
          <p:cNvSpPr/>
          <p:nvPr/>
        </p:nvSpPr>
        <p:spPr>
          <a:xfrm>
            <a:off x="6966285" y="2125266"/>
            <a:ext cx="881689" cy="4765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544054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BF39-9327-B30E-D39E-BB33D0252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fishbone diagram for traffic jam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DDA234-AEE0-9A05-D858-A1C8F157F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905000"/>
            <a:ext cx="8339258" cy="374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26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CD615-7459-9865-1739-F653C2EA2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1046873"/>
            <a:ext cx="8515350" cy="994172"/>
          </a:xfrm>
        </p:spPr>
        <p:txBody>
          <a:bodyPr/>
          <a:lstStyle/>
          <a:p>
            <a:r>
              <a:rPr lang="en-US" dirty="0"/>
              <a:t>Example of fishbone diagram for traffic problem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387D72-BD33-0A27-75C9-9B045878B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24" y="2041045"/>
            <a:ext cx="8429525" cy="3484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1211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>
            <a:extLst>
              <a:ext uri="{FF2B5EF4-FFF2-40B4-BE49-F238E27FC236}">
                <a16:creationId xmlns:a16="http://schemas.microsoft.com/office/drawing/2014/main" id="{1AE3682C-226D-A580-F68B-74FE97C90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1763" y="28003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40963" name="Picture 11">
            <a:extLst>
              <a:ext uri="{FF2B5EF4-FFF2-40B4-BE49-F238E27FC236}">
                <a16:creationId xmlns:a16="http://schemas.microsoft.com/office/drawing/2014/main" id="{DB497CA2-1086-6FF8-36B3-B49122909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0"/>
            <a:ext cx="8201025" cy="384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D2211E-9029-973D-C7AC-BCE19CA75E2A}"/>
              </a:ext>
            </a:extLst>
          </p:cNvPr>
          <p:cNvSpPr txBox="1"/>
          <p:nvPr/>
        </p:nvSpPr>
        <p:spPr>
          <a:xfrm>
            <a:off x="990600" y="228600"/>
            <a:ext cx="655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Control Chart Example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>
            <a:extLst>
              <a:ext uri="{FF2B5EF4-FFF2-40B4-BE49-F238E27FC236}">
                <a16:creationId xmlns:a16="http://schemas.microsoft.com/office/drawing/2014/main" id="{623358B6-9FBB-0763-FB34-6F6931D77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243888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7" name="Rectangle 3">
            <a:extLst>
              <a:ext uri="{FF2B5EF4-FFF2-40B4-BE49-F238E27FC236}">
                <a16:creationId xmlns:a16="http://schemas.microsoft.com/office/drawing/2014/main" id="{A0540F12-497F-90C4-1CFD-0FC852DBB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304800"/>
            <a:ext cx="7086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Conditions for a Process To be Out of Control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>
            <a:extLst>
              <a:ext uri="{FF2B5EF4-FFF2-40B4-BE49-F238E27FC236}">
                <a16:creationId xmlns:a16="http://schemas.microsoft.com/office/drawing/2014/main" id="{F637019B-2192-3C81-FD50-105CDD4A5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8" y="1500188"/>
            <a:ext cx="8482012" cy="375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>
            <a:extLst>
              <a:ext uri="{FF2B5EF4-FFF2-40B4-BE49-F238E27FC236}">
                <a16:creationId xmlns:a16="http://schemas.microsoft.com/office/drawing/2014/main" id="{AB91CC16-7405-32E1-7A2B-868C7ACE8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" y="1295400"/>
            <a:ext cx="8524875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 descr="Image20">
            <a:extLst>
              <a:ext uri="{FF2B5EF4-FFF2-40B4-BE49-F238E27FC236}">
                <a16:creationId xmlns:a16="http://schemas.microsoft.com/office/drawing/2014/main" id="{BDEA64E7-0FCE-140C-BA1C-EC90330C7B98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209800"/>
            <a:ext cx="4389438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59" name="Rectangle 3">
            <a:extLst>
              <a:ext uri="{FF2B5EF4-FFF2-40B4-BE49-F238E27FC236}">
                <a16:creationId xmlns:a16="http://schemas.microsoft.com/office/drawing/2014/main" id="{A6E4DF8D-1793-90F0-7FFA-B855F84F3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257800"/>
            <a:ext cx="2667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Oscillatory Trend</a:t>
            </a:r>
          </a:p>
        </p:txBody>
      </p:sp>
      <p:pic>
        <p:nvPicPr>
          <p:cNvPr id="45060" name="Picture 4" descr="Image19">
            <a:extLst>
              <a:ext uri="{FF2B5EF4-FFF2-40B4-BE49-F238E27FC236}">
                <a16:creationId xmlns:a16="http://schemas.microsoft.com/office/drawing/2014/main" id="{65A213F1-6AB9-0F33-AD4C-50A3EC1BFD1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09800"/>
            <a:ext cx="4389438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1" name="Rectangle 5">
            <a:extLst>
              <a:ext uri="{FF2B5EF4-FFF2-40B4-BE49-F238E27FC236}">
                <a16:creationId xmlns:a16="http://schemas.microsoft.com/office/drawing/2014/main" id="{6642E70C-E7F7-5971-4477-FE11A7E7E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257800"/>
            <a:ext cx="1752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Linear Trends</a:t>
            </a:r>
          </a:p>
        </p:txBody>
      </p:sp>
      <p:sp>
        <p:nvSpPr>
          <p:cNvPr id="45062" name="Rectangle 6">
            <a:extLst>
              <a:ext uri="{FF2B5EF4-FFF2-40B4-BE49-F238E27FC236}">
                <a16:creationId xmlns:a16="http://schemas.microsoft.com/office/drawing/2014/main" id="{8BAD3DE1-9837-91F9-988E-FEA969F3E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76350"/>
            <a:ext cx="41941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Trends or Steady Changes in Level</a:t>
            </a:r>
          </a:p>
        </p:txBody>
      </p:sp>
      <p:sp>
        <p:nvSpPr>
          <p:cNvPr id="45063" name="TextBox 7">
            <a:extLst>
              <a:ext uri="{FF2B5EF4-FFF2-40B4-BE49-F238E27FC236}">
                <a16:creationId xmlns:a16="http://schemas.microsoft.com/office/drawing/2014/main" id="{F3F19895-9145-FF52-BED3-937176C5D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304800"/>
            <a:ext cx="38433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Patterns in Control Chart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508 Lecture">
  <a:themeElements>
    <a:clrScheme name="Custom 7">
      <a:dk1>
        <a:sysClr val="windowText" lastClr="000000"/>
      </a:dk1>
      <a:lt1>
        <a:sysClr val="window" lastClr="FFFFFF"/>
      </a:lt1>
      <a:dk2>
        <a:srgbClr val="000000"/>
      </a:dk2>
      <a:lt2>
        <a:srgbClr val="007FA3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eme_TQ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30A8883D509741AAD9698FAF47E5F3" ma:contentTypeVersion="3" ma:contentTypeDescription="Create a new document." ma:contentTypeScope="" ma:versionID="ff89cdacd3a61eed31ca6cf071b8b226">
  <xsd:schema xmlns:xsd="http://www.w3.org/2001/XMLSchema" xmlns:xs="http://www.w3.org/2001/XMLSchema" xmlns:p="http://schemas.microsoft.com/office/2006/metadata/properties" xmlns:ns2="9c9eb58d-2f4c-499b-ab9c-47c1d5de8bf8" targetNamespace="http://schemas.microsoft.com/office/2006/metadata/properties" ma:root="true" ma:fieldsID="c7d838d636f2945413649be92e4efa58" ns2:_="">
    <xsd:import namespace="9c9eb58d-2f4c-499b-ab9c-47c1d5de8bf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9eb58d-2f4c-499b-ab9c-47c1d5de8b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EDD3FDD-CCEB-4B53-A67D-EB0BAE51F22F}"/>
</file>

<file path=customXml/itemProps2.xml><?xml version="1.0" encoding="utf-8"?>
<ds:datastoreItem xmlns:ds="http://schemas.openxmlformats.org/officeDocument/2006/customXml" ds:itemID="{C5F1D1DC-7CB0-49A7-893E-76005C14701D}"/>
</file>

<file path=customXml/itemProps3.xml><?xml version="1.0" encoding="utf-8"?>
<ds:datastoreItem xmlns:ds="http://schemas.openxmlformats.org/officeDocument/2006/customXml" ds:itemID="{F9C3024E-0F1A-4554-8F58-9850699E354A}"/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8862</TotalTime>
  <Words>1022</Words>
  <Application>Microsoft Office PowerPoint</Application>
  <PresentationFormat>On-screen Show (4:3)</PresentationFormat>
  <Paragraphs>182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29</vt:i4>
      </vt:variant>
    </vt:vector>
  </HeadingPairs>
  <TitlesOfParts>
    <vt:vector size="45" baseType="lpstr">
      <vt:lpstr>Algerian</vt:lpstr>
      <vt:lpstr>-apple-system</vt:lpstr>
      <vt:lpstr>Arial</vt:lpstr>
      <vt:lpstr>Calibri</vt:lpstr>
      <vt:lpstr>Calibri Light</vt:lpstr>
      <vt:lpstr>ElsevierGulliver</vt:lpstr>
      <vt:lpstr>Google Sans</vt:lpstr>
      <vt:lpstr>Monotype Sorts</vt:lpstr>
      <vt:lpstr>Tahoma</vt:lpstr>
      <vt:lpstr>Times New Roman</vt:lpstr>
      <vt:lpstr>Verdana</vt:lpstr>
      <vt:lpstr>Wingdings</vt:lpstr>
      <vt:lpstr>508 Lecture</vt:lpstr>
      <vt:lpstr>Office Theme</vt:lpstr>
      <vt:lpstr>1_Office Theme</vt:lpstr>
      <vt:lpstr>Theme_TQM</vt:lpstr>
      <vt:lpstr>Total Quality Management </vt:lpstr>
      <vt:lpstr>Quality</vt:lpstr>
      <vt:lpstr>PowerPoint Presentation</vt:lpstr>
      <vt:lpstr>Quality parameters</vt:lpstr>
      <vt:lpstr>Quality parameters</vt:lpstr>
      <vt:lpstr>PowerPoint Presentation</vt:lpstr>
      <vt:lpstr>Costs of Quality</vt:lpstr>
      <vt:lpstr>Common Myth</vt:lpstr>
      <vt:lpstr>An example</vt:lpstr>
      <vt:lpstr>PowerPoint Presentation</vt:lpstr>
      <vt:lpstr>PowerPoint Presentation</vt:lpstr>
      <vt:lpstr>Lundvall-juran curve </vt:lpstr>
      <vt:lpstr>Total Quality Management </vt:lpstr>
      <vt:lpstr>7 Basic QC tools</vt:lpstr>
      <vt:lpstr>Pareto analysis</vt:lpstr>
      <vt:lpstr>PowerPoint Presentation</vt:lpstr>
      <vt:lpstr>PowerPoint Presentation</vt:lpstr>
      <vt:lpstr>PowerPoint Presentation</vt:lpstr>
      <vt:lpstr>PowerPoint Presentation</vt:lpstr>
      <vt:lpstr>Cause effect diagram  (Ishikawa diagram/ Fish-bone diagram)</vt:lpstr>
      <vt:lpstr>Example of fishbone diagram for road crash</vt:lpstr>
      <vt:lpstr>Example of fishbone diagram for a particular defect (Nugget form) in a product</vt:lpstr>
      <vt:lpstr>Example of fishbone diagram for traffic jam</vt:lpstr>
      <vt:lpstr>Example of fishbone diagram for traffic problem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SPi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Operations Management Processes and Supply Chains, 11e</dc:title>
  <dc:subject>Business</dc:subject>
  <dc:creator>Krajewski/Malhotra/Ritzman</dc:creator>
  <cp:lastModifiedBy>Hasibul Islam</cp:lastModifiedBy>
  <cp:revision>2118</cp:revision>
  <dcterms:created xsi:type="dcterms:W3CDTF">2014-07-14T20:04:21Z</dcterms:created>
  <dcterms:modified xsi:type="dcterms:W3CDTF">2025-12-03T06:07:21Z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0x0101000130A8883D509741AAD9698FAF47E5F3</vt:lpwstr>
  </property>
</Properties>
</file>