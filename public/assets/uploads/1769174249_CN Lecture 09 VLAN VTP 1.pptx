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6" r:id="rId4"/>
    <p:sldId id="267" r:id="rId5"/>
    <p:sldId id="269" r:id="rId6"/>
    <p:sldId id="27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5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S::mmhasan@aiub.edu::5eb39d97-deb0-466a-af4c-298e34812974" providerId="AD" clId="Web-{387C8185-F558-C3C2-B551-1D0D67DD928C}"/>
    <pc:docChg chg="modSld">
      <pc:chgData name="Dr. Md Mehedi Hasan" userId="S::mmhasan@aiub.edu::5eb39d97-deb0-466a-af4c-298e34812974" providerId="AD" clId="Web-{387C8185-F558-C3C2-B551-1D0D67DD928C}" dt="2023-11-08T05:21:21.016" v="25"/>
      <pc:docMkLst>
        <pc:docMk/>
      </pc:docMkLst>
      <pc:sldChg chg="modSp">
        <pc:chgData name="Dr. Md Mehedi Hasan" userId="S::mmhasan@aiub.edu::5eb39d97-deb0-466a-af4c-298e34812974" providerId="AD" clId="Web-{387C8185-F558-C3C2-B551-1D0D67DD928C}" dt="2023-11-08T05:21:21.016" v="25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14951975-8665-4A25-9DA8-0F7553102187}"/>
    <pc:docChg chg="modSld">
      <pc:chgData name="Dr. Md Mehedi Hasan" userId="5eb39d97-deb0-466a-af4c-298e34812974" providerId="ADAL" clId="{14951975-8665-4A25-9DA8-0F7553102187}" dt="2022-10-23T05:03:07.239" v="26" actId="20577"/>
      <pc:docMkLst>
        <pc:docMk/>
      </pc:docMkLst>
      <pc:sldChg chg="modSp mod">
        <pc:chgData name="Dr. Md Mehedi Hasan" userId="5eb39d97-deb0-466a-af4c-298e34812974" providerId="ADAL" clId="{14951975-8665-4A25-9DA8-0F7553102187}" dt="2022-10-23T05:03:07.239" v="26" actId="20577"/>
        <pc:sldMkLst>
          <pc:docMk/>
          <pc:sldMk cId="700707328" sldId="256"/>
        </pc:sldMkLst>
      </pc:sldChg>
    </pc:docChg>
  </pc:docChgLst>
  <pc:docChgLst>
    <pc:chgData name="Dr. Md Mehedi Hasan" userId="239fb861-385a-4bac-bb29-9c26fc54d0ba" providerId="ADAL" clId="{F49ACA62-D096-4DE6-9332-CD3AE073C73A}"/>
    <pc:docChg chg="modSld">
      <pc:chgData name="Dr. Md Mehedi Hasan" userId="239fb861-385a-4bac-bb29-9c26fc54d0ba" providerId="ADAL" clId="{F49ACA62-D096-4DE6-9332-CD3AE073C73A}" dt="2025-01-08T02:26:57.104" v="11" actId="20577"/>
      <pc:docMkLst>
        <pc:docMk/>
      </pc:docMkLst>
      <pc:sldChg chg="modSp mod">
        <pc:chgData name="Dr. Md Mehedi Hasan" userId="239fb861-385a-4bac-bb29-9c26fc54d0ba" providerId="ADAL" clId="{F49ACA62-D096-4DE6-9332-CD3AE073C73A}" dt="2025-01-08T02:26:57.104" v="11" actId="20577"/>
        <pc:sldMkLst>
          <pc:docMk/>
          <pc:sldMk cId="700707328" sldId="256"/>
        </pc:sldMkLst>
        <pc:graphicFrameChg chg="modGraphic">
          <ac:chgData name="Dr. Md Mehedi Hasan" userId="239fb861-385a-4bac-bb29-9c26fc54d0ba" providerId="ADAL" clId="{F49ACA62-D096-4DE6-9332-CD3AE073C73A}" dt="2025-01-08T02:26:57.104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45733EF1-CAA7-4BDC-BD05-112B64110F53}"/>
    <pc:docChg chg="undo custSel modSld">
      <pc:chgData name="Dr. Md Mehedi Hasan" userId="5eb39d97-deb0-466a-af4c-298e34812974" providerId="ADAL" clId="{45733EF1-CAA7-4BDC-BD05-112B64110F53}" dt="2023-03-21T06:52:59.255" v="67" actId="20577"/>
      <pc:docMkLst>
        <pc:docMk/>
      </pc:docMkLst>
      <pc:sldChg chg="modSp mod">
        <pc:chgData name="Dr. Md Mehedi Hasan" userId="5eb39d97-deb0-466a-af4c-298e34812974" providerId="ADAL" clId="{45733EF1-CAA7-4BDC-BD05-112B64110F53}" dt="2023-03-21T06:52:59.255" v="67" actId="20577"/>
        <pc:sldMkLst>
          <pc:docMk/>
          <pc:sldMk cId="700707328" sldId="256"/>
        </pc:sldMkLst>
      </pc:sldChg>
      <pc:sldChg chg="addSp delSp modSp mod modClrScheme chgLayout">
        <pc:chgData name="Dr. Md Mehedi Hasan" userId="5eb39d97-deb0-466a-af4c-298e34812974" providerId="ADAL" clId="{45733EF1-CAA7-4BDC-BD05-112B64110F53}" dt="2023-03-20T07:15:45.759" v="58" actId="20577"/>
        <pc:sldMkLst>
          <pc:docMk/>
          <pc:sldMk cId="424874041" sldId="257"/>
        </pc:sldMkLst>
      </pc:sldChg>
      <pc:sldChg chg="modSp mod">
        <pc:chgData name="Dr. Md Mehedi Hasan" userId="5eb39d97-deb0-466a-af4c-298e34812974" providerId="ADAL" clId="{45733EF1-CAA7-4BDC-BD05-112B64110F53}" dt="2023-03-20T07:14:29.112" v="39" actId="167"/>
        <pc:sldMkLst>
          <pc:docMk/>
          <pc:sldMk cId="3897008035" sldId="271"/>
        </pc:sldMkLst>
      </pc:sldChg>
      <pc:sldChg chg="addSp delSp modSp mod">
        <pc:chgData name="Dr. Md Mehedi Hasan" userId="5eb39d97-deb0-466a-af4c-298e34812974" providerId="ADAL" clId="{45733EF1-CAA7-4BDC-BD05-112B64110F53}" dt="2023-03-20T07:14:36.614" v="41"/>
        <pc:sldMkLst>
          <pc:docMk/>
          <pc:sldMk cId="1907039713" sldId="272"/>
        </pc:sldMkLst>
      </pc:sldChg>
      <pc:sldChg chg="modSp mod">
        <pc:chgData name="Dr. Md Mehedi Hasan" userId="5eb39d97-deb0-466a-af4c-298e34812974" providerId="ADAL" clId="{45733EF1-CAA7-4BDC-BD05-112B64110F53}" dt="2023-03-20T07:14:52.994" v="42" actId="313"/>
        <pc:sldMkLst>
          <pc:docMk/>
          <pc:sldMk cId="1967849321" sldId="273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0043-86B6-4995-AFCF-75742B2971F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089EB-434E-4CCF-A285-C485F66DE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10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55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81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1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67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45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4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50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90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29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83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6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usumi.bala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fundamentals/computer_networking.htm" TargetMode="External"/><Relationship Id="rId2" Type="http://schemas.openxmlformats.org/officeDocument/2006/relationships/hyperlink" Target="https://www.geeksforgeeks.org/basics-computer-networking/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&amp; VTP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60612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917461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25-26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Mousumi Bala; </a:t>
                      </a:r>
                      <a:r>
                        <a:rPr lang="en-US" i="1" dirty="0">
                          <a:hlinkClick r:id="rId3"/>
                        </a:rPr>
                        <a:t>mousumi.bala@aiub.edu</a:t>
                      </a:r>
                      <a:r>
                        <a:rPr lang="en-US" i="1" dirty="0"/>
                        <a:t>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A1F4F-5A25-EC1E-AB5D-6281ADFC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1. What is VLAN?</a:t>
            </a:r>
          </a:p>
          <a:p>
            <a:r>
              <a:rPr lang="en-US" sz="2400" dirty="0"/>
              <a:t>2. Advantages of VLAN</a:t>
            </a:r>
          </a:p>
          <a:p>
            <a:r>
              <a:rPr lang="en-US" sz="2400" dirty="0"/>
              <a:t>3. Trunk Port</a:t>
            </a:r>
          </a:p>
          <a:p>
            <a:r>
              <a:rPr lang="en-US" sz="2400" dirty="0"/>
              <a:t>4. Router on stick</a:t>
            </a:r>
          </a:p>
          <a:p>
            <a:r>
              <a:rPr lang="en-US" sz="2400" dirty="0"/>
              <a:t>5. What is VTP</a:t>
            </a:r>
          </a:p>
          <a:p>
            <a:r>
              <a:rPr lang="en-US" sz="2400" dirty="0"/>
              <a:t>6. VTP Benefits</a:t>
            </a:r>
          </a:p>
          <a:p>
            <a:r>
              <a:rPr lang="en-US" sz="2400" dirty="0"/>
              <a:t>7. VTP Modes of Operation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21341" y="2369726"/>
            <a:ext cx="8390150" cy="3749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b="1" spc="-5" dirty="0">
                <a:latin typeface="Times New Roman"/>
                <a:cs typeface="Times New Roman"/>
              </a:rPr>
              <a:t>Flat</a:t>
            </a:r>
            <a:r>
              <a:rPr lang="en-US" b="1" spc="-10" dirty="0">
                <a:latin typeface="Times New Roman"/>
                <a:cs typeface="Times New Roman"/>
              </a:rPr>
              <a:t> </a:t>
            </a:r>
            <a:r>
              <a:rPr lang="en-US" b="1" spc="-5" dirty="0">
                <a:latin typeface="Times New Roman"/>
                <a:cs typeface="Times New Roman"/>
              </a:rPr>
              <a:t>Network: </a:t>
            </a:r>
            <a:r>
              <a:rPr lang="en-US" spc="-5" dirty="0">
                <a:latin typeface="Times New Roman"/>
                <a:cs typeface="Times New Roman"/>
              </a:rPr>
              <a:t>A flat network is a computer network design approach that aims to reduce cost, maintenance and administration.. </a:t>
            </a:r>
            <a:r>
              <a:rPr lang="en-US" spc="-20" dirty="0">
                <a:latin typeface="Times New Roman"/>
                <a:cs typeface="Times New Roman"/>
              </a:rPr>
              <a:t>It </a:t>
            </a:r>
            <a:r>
              <a:rPr lang="en-US" spc="-5" dirty="0">
                <a:latin typeface="Times New Roman"/>
                <a:cs typeface="Times New Roman"/>
              </a:rPr>
              <a:t>reduces the  number of routers and switches on the network. </a:t>
            </a:r>
            <a:r>
              <a:rPr lang="en-US" spc="-10" dirty="0">
                <a:latin typeface="Times New Roman"/>
                <a:cs typeface="Times New Roman"/>
              </a:rPr>
              <a:t>Instead </a:t>
            </a:r>
            <a:r>
              <a:rPr lang="en-US" spc="-5" dirty="0">
                <a:latin typeface="Times New Roman"/>
                <a:cs typeface="Times New Roman"/>
              </a:rPr>
              <a:t>of connecting to separate switches it  encourages to </a:t>
            </a:r>
            <a:r>
              <a:rPr lang="en-US" dirty="0">
                <a:latin typeface="Times New Roman"/>
                <a:cs typeface="Times New Roman"/>
              </a:rPr>
              <a:t>use </a:t>
            </a:r>
            <a:r>
              <a:rPr lang="en-US" spc="-5" dirty="0">
                <a:latin typeface="Times New Roman"/>
                <a:cs typeface="Times New Roman"/>
              </a:rPr>
              <a:t>a single switch. </a:t>
            </a:r>
            <a:r>
              <a:rPr lang="en-US" spc="-10" dirty="0">
                <a:latin typeface="Times New Roman"/>
                <a:cs typeface="Times New Roman"/>
              </a:rPr>
              <a:t>It </a:t>
            </a:r>
            <a:r>
              <a:rPr lang="en-US" spc="-5" dirty="0">
                <a:latin typeface="Times New Roman"/>
                <a:cs typeface="Times New Roman"/>
              </a:rPr>
              <a:t>avoids the hierarchical design. Flat network is not segmented or separated into different broadcast areas </a:t>
            </a:r>
            <a:r>
              <a:rPr lang="en-US" spc="10" dirty="0">
                <a:latin typeface="Times New Roman"/>
                <a:cs typeface="Times New Roman"/>
              </a:rPr>
              <a:t>by </a:t>
            </a:r>
            <a:r>
              <a:rPr lang="en-US" dirty="0">
                <a:latin typeface="Times New Roman"/>
                <a:cs typeface="Times New Roman"/>
              </a:rPr>
              <a:t>using </a:t>
            </a:r>
            <a:r>
              <a:rPr lang="en-US" spc="-5" dirty="0">
                <a:latin typeface="Times New Roman"/>
                <a:cs typeface="Times New Roman"/>
              </a:rPr>
              <a:t>routers. </a:t>
            </a:r>
            <a:r>
              <a:rPr lang="en-US" dirty="0">
                <a:latin typeface="Times New Roman"/>
                <a:cs typeface="Times New Roman"/>
              </a:rPr>
              <a:t>For </a:t>
            </a:r>
            <a:r>
              <a:rPr lang="en-US" spc="-5" dirty="0">
                <a:latin typeface="Times New Roman"/>
                <a:cs typeface="Times New Roman"/>
              </a:rPr>
              <a:t>connecting devices  instead of using switches and routers it uses hub </a:t>
            </a:r>
            <a:r>
              <a:rPr lang="en-US" dirty="0">
                <a:latin typeface="Times New Roman"/>
                <a:cs typeface="Times New Roman"/>
              </a:rPr>
              <a:t>and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switches.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pc="-5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lang="en-US" b="1" spc="-5" dirty="0">
                <a:latin typeface="Times New Roman"/>
                <a:cs typeface="Times New Roman"/>
              </a:rPr>
              <a:t>Problems of Flat</a:t>
            </a:r>
            <a:r>
              <a:rPr lang="en-US" b="1" spc="5" dirty="0">
                <a:latin typeface="Times New Roman"/>
                <a:cs typeface="Times New Roman"/>
              </a:rPr>
              <a:t> </a:t>
            </a:r>
            <a:r>
              <a:rPr lang="en-US" b="1" dirty="0">
                <a:latin typeface="Times New Roman"/>
                <a:cs typeface="Times New Roman"/>
              </a:rPr>
              <a:t>network: </a:t>
            </a:r>
            <a:endParaRPr lang="en-US" dirty="0">
              <a:latin typeface="Times New Roman"/>
              <a:cs typeface="Times New Roman"/>
            </a:endParaRPr>
          </a:p>
          <a:p>
            <a:pPr marL="600710" lvl="1" indent="-131445">
              <a:buAutoNum type="romanLcParenR"/>
              <a:tabLst>
                <a:tab pos="144145" algn="l"/>
              </a:tabLst>
            </a:pPr>
            <a:r>
              <a:rPr lang="en-US" spc="-5" dirty="0">
                <a:latin typeface="Times New Roman"/>
                <a:cs typeface="Times New Roman"/>
              </a:rPr>
              <a:t>Single broadcast domain</a:t>
            </a:r>
            <a:endParaRPr lang="en-US" dirty="0">
              <a:latin typeface="Times New Roman"/>
              <a:cs typeface="Times New Roman"/>
            </a:endParaRPr>
          </a:p>
          <a:p>
            <a:pPr marL="643255" lvl="1" indent="-173990">
              <a:spcBef>
                <a:spcPts val="620"/>
              </a:spcBef>
              <a:buAutoNum type="romanLcParenR"/>
              <a:tabLst>
                <a:tab pos="186690" algn="l"/>
              </a:tabLst>
            </a:pPr>
            <a:r>
              <a:rPr lang="en-US" dirty="0">
                <a:latin typeface="Times New Roman"/>
                <a:cs typeface="Times New Roman"/>
              </a:rPr>
              <a:t>Slow </a:t>
            </a:r>
            <a:r>
              <a:rPr lang="en-US" spc="-5" dirty="0">
                <a:latin typeface="Times New Roman"/>
                <a:cs typeface="Times New Roman"/>
              </a:rPr>
              <a:t>down network performance</a:t>
            </a:r>
            <a:endParaRPr lang="en-US" dirty="0">
              <a:latin typeface="Times New Roman"/>
              <a:cs typeface="Times New Roman"/>
            </a:endParaRPr>
          </a:p>
          <a:p>
            <a:pPr marL="685800" lvl="1" indent="-216535">
              <a:spcBef>
                <a:spcPts val="640"/>
              </a:spcBef>
              <a:buAutoNum type="romanLcParenR"/>
              <a:tabLst>
                <a:tab pos="229235" algn="l"/>
              </a:tabLst>
            </a:pPr>
            <a:r>
              <a:rPr lang="en-US" spc="-5" dirty="0">
                <a:latin typeface="Times New Roman"/>
                <a:cs typeface="Times New Roman"/>
              </a:rPr>
              <a:t>Security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issue</a:t>
            </a:r>
            <a:endParaRPr lang="en-US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700"/>
              </a:spcBef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C6EAD1-A8F8-468E-9CAC-D113A7C62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</p:spPr>
        <p:txBody>
          <a:bodyPr/>
          <a:lstStyle/>
          <a:p>
            <a:r>
              <a:rPr lang="en-US" sz="4400" dirty="0"/>
              <a:t>Virtual LANs (VLANs)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Virtual LANs (VLANs)</a:t>
            </a:r>
            <a:endParaRPr lang="en-US" sz="4400" b="1" i="1" dirty="0"/>
          </a:p>
        </p:txBody>
      </p:sp>
      <p:sp>
        <p:nvSpPr>
          <p:cNvPr id="6" name="Rectangle 5"/>
          <p:cNvSpPr/>
          <p:nvPr/>
        </p:nvSpPr>
        <p:spPr>
          <a:xfrm>
            <a:off x="421341" y="2263412"/>
            <a:ext cx="8284509" cy="2359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673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A VLAN acts like a physical LAN, but it allows hosts to be grouped together in the same  broadcast domain even if they are not connected to the same switch.</a:t>
            </a:r>
          </a:p>
          <a:p>
            <a:pPr marL="127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pc="-5" dirty="0">
              <a:latin typeface="Times New Roman"/>
              <a:cs typeface="Times New Roman"/>
            </a:endParaRPr>
          </a:p>
          <a:p>
            <a:pPr marL="12700" marR="14351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VLANs allow you to break up switched environments into multiple broadcast domains. Here is  the basic summary of a VLAN:</a:t>
            </a:r>
          </a:p>
          <a:p>
            <a:pPr marL="127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pc="-5" dirty="0">
              <a:latin typeface="Times New Roman"/>
              <a:cs typeface="Times New Roman"/>
            </a:endParaRPr>
          </a:p>
          <a:p>
            <a:pPr marL="127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A VLAN = A Broadcast Domain = An IP Subnet</a:t>
            </a: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pc="-5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Advantages of VLAN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71053" y="2268173"/>
            <a:ext cx="818803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710" lvl="1" indent="-131445">
              <a:spcBef>
                <a:spcPts val="1115"/>
              </a:spcBef>
              <a:buAutoNum type="romanLcParenR"/>
              <a:tabLst>
                <a:tab pos="144145" algn="l"/>
              </a:tabLst>
            </a:pPr>
            <a:r>
              <a:rPr lang="en-US" spc="-5" dirty="0">
                <a:latin typeface="Times New Roman"/>
                <a:cs typeface="Times New Roman"/>
              </a:rPr>
              <a:t> Performance</a:t>
            </a:r>
            <a:endParaRPr lang="en-US" dirty="0">
              <a:latin typeface="Times New Roman"/>
              <a:cs typeface="Times New Roman"/>
            </a:endParaRPr>
          </a:p>
          <a:p>
            <a:pPr marL="643255" lvl="1" indent="-173990">
              <a:spcBef>
                <a:spcPts val="635"/>
              </a:spcBef>
              <a:buAutoNum type="romanLcParenR"/>
              <a:tabLst>
                <a:tab pos="1866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 Security</a:t>
            </a:r>
            <a:endParaRPr lang="en-US" dirty="0">
              <a:latin typeface="Times New Roman"/>
              <a:cs typeface="Times New Roman"/>
            </a:endParaRPr>
          </a:p>
          <a:p>
            <a:pPr marL="685800" lvl="1" indent="-216535">
              <a:spcBef>
                <a:spcPts val="625"/>
              </a:spcBef>
              <a:buAutoNum type="romanLcParenR"/>
              <a:tabLst>
                <a:tab pos="229235" algn="l"/>
              </a:tabLst>
            </a:pPr>
            <a:r>
              <a:rPr lang="en-US" dirty="0">
                <a:latin typeface="Times New Roman"/>
                <a:cs typeface="Times New Roman"/>
              </a:rPr>
              <a:t> Cost</a:t>
            </a:r>
          </a:p>
          <a:p>
            <a:pPr marL="678179" lvl="1" indent="-208915">
              <a:spcBef>
                <a:spcPts val="635"/>
              </a:spcBef>
              <a:buAutoNum type="romanLcParenR"/>
              <a:tabLst>
                <a:tab pos="221615" algn="l"/>
              </a:tabLst>
            </a:pPr>
            <a:r>
              <a:rPr lang="en-US" spc="-5" dirty="0">
                <a:latin typeface="Times New Roman"/>
                <a:cs typeface="Times New Roman"/>
              </a:rPr>
              <a:t> Location</a:t>
            </a:r>
            <a:endParaRPr lang="en-US" dirty="0">
              <a:latin typeface="Times New Roman"/>
              <a:cs typeface="Times New Roman"/>
            </a:endParaRPr>
          </a:p>
          <a:p>
            <a:pPr marL="634365" lvl="1" indent="-165100">
              <a:spcBef>
                <a:spcPts val="625"/>
              </a:spcBef>
              <a:buAutoNum type="romanLcParenR"/>
              <a:tabLst>
                <a:tab pos="17780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 Management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010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Advantages of VLAN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1053" y="2268173"/>
            <a:ext cx="8188038" cy="3863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spc="-5" dirty="0">
                <a:latin typeface="Times New Roman"/>
                <a:cs typeface="Times New Roman"/>
              </a:rPr>
              <a:t>Performance:</a:t>
            </a:r>
            <a:endParaRPr lang="en-US" sz="2400" dirty="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1437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A single switch without VLAN has got one broadcast domain.</a:t>
            </a:r>
          </a:p>
          <a:p>
            <a:pPr marL="298450" marR="5080" indent="-285750" algn="just">
              <a:lnSpc>
                <a:spcPct val="1437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If the number of switches adds to  that network the broadcast domain will become bigger, but it will not split up. More devices  make the traffic intense. </a:t>
            </a:r>
          </a:p>
          <a:p>
            <a:pPr marL="298450" marR="5080" indent="-285750" algn="just">
              <a:lnSpc>
                <a:spcPct val="1437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With the problem in a single port of any switch it will create disturbance  in the whole network, as the switches have same broadcast domain. This decreases the network  performance. </a:t>
            </a:r>
          </a:p>
          <a:p>
            <a:pPr marL="298450" marR="5080" indent="-285750" algn="just">
              <a:lnSpc>
                <a:spcPct val="1437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/>
                <a:cs typeface="Times New Roman"/>
              </a:rPr>
              <a:t>On the other hand, VLAN split-ups broadcast domain. One VLAN means one broadcast  domain. It will help to improve network performance.</a:t>
            </a:r>
          </a:p>
        </p:txBody>
      </p:sp>
    </p:spTree>
    <p:extLst>
      <p:ext uri="{BB962C8B-B14F-4D97-AF65-F5344CB8AC3E}">
        <p14:creationId xmlns:p14="http://schemas.microsoft.com/office/powerpoint/2010/main" val="58703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Advantages of VLAN (cont.)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457198" y="2238873"/>
            <a:ext cx="8372477" cy="3036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Security: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8255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VLAN enhances security by dividing a large domain in small collision domains. </a:t>
            </a:r>
          </a:p>
          <a:p>
            <a:pPr marL="12700" marR="8255" indent="-28575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A malicious user can’t get connected very easily in a VLAN because it is more manageable for the system admin, as  it will have a limited switch ports.</a:t>
            </a:r>
          </a:p>
          <a:p>
            <a:pPr marL="12700">
              <a:lnSpc>
                <a:spcPct val="100000"/>
              </a:lnSpc>
            </a:pPr>
            <a:r>
              <a:rPr lang="en-US" sz="2400" b="1" spc="-5" dirty="0">
                <a:latin typeface="Times New Roman"/>
                <a:cs typeface="Times New Roman"/>
              </a:rPr>
              <a:t>Cost: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8255" indent="-28575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Router helps to differentiate between the networks, but router is expensive. </a:t>
            </a:r>
          </a:p>
          <a:p>
            <a:pPr marL="12700" marR="8255" indent="-28575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VLAN helps to decrease the dependency on router to some extent. It helps to create virtual local area, which  definitely reduce the cost.</a:t>
            </a:r>
          </a:p>
        </p:txBody>
      </p:sp>
    </p:spTree>
    <p:extLst>
      <p:ext uri="{BB962C8B-B14F-4D97-AF65-F5344CB8AC3E}">
        <p14:creationId xmlns:p14="http://schemas.microsoft.com/office/powerpoint/2010/main" val="310645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LAN Basic Concepts Explained with Examples">
            <a:extLst>
              <a:ext uri="{FF2B5EF4-FFF2-40B4-BE49-F238E27FC236}">
                <a16:creationId xmlns:a16="http://schemas.microsoft.com/office/drawing/2014/main" id="{943573A5-DA6E-4F4D-9E1C-CA55F4D3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731" y="4020184"/>
            <a:ext cx="4602099" cy="219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Advantages of VLAN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2194459"/>
            <a:ext cx="8672945" cy="308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-5" dirty="0">
                <a:latin typeface="Times New Roman"/>
                <a:cs typeface="Times New Roman"/>
              </a:rPr>
              <a:t>Location:</a:t>
            </a:r>
            <a:endParaRPr lang="en-US"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/>
                <a:cs typeface="Times New Roman"/>
              </a:rPr>
              <a:t>It </a:t>
            </a:r>
            <a:r>
              <a:rPr lang="en-US" sz="2000" spc="-5" dirty="0">
                <a:latin typeface="Times New Roman"/>
                <a:cs typeface="Times New Roman"/>
              </a:rPr>
              <a:t>has </a:t>
            </a:r>
            <a:r>
              <a:rPr lang="en-US" sz="2000" spc="-10" dirty="0">
                <a:latin typeface="Times New Roman"/>
                <a:cs typeface="Times New Roman"/>
              </a:rPr>
              <a:t>got the </a:t>
            </a:r>
            <a:r>
              <a:rPr lang="en-US" sz="2000" dirty="0">
                <a:latin typeface="Times New Roman"/>
                <a:cs typeface="Times New Roman"/>
              </a:rPr>
              <a:t>ability </a:t>
            </a:r>
            <a:r>
              <a:rPr lang="en-US" sz="2000" spc="-5" dirty="0">
                <a:latin typeface="Times New Roman"/>
                <a:cs typeface="Times New Roman"/>
              </a:rPr>
              <a:t>to add wanted users to a VLAN regardless of their physical</a:t>
            </a:r>
            <a:r>
              <a:rPr lang="en-US" sz="2000" spc="11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location.</a:t>
            </a:r>
            <a:endParaRPr lang="en-US"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000" b="1" spc="-5" dirty="0">
                <a:latin typeface="Times New Roman"/>
                <a:cs typeface="Times New Roman"/>
              </a:rPr>
              <a:t>Management:</a:t>
            </a:r>
            <a:endParaRPr lang="en-US" sz="2000" dirty="0">
              <a:latin typeface="Times New Roman"/>
              <a:cs typeface="Times New Roman"/>
            </a:endParaRPr>
          </a:p>
          <a:p>
            <a:pPr marL="355600" marR="6350" indent="-342900">
              <a:lnSpc>
                <a:spcPts val="208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A single </a:t>
            </a:r>
            <a:r>
              <a:rPr lang="en-US" sz="2000" dirty="0">
                <a:latin typeface="Times New Roman"/>
                <a:cs typeface="Times New Roman"/>
              </a:rPr>
              <a:t>port </a:t>
            </a:r>
            <a:r>
              <a:rPr lang="en-US" sz="2000" spc="-5" dirty="0">
                <a:latin typeface="Times New Roman"/>
                <a:cs typeface="Times New Roman"/>
              </a:rPr>
              <a:t>configuration can assign a </a:t>
            </a:r>
            <a:r>
              <a:rPr lang="en-US" sz="2000" dirty="0">
                <a:latin typeface="Times New Roman"/>
                <a:cs typeface="Times New Roman"/>
              </a:rPr>
              <a:t>new student </a:t>
            </a:r>
            <a:r>
              <a:rPr lang="en-US" sz="2000" spc="-5" dirty="0">
                <a:latin typeface="Times New Roman"/>
                <a:cs typeface="Times New Roman"/>
              </a:rPr>
              <a:t>or a </a:t>
            </a:r>
            <a:r>
              <a:rPr lang="en-US" sz="2000" dirty="0">
                <a:latin typeface="Times New Roman"/>
                <a:cs typeface="Times New Roman"/>
              </a:rPr>
              <a:t>new </a:t>
            </a:r>
            <a:r>
              <a:rPr lang="en-US" sz="2000" spc="-5" dirty="0">
                <a:latin typeface="Times New Roman"/>
                <a:cs typeface="Times New Roman"/>
              </a:rPr>
              <a:t>employee in VLAN. </a:t>
            </a:r>
            <a:r>
              <a:rPr lang="en-US" sz="2000" spc="-10" dirty="0">
                <a:latin typeface="Times New Roman"/>
                <a:cs typeface="Times New Roman"/>
              </a:rPr>
              <a:t>It </a:t>
            </a:r>
            <a:r>
              <a:rPr lang="en-US" sz="2000" spc="-5" dirty="0">
                <a:latin typeface="Times New Roman"/>
                <a:cs typeface="Times New Roman"/>
              </a:rPr>
              <a:t>is </a:t>
            </a:r>
            <a:r>
              <a:rPr lang="en-US" sz="2000" dirty="0">
                <a:latin typeface="Times New Roman"/>
                <a:cs typeface="Times New Roman"/>
              </a:rPr>
              <a:t>easily </a:t>
            </a:r>
            <a:r>
              <a:rPr lang="en-US" sz="2000" spc="-5" dirty="0">
                <a:latin typeface="Times New Roman"/>
                <a:cs typeface="Times New Roman"/>
              </a:rPr>
              <a:t>manageable.</a:t>
            </a:r>
            <a:endParaRPr lang="en-US" sz="1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lang="en-US" sz="2000" spc="-5" dirty="0">
                <a:latin typeface="Times New Roman"/>
                <a:cs typeface="Times New Roman"/>
              </a:rPr>
              <a:t>Two types </a:t>
            </a:r>
            <a:r>
              <a:rPr lang="en-US" sz="2000" dirty="0">
                <a:latin typeface="Times New Roman"/>
                <a:cs typeface="Times New Roman"/>
              </a:rPr>
              <a:t>of </a:t>
            </a:r>
            <a:r>
              <a:rPr lang="en-US" sz="2000" spc="-5" dirty="0">
                <a:latin typeface="Times New Roman"/>
                <a:cs typeface="Times New Roman"/>
              </a:rPr>
              <a:t>VLAN connection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links:</a:t>
            </a:r>
            <a:endParaRPr lang="en-US" sz="2000" dirty="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63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Access link</a:t>
            </a:r>
            <a:endParaRPr lang="en-US" sz="2000" dirty="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62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Trunk link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700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Trunk 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799" y="2093921"/>
            <a:ext cx="8515351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6350" indent="-342900"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/>
                <a:cs typeface="Times New Roman"/>
              </a:rPr>
              <a:t>Connection between the switches must carry traffic for multiple VLANs. This type of port is  known as a trunk port. </a:t>
            </a:r>
          </a:p>
          <a:p>
            <a:pPr marL="355600" marR="6350" indent="-342900"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/>
                <a:cs typeface="Times New Roman"/>
              </a:rPr>
              <a:t>Trunk ports are often called tagged ports because the switches send  frames between each other with a VLAN "tag" in place. </a:t>
            </a:r>
          </a:p>
          <a:p>
            <a:pPr marL="355600" marR="5080" indent="-342900"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/>
                <a:cs typeface="Times New Roman"/>
              </a:rPr>
              <a:t>VLANs are not a Cisco-only technology. Just about all managed switch vendors support  VLANs. </a:t>
            </a:r>
          </a:p>
          <a:p>
            <a:pPr marL="355600" marR="5080" indent="-342900"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/>
                <a:cs typeface="Times New Roman"/>
              </a:rPr>
              <a:t> </a:t>
            </a:r>
          </a:p>
        </p:txBody>
      </p:sp>
      <p:pic>
        <p:nvPicPr>
          <p:cNvPr id="5" name="Picture 2" descr="VLAN Basic Concepts Explained with Examples">
            <a:extLst>
              <a:ext uri="{FF2B5EF4-FFF2-40B4-BE49-F238E27FC236}">
                <a16:creationId xmlns:a16="http://schemas.microsoft.com/office/drawing/2014/main" id="{F29E0529-124E-A5C5-D82C-220C709C1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731" y="4020184"/>
            <a:ext cx="4602099" cy="219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03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Trunk Port (cont.…)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94D4B-E9A4-4A0A-A560-FBA86300C3C7}"/>
              </a:ext>
            </a:extLst>
          </p:cNvPr>
          <p:cNvSpPr txBox="1"/>
          <p:nvPr/>
        </p:nvSpPr>
        <p:spPr>
          <a:xfrm>
            <a:off x="333375" y="2419663"/>
            <a:ext cx="8477250" cy="35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5080" indent="-285750" algn="just">
              <a:lnSpc>
                <a:spcPct val="143700"/>
              </a:lnSpc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Times New Roman"/>
                <a:cs typeface="Times New Roman"/>
              </a:rPr>
              <a:t>For VLANs to operate in a mixed-vendor environment, a common trunking or  "tagging" language must exist between them. This language is known as 802.1Q (Industry  standard). </a:t>
            </a:r>
          </a:p>
          <a:p>
            <a:pPr marL="298450" marR="5080" indent="-285750" algn="just">
              <a:lnSpc>
                <a:spcPct val="143700"/>
              </a:lnSpc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All vendors design their switches to recognize and understand the 802.1Q tag, which  is what allows us to trunk between switches in </a:t>
            </a:r>
            <a:r>
              <a:rPr lang="en-US" sz="2000" dirty="0">
                <a:latin typeface="Times New Roman"/>
                <a:cs typeface="Times New Roman"/>
              </a:rPr>
              <a:t>any</a:t>
            </a:r>
            <a:r>
              <a:rPr lang="en-US" sz="2000" spc="3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environment. </a:t>
            </a:r>
          </a:p>
          <a:p>
            <a:pPr marL="298450" marR="5080" indent="-285750" algn="just">
              <a:lnSpc>
                <a:spcPct val="143700"/>
              </a:lnSpc>
              <a:buFont typeface="Arial" panose="020B0604020202020204" pitchFamily="34" charset="0"/>
              <a:buChar char="•"/>
            </a:pPr>
            <a:r>
              <a:rPr lang="en-US" sz="2000" spc="-5" dirty="0">
                <a:latin typeface="Times New Roman"/>
                <a:cs typeface="Times New Roman"/>
              </a:rPr>
              <a:t>IEEE 802.1Q uses an internal tagging mechanism. The trunking device inserts a 4-byte </a:t>
            </a:r>
            <a:r>
              <a:rPr lang="en-US" sz="2000" dirty="0">
                <a:latin typeface="Times New Roman"/>
                <a:cs typeface="Times New Roman"/>
              </a:rPr>
              <a:t>tag </a:t>
            </a:r>
            <a:r>
              <a:rPr lang="en-US" sz="2000" spc="-5" dirty="0">
                <a:latin typeface="Times New Roman"/>
                <a:cs typeface="Times New Roman"/>
              </a:rPr>
              <a:t>in  order to identify the VLAN to which a frame belongs and then recomputes the frame check  sequence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(FCS).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7849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en-US" sz="4000" b="1" i="1" dirty="0"/>
              <a:t>Trunking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263236" y="2087523"/>
            <a:ext cx="8617528" cy="4506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3085" marR="5080" indent="-269875">
              <a:lnSpc>
                <a:spcPts val="2080"/>
              </a:lnSpc>
              <a:spcBef>
                <a:spcPts val="135"/>
              </a:spcBef>
              <a:buFont typeface="Wingdings 2"/>
              <a:buChar char=""/>
              <a:tabLst>
                <a:tab pos="553085" algn="l"/>
                <a:tab pos="553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VLANs are local to each switch's database, </a:t>
            </a:r>
            <a:r>
              <a:rPr lang="en-US" dirty="0">
                <a:latin typeface="Times New Roman"/>
                <a:cs typeface="Times New Roman"/>
              </a:rPr>
              <a:t>and </a:t>
            </a:r>
            <a:r>
              <a:rPr lang="en-US" spc="-5" dirty="0">
                <a:latin typeface="Times New Roman"/>
                <a:cs typeface="Times New Roman"/>
              </a:rPr>
              <a:t>VLAN information is not passed  between switches.</a:t>
            </a:r>
            <a:endParaRPr lang="en-US" dirty="0">
              <a:latin typeface="Times New Roman"/>
              <a:cs typeface="Times New Roman"/>
            </a:endParaRPr>
          </a:p>
          <a:p>
            <a:pPr marL="553720" indent="-269875">
              <a:lnSpc>
                <a:spcPct val="100000"/>
              </a:lnSpc>
              <a:spcBef>
                <a:spcPts val="445"/>
              </a:spcBef>
              <a:buFont typeface="Wingdings 2"/>
              <a:buChar char=""/>
              <a:tabLst>
                <a:tab pos="553085" algn="l"/>
                <a:tab pos="553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Trunk links provide VLAN identification for frames traveling between</a:t>
            </a:r>
            <a:r>
              <a:rPr lang="en-US" spc="6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switches.</a:t>
            </a:r>
            <a:endParaRPr lang="en-US" dirty="0">
              <a:latin typeface="Times New Roman"/>
              <a:cs typeface="Times New Roman"/>
            </a:endParaRPr>
          </a:p>
          <a:p>
            <a:pPr marL="553720" indent="-269875">
              <a:lnSpc>
                <a:spcPct val="100000"/>
              </a:lnSpc>
              <a:spcBef>
                <a:spcPts val="635"/>
              </a:spcBef>
              <a:buFont typeface="Wingdings 2"/>
              <a:buChar char=""/>
              <a:tabLst>
                <a:tab pos="553085" algn="l"/>
                <a:tab pos="553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Cisco switches have two Ethernet trunking mechanisms: </a:t>
            </a:r>
            <a:r>
              <a:rPr lang="en-US" spc="-10" dirty="0">
                <a:latin typeface="Times New Roman"/>
                <a:cs typeface="Times New Roman"/>
              </a:rPr>
              <a:t>ISL </a:t>
            </a:r>
            <a:r>
              <a:rPr lang="en-US" spc="-5" dirty="0">
                <a:latin typeface="Times New Roman"/>
                <a:cs typeface="Times New Roman"/>
              </a:rPr>
              <a:t>and IEEE</a:t>
            </a:r>
            <a:r>
              <a:rPr lang="en-US" spc="9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802.1Q.</a:t>
            </a:r>
            <a:endParaRPr lang="en-US" dirty="0">
              <a:latin typeface="Times New Roman"/>
              <a:cs typeface="Times New Roman"/>
            </a:endParaRPr>
          </a:p>
          <a:p>
            <a:pPr marL="553720" indent="-269875">
              <a:lnSpc>
                <a:spcPct val="100000"/>
              </a:lnSpc>
              <a:spcBef>
                <a:spcPts val="625"/>
              </a:spcBef>
              <a:buFont typeface="Wingdings 2"/>
              <a:buChar char=""/>
              <a:tabLst>
                <a:tab pos="553085" algn="l"/>
                <a:tab pos="553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Certain types of switches can negotiate trunk</a:t>
            </a:r>
            <a:r>
              <a:rPr lang="en-US" spc="3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links.</a:t>
            </a:r>
          </a:p>
          <a:p>
            <a:pPr marL="553720" marR="6985" indent="-269875">
              <a:lnSpc>
                <a:spcPct val="143300"/>
              </a:lnSpc>
              <a:spcBef>
                <a:spcPts val="10"/>
              </a:spcBef>
              <a:buFont typeface="Wingdings 2"/>
              <a:buChar char=""/>
              <a:tabLst>
                <a:tab pos="553085" algn="l"/>
                <a:tab pos="554355" algn="l"/>
              </a:tabLst>
            </a:pPr>
            <a:r>
              <a:rPr lang="en-US" spc="-5" dirty="0">
                <a:latin typeface="Times New Roman"/>
                <a:cs typeface="Times New Roman"/>
              </a:rPr>
              <a:t>Trunks </a:t>
            </a:r>
            <a:r>
              <a:rPr lang="en-US" dirty="0">
                <a:latin typeface="Times New Roman"/>
                <a:cs typeface="Times New Roman"/>
              </a:rPr>
              <a:t>carry </a:t>
            </a:r>
            <a:r>
              <a:rPr lang="en-US" spc="-5" dirty="0">
                <a:latin typeface="Times New Roman"/>
                <a:cs typeface="Times New Roman"/>
              </a:rPr>
              <a:t>traffic from all VLANs to and from the switch </a:t>
            </a:r>
            <a:r>
              <a:rPr lang="en-US" spc="10" dirty="0">
                <a:latin typeface="Times New Roman"/>
                <a:cs typeface="Times New Roman"/>
              </a:rPr>
              <a:t>by </a:t>
            </a:r>
            <a:r>
              <a:rPr lang="en-US" spc="-5" dirty="0">
                <a:latin typeface="Times New Roman"/>
                <a:cs typeface="Times New Roman"/>
              </a:rPr>
              <a:t>default but can be  configured to </a:t>
            </a:r>
            <a:r>
              <a:rPr lang="en-US" dirty="0">
                <a:latin typeface="Times New Roman"/>
                <a:cs typeface="Times New Roman"/>
              </a:rPr>
              <a:t>carry </a:t>
            </a:r>
            <a:r>
              <a:rPr lang="en-US" spc="5" dirty="0">
                <a:latin typeface="Times New Roman"/>
                <a:cs typeface="Times New Roman"/>
              </a:rPr>
              <a:t>only </a:t>
            </a:r>
            <a:r>
              <a:rPr lang="en-US" spc="-5" dirty="0">
                <a:latin typeface="Times New Roman"/>
                <a:cs typeface="Times New Roman"/>
              </a:rPr>
              <a:t>specified VLAN</a:t>
            </a:r>
            <a:r>
              <a:rPr lang="en-US" spc="-4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traffic.</a:t>
            </a:r>
            <a:endParaRPr lang="en-US" dirty="0">
              <a:latin typeface="Times New Roman"/>
              <a:cs typeface="Times New Roman"/>
            </a:endParaRPr>
          </a:p>
          <a:p>
            <a:pPr marL="553720" indent="-270510">
              <a:lnSpc>
                <a:spcPct val="100000"/>
              </a:lnSpc>
              <a:spcBef>
                <a:spcPts val="640"/>
              </a:spcBef>
              <a:buFont typeface="Wingdings 2"/>
              <a:buChar char=""/>
              <a:tabLst>
                <a:tab pos="553085" algn="l"/>
                <a:tab pos="554355" algn="l"/>
              </a:tabLst>
            </a:pPr>
            <a:r>
              <a:rPr lang="en-US" spc="-5" dirty="0">
                <a:latin typeface="Times New Roman"/>
                <a:cs typeface="Times New Roman"/>
              </a:rPr>
              <a:t>Trunk links must be configured to allow trunking on each end of the</a:t>
            </a:r>
            <a:r>
              <a:rPr lang="en-US" spc="8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link.</a:t>
            </a:r>
          </a:p>
          <a:p>
            <a:pPr marL="553720" indent="-270510">
              <a:lnSpc>
                <a:spcPct val="100000"/>
              </a:lnSpc>
              <a:spcBef>
                <a:spcPts val="640"/>
              </a:spcBef>
              <a:buFont typeface="Wingdings 2"/>
              <a:buChar char=""/>
              <a:tabLst>
                <a:tab pos="553085" algn="l"/>
                <a:tab pos="554355" algn="l"/>
              </a:tabLst>
            </a:pPr>
            <a:endParaRPr lang="en-US" sz="1200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b="1" spc="-5" dirty="0">
                <a:latin typeface="Times New Roman"/>
                <a:cs typeface="Times New Roman"/>
              </a:rPr>
              <a:t>Purpose:</a:t>
            </a:r>
            <a:endParaRPr lang="en-US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5" dirty="0">
                <a:latin typeface="Times New Roman"/>
                <a:cs typeface="Times New Roman"/>
              </a:rPr>
              <a:t>For managing all configured VLANs across a switch internetwork &amp; maintain</a:t>
            </a:r>
            <a:r>
              <a:rPr lang="en-US" spc="11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consistency</a:t>
            </a:r>
            <a:endParaRPr lang="en-US" dirty="0">
              <a:latin typeface="Times New Roman"/>
              <a:cs typeface="Times New Roman"/>
            </a:endParaRPr>
          </a:p>
          <a:p>
            <a:pPr marL="927100" lvl="1" indent="-229235">
              <a:lnSpc>
                <a:spcPct val="100000"/>
              </a:lnSpc>
              <a:spcBef>
                <a:spcPts val="635"/>
              </a:spcBef>
              <a:buFont typeface="Wingdings 2"/>
              <a:buChar char=""/>
              <a:tabLst>
                <a:tab pos="926465" algn="l"/>
                <a:tab pos="92710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Allows an administrator to add, delete, &amp; rename</a:t>
            </a:r>
            <a:r>
              <a:rPr lang="en-US" spc="3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VLANs</a:t>
            </a:r>
            <a:endParaRPr lang="en-US" dirty="0">
              <a:latin typeface="Times New Roman"/>
              <a:cs typeface="Times New Roman"/>
            </a:endParaRPr>
          </a:p>
          <a:p>
            <a:pPr marL="283210">
              <a:lnSpc>
                <a:spcPct val="100000"/>
              </a:lnSpc>
              <a:spcBef>
                <a:spcPts val="640"/>
              </a:spcBef>
              <a:tabLst>
                <a:tab pos="553085" algn="l"/>
                <a:tab pos="554355" algn="l"/>
              </a:tabLst>
            </a:pPr>
            <a:endParaRPr lang="en-US" spc="-5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9681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en-US" sz="4000" b="1" i="1" dirty="0"/>
              <a:t>Router </a:t>
            </a:r>
            <a:r>
              <a:rPr lang="en-US" altLang="en-US" sz="4000" b="1" i="1"/>
              <a:t>on a stick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284018" y="2220700"/>
            <a:ext cx="8575964" cy="1464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715">
              <a:lnSpc>
                <a:spcPts val="2060"/>
              </a:lnSpc>
              <a:spcBef>
                <a:spcPts val="160"/>
              </a:spcBef>
            </a:pPr>
            <a:r>
              <a:rPr lang="en-US" spc="-5" dirty="0">
                <a:latin typeface="Times New Roman"/>
                <a:cs typeface="Times New Roman"/>
              </a:rPr>
              <a:t>Router-on-a-stick is a type of router configuration in which a single physical interface manages  traffic</a:t>
            </a:r>
            <a:r>
              <a:rPr lang="en-US" spc="9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between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multiple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VLANs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on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a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network.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</a:p>
          <a:p>
            <a:pPr marL="12700" marR="5715">
              <a:lnSpc>
                <a:spcPts val="2060"/>
              </a:lnSpc>
              <a:spcBef>
                <a:spcPts val="160"/>
              </a:spcBef>
            </a:pP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9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router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receives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VLAN </a:t>
            </a:r>
            <a:r>
              <a:rPr lang="en-US" spc="-5" dirty="0">
                <a:latin typeface="Times New Roman"/>
                <a:cs typeface="Times New Roman"/>
              </a:rPr>
              <a:t>tagged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traffic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on</a:t>
            </a:r>
            <a:r>
              <a:rPr lang="en-US" spc="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the trunk interface from the </a:t>
            </a:r>
            <a:r>
              <a:rPr lang="en-US" dirty="0">
                <a:latin typeface="Times New Roman"/>
                <a:cs typeface="Times New Roman"/>
              </a:rPr>
              <a:t>nearby </a:t>
            </a:r>
            <a:r>
              <a:rPr lang="en-US" spc="-5" dirty="0">
                <a:latin typeface="Times New Roman"/>
                <a:cs typeface="Times New Roman"/>
              </a:rPr>
              <a:t>switch (SW1), and forwards the routed traffic out to VLAN  tagged destination using the same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interface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4924425" y="3505200"/>
            <a:ext cx="3737402" cy="2709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/>
          <p:cNvSpPr txBox="1"/>
          <p:nvPr/>
        </p:nvSpPr>
        <p:spPr>
          <a:xfrm>
            <a:off x="351239" y="3800002"/>
            <a:ext cx="3858049" cy="210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Traditional Inter-VLAN Routing</a:t>
            </a:r>
            <a:endParaRPr dirty="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Wingdings 2"/>
              <a:buChar char="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/>
                <a:cs typeface="Times New Roman"/>
              </a:rPr>
              <a:t>The router </a:t>
            </a:r>
            <a:r>
              <a:rPr dirty="0">
                <a:latin typeface="Times New Roman"/>
                <a:cs typeface="Times New Roman"/>
              </a:rPr>
              <a:t>has </a:t>
            </a:r>
            <a:r>
              <a:rPr spc="-5" dirty="0">
                <a:latin typeface="Times New Roman"/>
                <a:cs typeface="Times New Roman"/>
              </a:rPr>
              <a:t>one physical port for each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VLAN.</a:t>
            </a:r>
            <a:endParaRPr dirty="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620"/>
              </a:spcBef>
              <a:buFont typeface="Wingdings 2"/>
              <a:buChar char="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/>
                <a:cs typeface="Times New Roman"/>
              </a:rPr>
              <a:t>Each port has an </a:t>
            </a:r>
            <a:r>
              <a:rPr spc="-10" dirty="0">
                <a:latin typeface="Times New Roman"/>
                <a:cs typeface="Times New Roman"/>
              </a:rPr>
              <a:t>IP </a:t>
            </a:r>
            <a:r>
              <a:rPr spc="-5" dirty="0">
                <a:latin typeface="Times New Roman"/>
                <a:cs typeface="Times New Roman"/>
              </a:rPr>
              <a:t>address on its own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VLAN.</a:t>
            </a:r>
            <a:endParaRPr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640"/>
              </a:spcBef>
              <a:buFont typeface="Wingdings 2"/>
              <a:buChar char="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/>
                <a:cs typeface="Times New Roman"/>
              </a:rPr>
              <a:t>Routing is the same as routing between </a:t>
            </a:r>
            <a:r>
              <a:rPr spc="5" dirty="0">
                <a:latin typeface="Times New Roman"/>
                <a:cs typeface="Times New Roman"/>
              </a:rPr>
              <a:t>any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subnets.</a:t>
            </a:r>
          </a:p>
        </p:txBody>
      </p:sp>
    </p:spTree>
    <p:extLst>
      <p:ext uri="{BB962C8B-B14F-4D97-AF65-F5344CB8AC3E}">
        <p14:creationId xmlns:p14="http://schemas.microsoft.com/office/powerpoint/2010/main" val="4117897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VTP Modes of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799" y="2464222"/>
            <a:ext cx="809105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2280" indent="-269875">
              <a:lnSpc>
                <a:spcPct val="100000"/>
              </a:lnSpc>
              <a:buFont typeface="Wingdings"/>
              <a:buChar char=""/>
              <a:tabLst>
                <a:tab pos="461645" algn="l"/>
                <a:tab pos="46228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Server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"/>
            </a:pPr>
            <a:endParaRPr lang="en-US" dirty="0">
              <a:latin typeface="Times New Roman"/>
              <a:cs typeface="Times New Roman"/>
            </a:endParaRPr>
          </a:p>
          <a:p>
            <a:pPr marL="643255" lvl="1" indent="-182245">
              <a:lnSpc>
                <a:spcPct val="100000"/>
              </a:lnSpc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create, modify, and delete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VLANs</a:t>
            </a:r>
            <a:endParaRPr lang="en-US" dirty="0">
              <a:latin typeface="Times New Roman"/>
              <a:cs typeface="Times New Roman"/>
            </a:endParaRPr>
          </a:p>
          <a:p>
            <a:pPr marL="643255" lvl="1" indent="-182245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VTP version and VTP pruning, for </a:t>
            </a:r>
            <a:r>
              <a:rPr lang="en-US" dirty="0">
                <a:latin typeface="Times New Roman"/>
                <a:cs typeface="Times New Roman"/>
              </a:rPr>
              <a:t>the </a:t>
            </a:r>
            <a:r>
              <a:rPr lang="en-US" spc="-5" dirty="0">
                <a:latin typeface="Times New Roman"/>
                <a:cs typeface="Times New Roman"/>
              </a:rPr>
              <a:t>entire </a:t>
            </a:r>
            <a:r>
              <a:rPr lang="en-US" dirty="0">
                <a:latin typeface="Times New Roman"/>
                <a:cs typeface="Times New Roman"/>
              </a:rPr>
              <a:t>VTP </a:t>
            </a:r>
            <a:r>
              <a:rPr lang="en-US" spc="-5" dirty="0">
                <a:latin typeface="Times New Roman"/>
                <a:cs typeface="Times New Roman"/>
              </a:rPr>
              <a:t>domain</a:t>
            </a:r>
            <a:r>
              <a:rPr lang="en-US" spc="4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links</a:t>
            </a:r>
            <a:endParaRPr lang="en-US" dirty="0">
              <a:latin typeface="Times New Roman"/>
              <a:cs typeface="Times New Roman"/>
            </a:endParaRPr>
          </a:p>
          <a:p>
            <a:pPr marL="643255" lvl="1" indent="-182245">
              <a:lnSpc>
                <a:spcPct val="100000"/>
              </a:lnSpc>
              <a:spcBef>
                <a:spcPts val="910"/>
              </a:spcBef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VTP server is the default</a:t>
            </a:r>
            <a:r>
              <a:rPr lang="en-US" spc="2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mode.</a:t>
            </a:r>
            <a:endParaRPr lang="en-US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lang="en-US" dirty="0">
              <a:latin typeface="Times New Roman"/>
              <a:cs typeface="Times New Roman"/>
            </a:endParaRPr>
          </a:p>
          <a:p>
            <a:pPr marL="462280" indent="-269875">
              <a:lnSpc>
                <a:spcPct val="100000"/>
              </a:lnSpc>
              <a:buFont typeface="Wingdings"/>
              <a:buChar char=""/>
              <a:tabLst>
                <a:tab pos="461645" algn="l"/>
                <a:tab pos="46228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Client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643255" indent="-182245">
              <a:lnSpc>
                <a:spcPct val="100000"/>
              </a:lnSpc>
              <a:buFont typeface="Wingdings 2"/>
              <a:buChar char="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Cannot create, change, or delete VLANs on a VTP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client.</a:t>
            </a:r>
            <a:endParaRPr lang="en-US" dirty="0">
              <a:latin typeface="Times New Roman"/>
              <a:cs typeface="Times New Roman"/>
            </a:endParaRPr>
          </a:p>
          <a:p>
            <a:pPr marL="643255" indent="-181610">
              <a:lnSpc>
                <a:spcPct val="100000"/>
              </a:lnSpc>
              <a:spcBef>
                <a:spcPts val="625"/>
              </a:spcBef>
              <a:buFont typeface="Wingdings 2"/>
              <a:buChar char="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Receives information + sends/receives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updates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920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5636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VTP Modes of Operation (</a:t>
            </a:r>
            <a:r>
              <a:rPr lang="en-US" sz="4000" b="1" i="1" dirty="0" err="1"/>
              <a:t>cont</a:t>
            </a:r>
            <a:r>
              <a:rPr lang="en-US" sz="4000" b="1" i="1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2397500"/>
            <a:ext cx="8340436" cy="282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2280" indent="-269875">
              <a:lnSpc>
                <a:spcPct val="100000"/>
              </a:lnSpc>
              <a:buFont typeface="Wingdings"/>
              <a:buChar char=""/>
              <a:tabLst>
                <a:tab pos="46228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Transparent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"/>
            </a:pPr>
            <a:endParaRPr lang="en-US" dirty="0">
              <a:latin typeface="Times New Roman"/>
              <a:cs typeface="Times New Roman"/>
            </a:endParaRPr>
          </a:p>
          <a:p>
            <a:pPr marL="643255" lvl="1" indent="-182245">
              <a:lnSpc>
                <a:spcPct val="100000"/>
              </a:lnSpc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VTP transparent switches do not participate in</a:t>
            </a:r>
            <a:r>
              <a:rPr lang="en-US" spc="3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VTP.</a:t>
            </a:r>
          </a:p>
          <a:p>
            <a:pPr marL="643255" lvl="1" indent="-182245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A VTP transparent switch does not advertise its VLAN</a:t>
            </a:r>
            <a:r>
              <a:rPr lang="en-US" spc="5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configuration</a:t>
            </a:r>
            <a:endParaRPr lang="en-US" dirty="0">
              <a:latin typeface="Times New Roman"/>
              <a:cs typeface="Times New Roman"/>
            </a:endParaRPr>
          </a:p>
          <a:p>
            <a:pPr marL="643255" lvl="1" indent="-182245">
              <a:lnSpc>
                <a:spcPct val="100000"/>
              </a:lnSpc>
              <a:spcBef>
                <a:spcPts val="915"/>
              </a:spcBef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Receives information + sends/receives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updates</a:t>
            </a:r>
            <a:endParaRPr lang="en-US" dirty="0">
              <a:latin typeface="Times New Roman"/>
              <a:cs typeface="Times New Roman"/>
            </a:endParaRPr>
          </a:p>
          <a:p>
            <a:pPr marL="659765" marR="5080" lvl="1" indent="-198120">
              <a:lnSpc>
                <a:spcPct val="144200"/>
              </a:lnSpc>
              <a:spcBef>
                <a:spcPts val="275"/>
              </a:spcBef>
              <a:buSzPct val="116666"/>
              <a:buFont typeface="Symbol"/>
              <a:buChar char=""/>
              <a:tabLst>
                <a:tab pos="64389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Transparent switches do forward VTP advertisements that </a:t>
            </a:r>
            <a:r>
              <a:rPr lang="en-US" dirty="0">
                <a:latin typeface="Times New Roman"/>
                <a:cs typeface="Times New Roman"/>
              </a:rPr>
              <a:t>they </a:t>
            </a:r>
            <a:r>
              <a:rPr lang="en-US" spc="-5" dirty="0">
                <a:latin typeface="Times New Roman"/>
                <a:cs typeface="Times New Roman"/>
              </a:rPr>
              <a:t>receive out their trunk  ports in VTP Version</a:t>
            </a:r>
            <a:r>
              <a:rPr lang="en-US" spc="1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2.</a:t>
            </a:r>
            <a:endParaRPr lang="en-US" dirty="0">
              <a:latin typeface="Times New Roman"/>
              <a:cs typeface="Times New Roman"/>
            </a:endParaRPr>
          </a:p>
          <a:p>
            <a:pPr marL="462280" indent="-269875">
              <a:lnSpc>
                <a:spcPct val="100000"/>
              </a:lnSpc>
              <a:buFont typeface="Wingdings"/>
              <a:buChar char=""/>
              <a:tabLst>
                <a:tab pos="462280" algn="l"/>
              </a:tabLst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424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491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i="1" dirty="0"/>
              <a:t>VTP Modes of Operation (</a:t>
            </a:r>
            <a:r>
              <a:rPr lang="en-US" sz="4000" b="1" i="1" dirty="0" err="1"/>
              <a:t>cont</a:t>
            </a:r>
            <a:r>
              <a:rPr lang="en-US" sz="4000" b="1" i="1" dirty="0"/>
              <a:t>…)</a:t>
            </a:r>
            <a:endParaRPr lang="en-US" sz="4000" dirty="0"/>
          </a:p>
        </p:txBody>
      </p:sp>
      <p:sp>
        <p:nvSpPr>
          <p:cNvPr id="4" name="object 3"/>
          <p:cNvSpPr/>
          <p:nvPr/>
        </p:nvSpPr>
        <p:spPr>
          <a:xfrm>
            <a:off x="318655" y="2916381"/>
            <a:ext cx="8271164" cy="20712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8647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94" y="2119416"/>
            <a:ext cx="75893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2"/>
              </a:rPr>
              <a:t>https://www.geeksforgeeks.org/basics-computer-networking/</a:t>
            </a:r>
            <a:endParaRPr lang="en-US" sz="2000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https://www.tutorialspoint.com/computer_fundamentals/computer_networking.htm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389DD-4CDA-4C45-A68C-DC9EEB6DC9BD}"/>
              </a:ext>
            </a:extLst>
          </p:cNvPr>
          <p:cNvSpPr txBox="1">
            <a:spLocks/>
          </p:cNvSpPr>
          <p:nvPr/>
        </p:nvSpPr>
        <p:spPr>
          <a:xfrm>
            <a:off x="-284019" y="1271443"/>
            <a:ext cx="9289474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cb1aed282deb53376718859fe67fe0d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396A25-C579-40DE-8CE5-FAC5FCEC1FA5}"/>
</file>

<file path=customXml/itemProps2.xml><?xml version="1.0" encoding="utf-8"?>
<ds:datastoreItem xmlns:ds="http://schemas.openxmlformats.org/officeDocument/2006/customXml" ds:itemID="{077D28CC-78D8-4905-AD44-A37B36A08C72}"/>
</file>

<file path=customXml/itemProps3.xml><?xml version="1.0" encoding="utf-8"?>
<ds:datastoreItem xmlns:ds="http://schemas.openxmlformats.org/officeDocument/2006/customXml" ds:itemID="{52D9619F-2C32-4894-94DB-8F6F517C7454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515</TotalTime>
  <Words>1214</Words>
  <Application>Microsoft Office PowerPoint</Application>
  <PresentationFormat>On-screen Show (4:3)</PresentationFormat>
  <Paragraphs>130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Corbel</vt:lpstr>
      <vt:lpstr>Courier New</vt:lpstr>
      <vt:lpstr>Symbol</vt:lpstr>
      <vt:lpstr>Times New Roman</vt:lpstr>
      <vt:lpstr>Wingdings</vt:lpstr>
      <vt:lpstr>Wingdings 2</vt:lpstr>
      <vt:lpstr>Spectrum</vt:lpstr>
      <vt:lpstr>VLAN &amp; VTP</vt:lpstr>
      <vt:lpstr>Lecture Outline</vt:lpstr>
      <vt:lpstr>Virtual LANs (VLANs)</vt:lpstr>
      <vt:lpstr>Virtual LANs (VLANs)</vt:lpstr>
      <vt:lpstr>Advantages of VLAN</vt:lpstr>
      <vt:lpstr>Advantages of VLAN (cont.)</vt:lpstr>
      <vt:lpstr>Advantages of VLAN (cont.)</vt:lpstr>
      <vt:lpstr>Advantages of VLAN (cont.)</vt:lpstr>
      <vt:lpstr>Trunk Port</vt:lpstr>
      <vt:lpstr>Trunk Port (cont.…)</vt:lpstr>
      <vt:lpstr>Trunking</vt:lpstr>
      <vt:lpstr>Router on a stick</vt:lpstr>
      <vt:lpstr>VTP Modes of Operation</vt:lpstr>
      <vt:lpstr>VTP Modes of Operation (cont…)</vt:lpstr>
      <vt:lpstr>VTP Modes of Operation (cont…)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MOUSUMI BALA</cp:lastModifiedBy>
  <cp:revision>248</cp:revision>
  <dcterms:created xsi:type="dcterms:W3CDTF">2018-12-10T17:20:29Z</dcterms:created>
  <dcterms:modified xsi:type="dcterms:W3CDTF">2025-12-14T01:53:27Z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