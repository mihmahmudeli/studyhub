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Masters/slideMaster1.xml" ContentType="application/vnd.openxmlformats-officedocument.presentationml.slideMaster+xml"/>
  <Override PartName="/ppt/slideLayouts/slideLayout1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ppt/changesInfos/changesInfo1.xml" ContentType="application/vnd.ms-powerpoint.changesinfo+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68" r:id="rId2"/>
    <p:sldId id="257" r:id="rId3"/>
    <p:sldId id="266" r:id="rId4"/>
    <p:sldId id="267" r:id="rId5"/>
    <p:sldId id="269" r:id="rId6"/>
    <p:sldId id="276" r:id="rId7"/>
    <p:sldId id="288" r:id="rId8"/>
    <p:sldId id="275" r:id="rId9"/>
    <p:sldId id="279" r:id="rId10"/>
    <p:sldId id="297" r:id="rId11"/>
    <p:sldId id="277" r:id="rId12"/>
    <p:sldId id="274" r:id="rId13"/>
    <p:sldId id="273" r:id="rId14"/>
    <p:sldId id="272" r:id="rId15"/>
    <p:sldId id="298" r:id="rId16"/>
    <p:sldId id="280" r:id="rId17"/>
    <p:sldId id="289" r:id="rId18"/>
    <p:sldId id="299" r:id="rId19"/>
    <p:sldId id="265" r:id="rId20"/>
    <p:sldId id="287"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249" autoAdjust="0"/>
  </p:normalViewPr>
  <p:slideViewPr>
    <p:cSldViewPr snapToGrid="0" snapToObjects="1">
      <p:cViewPr varScale="1">
        <p:scale>
          <a:sx n="59" d="100"/>
          <a:sy n="59" d="100"/>
        </p:scale>
        <p:origin x="1500" y="52"/>
      </p:cViewPr>
      <p:guideLst>
        <p:guide orient="horz" pos="2160"/>
        <p:guide pos="2880"/>
      </p:guideLst>
    </p:cSldViewPr>
  </p:slideViewPr>
  <p:outlineViewPr>
    <p:cViewPr>
      <p:scale>
        <a:sx n="33" d="100"/>
        <a:sy n="33" d="100"/>
      </p:scale>
      <p:origin x="0" y="-2496"/>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 Id="rId30"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d Mehedi Hasan" userId="5eb39d97-deb0-466a-af4c-298e34812974" providerId="ADAL" clId="{1171BC4F-3547-41F0-8684-B0A2082C3212}"/>
    <pc:docChg chg="modSld">
      <pc:chgData name="Dr. Md Mehedi Hasan" userId="5eb39d97-deb0-466a-af4c-298e34812974" providerId="ADAL" clId="{1171BC4F-3547-41F0-8684-B0A2082C3212}" dt="2023-03-13T06:12:36.938" v="0"/>
      <pc:docMkLst>
        <pc:docMk/>
      </pc:docMkLst>
      <pc:sldChg chg="modSp mod">
        <pc:chgData name="Dr. Md Mehedi Hasan" userId="5eb39d97-deb0-466a-af4c-298e34812974" providerId="ADAL" clId="{1171BC4F-3547-41F0-8684-B0A2082C3212}" dt="2023-03-13T06:12:36.938" v="0"/>
        <pc:sldMkLst>
          <pc:docMk/>
          <pc:sldMk cId="1364228296" sldId="268"/>
        </pc:sldMkLst>
      </pc:sldChg>
    </pc:docChg>
  </pc:docChgLst>
  <pc:docChgLst>
    <pc:chgData name="Dr. Md Mehedi Hasan" userId="5eb39d97-deb0-466a-af4c-298e34812974" providerId="ADAL" clId="{8D29747C-5F95-4C9C-BCCD-9CBA370E0ED5}"/>
    <pc:docChg chg="undo custSel modSld">
      <pc:chgData name="Dr. Md Mehedi Hasan" userId="5eb39d97-deb0-466a-af4c-298e34812974" providerId="ADAL" clId="{8D29747C-5F95-4C9C-BCCD-9CBA370E0ED5}" dt="2022-11-13T08:01:52.564" v="51" actId="14100"/>
      <pc:docMkLst>
        <pc:docMk/>
      </pc:docMkLst>
      <pc:sldChg chg="modSp mod">
        <pc:chgData name="Dr. Md Mehedi Hasan" userId="5eb39d97-deb0-466a-af4c-298e34812974" providerId="ADAL" clId="{8D29747C-5F95-4C9C-BCCD-9CBA370E0ED5}" dt="2022-11-13T05:45:07.007" v="21" actId="20577"/>
        <pc:sldMkLst>
          <pc:docMk/>
          <pc:sldMk cId="1364228296" sldId="268"/>
        </pc:sldMkLst>
      </pc:sldChg>
      <pc:sldChg chg="addSp delSp modSp mod">
        <pc:chgData name="Dr. Md Mehedi Hasan" userId="5eb39d97-deb0-466a-af4c-298e34812974" providerId="ADAL" clId="{8D29747C-5F95-4C9C-BCCD-9CBA370E0ED5}" dt="2022-11-13T08:01:52.564" v="51" actId="14100"/>
        <pc:sldMkLst>
          <pc:docMk/>
          <pc:sldMk cId="2190714301" sldId="280"/>
        </pc:sldMkLst>
      </pc:sldChg>
    </pc:docChg>
  </pc:docChgLst>
  <pc:docChgLst>
    <pc:chgData name="Dr. Md Mehedi Hasan" userId="5eb39d97-deb0-466a-af4c-298e34812974" providerId="ADAL" clId="{3EF9941A-3E16-4D46-A18A-740CBA3AA323}"/>
    <pc:docChg chg="modSld">
      <pc:chgData name="Dr. Md Mehedi Hasan" userId="5eb39d97-deb0-466a-af4c-298e34812974" providerId="ADAL" clId="{3EF9941A-3E16-4D46-A18A-740CBA3AA323}" dt="2022-12-07T05:40:29.178" v="3" actId="20577"/>
      <pc:docMkLst>
        <pc:docMk/>
      </pc:docMkLst>
      <pc:sldChg chg="modSp mod">
        <pc:chgData name="Dr. Md Mehedi Hasan" userId="5eb39d97-deb0-466a-af4c-298e34812974" providerId="ADAL" clId="{3EF9941A-3E16-4D46-A18A-740CBA3AA323}" dt="2022-12-07T05:40:29.178" v="3" actId="20577"/>
        <pc:sldMkLst>
          <pc:docMk/>
          <pc:sldMk cId="1364228296" sldId="268"/>
        </pc:sldMkLst>
      </pc:sldChg>
    </pc:docChg>
  </pc:docChgLst>
  <pc:docChgLst>
    <pc:chgData name="Dr. Md Mehedi Hasan" userId="S::mmhasan@aiub.edu::5eb39d97-deb0-466a-af4c-298e34812974" providerId="AD" clId="Web-{A0E04FD3-137D-E1EA-76B2-DEB5CDF88978}"/>
    <pc:docChg chg="modSld">
      <pc:chgData name="Dr. Md Mehedi Hasan" userId="S::mmhasan@aiub.edu::5eb39d97-deb0-466a-af4c-298e34812974" providerId="AD" clId="Web-{A0E04FD3-137D-E1EA-76B2-DEB5CDF88978}" dt="2023-12-04T06:28:24.312" v="17"/>
      <pc:docMkLst>
        <pc:docMk/>
      </pc:docMkLst>
      <pc:sldChg chg="modSp">
        <pc:chgData name="Dr. Md Mehedi Hasan" userId="S::mmhasan@aiub.edu::5eb39d97-deb0-466a-af4c-298e34812974" providerId="AD" clId="Web-{A0E04FD3-137D-E1EA-76B2-DEB5CDF88978}" dt="2023-12-04T06:28:24.312" v="17"/>
        <pc:sldMkLst>
          <pc:docMk/>
          <pc:sldMk cId="1364228296" sldId="268"/>
        </pc:sldMkLst>
      </pc:sldChg>
    </pc:docChg>
  </pc:docChgLst>
  <pc:docChgLst>
    <pc:chgData name="Dr. Md Mehedi Hasan" userId="239fb861-385a-4bac-bb29-9c26fc54d0ba" providerId="ADAL" clId="{FD3DDB9A-D20A-4048-8618-69ADD3BB92A9}"/>
    <pc:docChg chg="modSld">
      <pc:chgData name="Dr. Md Mehedi Hasan" userId="239fb861-385a-4bac-bb29-9c26fc54d0ba" providerId="ADAL" clId="{FD3DDB9A-D20A-4048-8618-69ADD3BB92A9}" dt="2025-01-12T12:50:02.464" v="11" actId="20577"/>
      <pc:docMkLst>
        <pc:docMk/>
      </pc:docMkLst>
      <pc:sldChg chg="modSp mod">
        <pc:chgData name="Dr. Md Mehedi Hasan" userId="239fb861-385a-4bac-bb29-9c26fc54d0ba" providerId="ADAL" clId="{FD3DDB9A-D20A-4048-8618-69ADD3BB92A9}" dt="2025-01-12T12:50:02.464" v="11" actId="20577"/>
        <pc:sldMkLst>
          <pc:docMk/>
          <pc:sldMk cId="1364228296" sldId="268"/>
        </pc:sldMkLst>
        <pc:graphicFrameChg chg="modGraphic">
          <ac:chgData name="Dr. Md Mehedi Hasan" userId="239fb861-385a-4bac-bb29-9c26fc54d0ba" providerId="ADAL" clId="{FD3DDB9A-D20A-4048-8618-69ADD3BB92A9}" dt="2025-01-12T12:50:02.464" v="11" actId="20577"/>
          <ac:graphicFrameMkLst>
            <pc:docMk/>
            <pc:sldMk cId="1364228296" sldId="268"/>
            <ac:graphicFrameMk id="9" creationId="{9E2C66DC-BA9D-4CC8-A6A8-FF82266F0466}"/>
          </ac:graphicFrameMkLst>
        </pc:graphicFrameChg>
      </pc:sldChg>
    </pc:docChg>
  </pc:docChgLst>
  <pc:docChgLst>
    <pc:chgData name="Dr. Md Mehedi Hasan" userId="5eb39d97-deb0-466a-af4c-298e34812974" providerId="ADAL" clId="{2EBC7EF5-36E5-4436-9F8E-1140EDE40668}"/>
    <pc:docChg chg="undo custSel addSld delSld modSld">
      <pc:chgData name="Dr. Md Mehedi Hasan" userId="5eb39d97-deb0-466a-af4c-298e34812974" providerId="ADAL" clId="{2EBC7EF5-36E5-4436-9F8E-1140EDE40668}" dt="2023-04-10T06:23:32.280" v="56" actId="20577"/>
      <pc:docMkLst>
        <pc:docMk/>
      </pc:docMkLst>
      <pc:sldChg chg="modSp mod">
        <pc:chgData name="Dr. Md Mehedi Hasan" userId="5eb39d97-deb0-466a-af4c-298e34812974" providerId="ADAL" clId="{2EBC7EF5-36E5-4436-9F8E-1140EDE40668}" dt="2023-04-10T06:19:02.456" v="18" actId="20577"/>
        <pc:sldMkLst>
          <pc:docMk/>
          <pc:sldMk cId="1364228296" sldId="268"/>
        </pc:sldMkLst>
      </pc:sldChg>
      <pc:sldChg chg="modSp mod">
        <pc:chgData name="Dr. Md Mehedi Hasan" userId="5eb39d97-deb0-466a-af4c-298e34812974" providerId="ADAL" clId="{2EBC7EF5-36E5-4436-9F8E-1140EDE40668}" dt="2023-04-10T06:23:32.280" v="56" actId="20577"/>
        <pc:sldMkLst>
          <pc:docMk/>
          <pc:sldMk cId="2190714301" sldId="280"/>
        </pc:sldMkLst>
      </pc:sldChg>
      <pc:sldChg chg="delSp modSp mod modClrScheme chgLayout">
        <pc:chgData name="Dr. Md Mehedi Hasan" userId="5eb39d97-deb0-466a-af4c-298e34812974" providerId="ADAL" clId="{2EBC7EF5-36E5-4436-9F8E-1140EDE40668}" dt="2023-04-10T06:22:44.391" v="42"/>
        <pc:sldMkLst>
          <pc:docMk/>
          <pc:sldMk cId="4181236981" sldId="289"/>
        </pc:sldMkLst>
      </pc:sldChg>
      <pc:sldChg chg="del">
        <pc:chgData name="Dr. Md Mehedi Hasan" userId="5eb39d97-deb0-466a-af4c-298e34812974" providerId="ADAL" clId="{2EBC7EF5-36E5-4436-9F8E-1140EDE40668}" dt="2023-04-10T06:19:48.314" v="19" actId="47"/>
        <pc:sldMkLst>
          <pc:docMk/>
          <pc:sldMk cId="2776865448" sldId="291"/>
        </pc:sldMkLst>
      </pc:sldChg>
      <pc:sldChg chg="del">
        <pc:chgData name="Dr. Md Mehedi Hasan" userId="5eb39d97-deb0-466a-af4c-298e34812974" providerId="ADAL" clId="{2EBC7EF5-36E5-4436-9F8E-1140EDE40668}" dt="2023-04-10T06:19:48.314" v="19" actId="47"/>
        <pc:sldMkLst>
          <pc:docMk/>
          <pc:sldMk cId="679282177" sldId="292"/>
        </pc:sldMkLst>
      </pc:sldChg>
      <pc:sldChg chg="del">
        <pc:chgData name="Dr. Md Mehedi Hasan" userId="5eb39d97-deb0-466a-af4c-298e34812974" providerId="ADAL" clId="{2EBC7EF5-36E5-4436-9F8E-1140EDE40668}" dt="2023-04-10T06:19:48.314" v="19" actId="47"/>
        <pc:sldMkLst>
          <pc:docMk/>
          <pc:sldMk cId="2551008564" sldId="293"/>
        </pc:sldMkLst>
      </pc:sldChg>
      <pc:sldChg chg="del">
        <pc:chgData name="Dr. Md Mehedi Hasan" userId="5eb39d97-deb0-466a-af4c-298e34812974" providerId="ADAL" clId="{2EBC7EF5-36E5-4436-9F8E-1140EDE40668}" dt="2023-04-10T06:19:48.314" v="19" actId="47"/>
        <pc:sldMkLst>
          <pc:docMk/>
          <pc:sldMk cId="2903904169" sldId="294"/>
        </pc:sldMkLst>
      </pc:sldChg>
      <pc:sldChg chg="del">
        <pc:chgData name="Dr. Md Mehedi Hasan" userId="5eb39d97-deb0-466a-af4c-298e34812974" providerId="ADAL" clId="{2EBC7EF5-36E5-4436-9F8E-1140EDE40668}" dt="2023-04-10T06:19:48.314" v="19" actId="47"/>
        <pc:sldMkLst>
          <pc:docMk/>
          <pc:sldMk cId="1111902746" sldId="295"/>
        </pc:sldMkLst>
      </pc:sldChg>
      <pc:sldChg chg="del">
        <pc:chgData name="Dr. Md Mehedi Hasan" userId="5eb39d97-deb0-466a-af4c-298e34812974" providerId="ADAL" clId="{2EBC7EF5-36E5-4436-9F8E-1140EDE40668}" dt="2023-04-10T06:19:48.314" v="19" actId="47"/>
        <pc:sldMkLst>
          <pc:docMk/>
          <pc:sldMk cId="1603717661" sldId="296"/>
        </pc:sldMkLst>
      </pc:sldChg>
      <pc:sldChg chg="add">
        <pc:chgData name="Dr. Md Mehedi Hasan" userId="5eb39d97-deb0-466a-af4c-298e34812974" providerId="ADAL" clId="{2EBC7EF5-36E5-4436-9F8E-1140EDE40668}" dt="2023-04-10T06:22:15.546" v="36" actId="2890"/>
        <pc:sldMkLst>
          <pc:docMk/>
          <pc:sldMk cId="2076372908" sldId="299"/>
        </pc:sldMkLst>
      </pc:sldChg>
    </pc:docChg>
  </pc:docChgLst>
  <pc:docChgLst>
    <pc:chgData name="Dr. Md Mehedi Hasan" userId="5eb39d97-deb0-466a-af4c-298e34812974" providerId="ADAL" clId="{3CA7CB76-7431-46A6-B5D6-D51A3EB3DAE5}"/>
    <pc:docChg chg="custSel addSld modSld">
      <pc:chgData name="Dr. Md Mehedi Hasan" userId="5eb39d97-deb0-466a-af4c-298e34812974" providerId="ADAL" clId="{3CA7CB76-7431-46A6-B5D6-D51A3EB3DAE5}" dt="2022-11-13T09:45:58.851" v="112" actId="20577"/>
      <pc:docMkLst>
        <pc:docMk/>
      </pc:docMkLst>
      <pc:sldChg chg="addSp modSp new mod">
        <pc:chgData name="Dr. Md Mehedi Hasan" userId="5eb39d97-deb0-466a-af4c-298e34812974" providerId="ADAL" clId="{3CA7CB76-7431-46A6-B5D6-D51A3EB3DAE5}" dt="2022-11-13T09:45:58.851" v="112" actId="20577"/>
        <pc:sldMkLst>
          <pc:docMk/>
          <pc:sldMk cId="723364803" sldId="2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9C9D70-7A32-4ABE-A755-D672479F659D}" type="datetimeFigureOut">
              <a:rPr lang="en-US" smtClean="0"/>
              <a:t>12/23/2025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C581CE-6924-44A6-808F-E5D705336DC1}" type="slidenum">
              <a:rPr lang="en-US" smtClean="0"/>
              <a:t>‹#›</a:t>
            </a:fld>
            <a:endParaRPr lang="en-US"/>
          </a:p>
        </p:txBody>
      </p:sp>
    </p:spTree>
    <p:extLst>
      <p:ext uri="{BB962C8B-B14F-4D97-AF65-F5344CB8AC3E}">
        <p14:creationId xmlns:p14="http://schemas.microsoft.com/office/powerpoint/2010/main" val="3183130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12/23/2025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12/23/2025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12/23/2025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12/23/2025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Transport </a:t>
            </a:r>
            <a:r>
              <a:rPr lang="en-US"/>
              <a:t>Layer Protocols II</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a:t>
            </a:r>
            <a:r>
              <a:rPr lang="en-US"/>
              <a:t>: COE 3206</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p:txBody>
      </p:sp>
      <p:graphicFrame>
        <p:nvGraphicFramePr>
          <p:cNvPr id="9" name="Table 8">
            <a:extLst>
              <a:ext uri="{FF2B5EF4-FFF2-40B4-BE49-F238E27FC236}">
                <a16:creationId xmlns:a16="http://schemas.microsoft.com/office/drawing/2014/main" id="{9E2C66DC-BA9D-4CC8-A6A8-FF82266F0466}"/>
              </a:ext>
            </a:extLst>
          </p:cNvPr>
          <p:cNvGraphicFramePr>
            <a:graphicFrameLocks noGrp="1"/>
          </p:cNvGraphicFramePr>
          <p:nvPr>
            <p:extLst>
              <p:ext uri="{D42A27DB-BD31-4B8C-83A1-F6EECF244321}">
                <p14:modId xmlns:p14="http://schemas.microsoft.com/office/powerpoint/2010/main" val="1929438002"/>
              </p:ext>
            </p:extLst>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990600">
                  <a:extLst>
                    <a:ext uri="{9D8B030D-6E8A-4147-A177-3AD203B41FA5}">
                      <a16:colId xmlns:a16="http://schemas.microsoft.com/office/drawing/2014/main" val="2889894460"/>
                    </a:ext>
                  </a:extLst>
                </a:gridCol>
                <a:gridCol w="1208314">
                  <a:extLst>
                    <a:ext uri="{9D8B030D-6E8A-4147-A177-3AD203B41FA5}">
                      <a16:colId xmlns:a16="http://schemas.microsoft.com/office/drawing/2014/main" val="3023211198"/>
                    </a:ext>
                  </a:extLst>
                </a:gridCol>
                <a:gridCol w="1110343">
                  <a:extLst>
                    <a:ext uri="{9D8B030D-6E8A-4147-A177-3AD203B41FA5}">
                      <a16:colId xmlns:a16="http://schemas.microsoft.com/office/drawing/2014/main" val="1762131981"/>
                    </a:ext>
                  </a:extLst>
                </a:gridCol>
                <a:gridCol w="1208314">
                  <a:extLst>
                    <a:ext uri="{9D8B030D-6E8A-4147-A177-3AD203B41FA5}">
                      <a16:colId xmlns:a16="http://schemas.microsoft.com/office/drawing/2014/main" val="445458238"/>
                    </a:ext>
                  </a:extLst>
                </a:gridCol>
                <a:gridCol w="233500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pPr algn="ctr"/>
                      <a:endParaRPr lang="en-US" b="0" dirty="0"/>
                    </a:p>
                  </a:txBody>
                  <a:tcPr/>
                </a:tc>
                <a:tc>
                  <a:txBody>
                    <a:bodyPr/>
                    <a:lstStyle/>
                    <a:p>
                      <a:r>
                        <a:rPr lang="en-US" dirty="0"/>
                        <a:t>Week No:</a:t>
                      </a:r>
                    </a:p>
                  </a:txBody>
                  <a:tcPr/>
                </a:tc>
                <a:tc>
                  <a:txBody>
                    <a:bodyPr/>
                    <a:lstStyle/>
                    <a:p>
                      <a:pPr algn="ctr"/>
                      <a:endParaRPr lang="en-US" b="0" dirty="0"/>
                    </a:p>
                  </a:txBody>
                  <a:tcPr/>
                </a:tc>
                <a:tc>
                  <a:txBody>
                    <a:bodyPr/>
                    <a:lstStyle/>
                    <a:p>
                      <a:r>
                        <a:rPr lang="en-US" dirty="0"/>
                        <a:t>Semester:</a:t>
                      </a:r>
                    </a:p>
                  </a:txBody>
                  <a:tcPr/>
                </a:tc>
                <a:tc>
                  <a:txBody>
                    <a:bodyPr/>
                    <a:lstStyle/>
                    <a:p>
                      <a:r>
                        <a:rPr lang="en-US" b="0" dirty="0"/>
                        <a:t>Fall 24-25</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Assistant Professor:</a:t>
                      </a:r>
                    </a:p>
                  </a:txBody>
                  <a:tcPr/>
                </a:tc>
                <a:tc gridSpan="5">
                  <a:txBody>
                    <a:bodyPr/>
                    <a:lstStyle/>
                    <a:p>
                      <a:r>
                        <a:rPr lang="en-US" i="1" dirty="0"/>
                        <a:t>Dr. Mousumi Bala; </a:t>
                      </a:r>
                      <a:r>
                        <a:rPr lang="en-US" i="1" dirty="0">
                          <a:hlinkClick r:id="" action="ppaction://noaction"/>
                        </a:rPr>
                        <a:t>mousumi.bala@aiub.edu</a:t>
                      </a:r>
                      <a:r>
                        <a:rPr lang="en-US" i="1" dirty="0"/>
                        <a:t> </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Tree>
    <p:extLst>
      <p:ext uri="{BB962C8B-B14F-4D97-AF65-F5344CB8AC3E}">
        <p14:creationId xmlns:p14="http://schemas.microsoft.com/office/powerpoint/2010/main" val="1364228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latin typeface="Perpetua" panose="02020502060401020303" pitchFamily="18" charset="0"/>
              </a:rPr>
              <a:t>Congestion in networks</a:t>
            </a:r>
          </a:p>
          <a:p>
            <a:pPr marL="342900" indent="-342900">
              <a:buAutoNum type="arabicPeriod"/>
            </a:pPr>
            <a:r>
              <a:rPr lang="en-US" sz="2400" dirty="0">
                <a:solidFill>
                  <a:schemeClr val="tx1"/>
                </a:solidFill>
                <a:latin typeface="Perpetua" panose="02020502060401020303" pitchFamily="18" charset="0"/>
              </a:rPr>
              <a:t>Congestion control</a:t>
            </a:r>
          </a:p>
          <a:p>
            <a:pPr marL="914400" lvl="1" indent="-457200" algn="l">
              <a:buFont typeface="Wingdings" panose="05000000000000000000" pitchFamily="2" charset="2"/>
              <a:buChar char="§"/>
            </a:pPr>
            <a:r>
              <a:rPr lang="en-US" dirty="0">
                <a:solidFill>
                  <a:schemeClr val="tx1"/>
                </a:solidFill>
                <a:latin typeface="Perpetua" panose="02020502060401020303" pitchFamily="18" charset="0"/>
              </a:rPr>
              <a:t>TCP Reno</a:t>
            </a:r>
          </a:p>
          <a:p>
            <a:pPr marL="342900" indent="-342900">
              <a:buAutoNum type="arabicPeriod"/>
            </a:pPr>
            <a:r>
              <a:rPr lang="en-US" sz="2400" dirty="0">
                <a:solidFill>
                  <a:schemeClr val="tx1"/>
                </a:solidFill>
                <a:latin typeface="Perpetua" panose="02020502060401020303" pitchFamily="18" charset="0"/>
              </a:rPr>
              <a:t>Error control principle</a:t>
            </a:r>
          </a:p>
          <a:p>
            <a:pPr marL="914400" lvl="1" indent="-457200" algn="l">
              <a:buFont typeface="Wingdings" panose="05000000000000000000" pitchFamily="2" charset="2"/>
              <a:buChar char="§"/>
            </a:pPr>
            <a:r>
              <a:rPr lang="en-US" dirty="0">
                <a:solidFill>
                  <a:schemeClr val="tx1"/>
                </a:solidFill>
                <a:latin typeface="Perpetua" panose="02020502060401020303" pitchFamily="18" charset="0"/>
              </a:rPr>
              <a:t>Sliding window technique</a:t>
            </a:r>
          </a:p>
          <a:p>
            <a:pPr marL="800100" lvl="1" indent="-342900" algn="l">
              <a:buAutoNum type="arabicPeriod"/>
            </a:pPr>
            <a:endParaRPr lang="en-US" sz="28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in networks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3" name="Rectangle 2">
            <a:extLst>
              <a:ext uri="{FF2B5EF4-FFF2-40B4-BE49-F238E27FC236}">
                <a16:creationId xmlns:a16="http://schemas.microsoft.com/office/drawing/2014/main" id="{A95BD878-C0CB-4D0A-921C-EEE48B8387A4}"/>
              </a:ext>
            </a:extLst>
          </p:cNvPr>
          <p:cNvSpPr/>
          <p:nvPr/>
        </p:nvSpPr>
        <p:spPr>
          <a:xfrm>
            <a:off x="272144" y="2084818"/>
            <a:ext cx="8395651" cy="2800767"/>
          </a:xfrm>
          <a:prstGeom prst="rect">
            <a:avLst/>
          </a:prstGeom>
        </p:spPr>
        <p:txBody>
          <a:bodyPr wrap="square">
            <a:spAutoFit/>
          </a:bodyPr>
          <a:lstStyle/>
          <a:p>
            <a:pPr marL="342900" indent="-342900" algn="just">
              <a:buFont typeface="Wingdings" panose="05000000000000000000" pitchFamily="2" charset="2"/>
              <a:buChar char="q"/>
            </a:pPr>
            <a:r>
              <a:rPr lang="en-US" sz="2200" b="1" dirty="0">
                <a:latin typeface="Perpetua" panose="02020502060401020303" pitchFamily="18" charset="0"/>
                <a:cs typeface="Calibri" panose="020F0502020204030204" pitchFamily="34" charset="0"/>
              </a:rPr>
              <a:t>Congestion</a:t>
            </a:r>
          </a:p>
          <a:p>
            <a:pPr algn="just"/>
            <a:r>
              <a:rPr lang="en-US" sz="2200" dirty="0">
                <a:latin typeface="Perpetua" panose="02020502060401020303" pitchFamily="18" charset="0"/>
                <a:cs typeface="Calibri" panose="020F0502020204030204" pitchFamily="34" charset="0"/>
              </a:rPr>
              <a:t>Congestion is a situation in a network in which the load on the network, the number of packets sent to the network, is greater than the capacity of the network, the number of packets a network can handle. </a:t>
            </a:r>
          </a:p>
          <a:p>
            <a:pPr algn="just"/>
            <a:endParaRPr lang="en-US" sz="2200" dirty="0">
              <a:latin typeface="Perpetua" panose="02020502060401020303" pitchFamily="18" charset="0"/>
              <a:cs typeface="Calibri" panose="020F0502020204030204" pitchFamily="34" charset="0"/>
            </a:endParaRPr>
          </a:p>
          <a:p>
            <a:pPr marL="342900" indent="-342900" algn="just">
              <a:buFont typeface="Wingdings" panose="05000000000000000000" pitchFamily="2" charset="2"/>
              <a:buChar char="q"/>
            </a:pPr>
            <a:r>
              <a:rPr lang="en-US" sz="2200" b="1" dirty="0">
                <a:latin typeface="Perpetua" panose="02020502060401020303" pitchFamily="18" charset="0"/>
                <a:cs typeface="Calibri" panose="020F0502020204030204" pitchFamily="34" charset="0"/>
              </a:rPr>
              <a:t>Congestion control</a:t>
            </a:r>
          </a:p>
          <a:p>
            <a:pPr algn="just"/>
            <a:r>
              <a:rPr lang="en-US" sz="2200" dirty="0">
                <a:latin typeface="Perpetua" panose="02020502060401020303" pitchFamily="18" charset="0"/>
                <a:cs typeface="Calibri" panose="020F0502020204030204" pitchFamily="34" charset="0"/>
              </a:rPr>
              <a:t>Congestion control refers to the mechanisms and techniques to control the congestion and keep the load below the capacity [1].</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in networks…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3" name="Rectangle 2">
            <a:extLst>
              <a:ext uri="{FF2B5EF4-FFF2-40B4-BE49-F238E27FC236}">
                <a16:creationId xmlns:a16="http://schemas.microsoft.com/office/drawing/2014/main" id="{022A1CC0-AF8E-4D42-BCCE-3BBE6BAAAA60}"/>
              </a:ext>
            </a:extLst>
          </p:cNvPr>
          <p:cNvSpPr/>
          <p:nvPr/>
        </p:nvSpPr>
        <p:spPr>
          <a:xfrm>
            <a:off x="421341" y="2274838"/>
            <a:ext cx="8276345" cy="4278094"/>
          </a:xfrm>
          <a:prstGeom prst="rect">
            <a:avLst/>
          </a:prstGeom>
        </p:spPr>
        <p:txBody>
          <a:bodyPr wrap="square">
            <a:spAutoFit/>
          </a:bodyPr>
          <a:lstStyle/>
          <a:p>
            <a:pPr marL="285750" indent="-285750" algn="just">
              <a:buFont typeface="Wingdings" panose="05000000000000000000" pitchFamily="2" charset="2"/>
              <a:buChar char="§"/>
            </a:pPr>
            <a:r>
              <a:rPr lang="en-US" sz="2200" dirty="0">
                <a:latin typeface="Perpetua" panose="02020502060401020303" pitchFamily="18" charset="0"/>
                <a:cs typeface="Calibri" panose="020F0502020204030204" pitchFamily="34" charset="0"/>
              </a:rPr>
              <a:t>Congestion in a network or internetwork occurs because routers and switches have queues-buffers that hold the packets before and after processing. </a:t>
            </a:r>
          </a:p>
          <a:p>
            <a:pPr marL="285750" indent="-285750" algn="just">
              <a:buFont typeface="Wingdings" panose="05000000000000000000" pitchFamily="2" charset="2"/>
              <a:buChar char="§"/>
            </a:pPr>
            <a:r>
              <a:rPr lang="en-US" sz="2200" dirty="0">
                <a:latin typeface="Perpetua" panose="02020502060401020303" pitchFamily="18" charset="0"/>
                <a:cs typeface="Calibri" panose="020F0502020204030204" pitchFamily="34" charset="0"/>
              </a:rPr>
              <a:t>A router, for example, has an input queue and an output queue for each interface. </a:t>
            </a:r>
          </a:p>
          <a:p>
            <a:pPr marL="285750" indent="-285750" algn="just">
              <a:buFont typeface="Wingdings" panose="05000000000000000000" pitchFamily="2" charset="2"/>
              <a:buChar char="§"/>
            </a:pPr>
            <a:r>
              <a:rPr lang="en-US" sz="2200" dirty="0">
                <a:latin typeface="Perpetua" panose="02020502060401020303" pitchFamily="18" charset="0"/>
                <a:cs typeface="Calibri" panose="020F0502020204030204" pitchFamily="34" charset="0"/>
              </a:rPr>
              <a:t>When a packet arrives at the incoming interface, it undergoes three steps before departing: </a:t>
            </a:r>
          </a:p>
          <a:p>
            <a:pPr lvl="1" algn="just"/>
            <a:r>
              <a:rPr lang="en-US" sz="2000" dirty="0">
                <a:latin typeface="Perpetua" panose="02020502060401020303" pitchFamily="18" charset="0"/>
                <a:cs typeface="Calibri" panose="020F0502020204030204" pitchFamily="34" charset="0"/>
              </a:rPr>
              <a:t>1. The packet is put at the end of the input queue while waiting to be checked.</a:t>
            </a:r>
          </a:p>
          <a:p>
            <a:pPr lvl="1" algn="just"/>
            <a:r>
              <a:rPr lang="en-US" sz="2000" dirty="0">
                <a:latin typeface="Perpetua" panose="02020502060401020303" pitchFamily="18" charset="0"/>
                <a:cs typeface="Calibri" panose="020F0502020204030204" pitchFamily="34" charset="0"/>
              </a:rPr>
              <a:t>2. The processing module of the router removes the packet from the input queue once it reaches the front of the queue and uses its routing table and the destination address to find the route.</a:t>
            </a:r>
          </a:p>
          <a:p>
            <a:pPr lvl="1" algn="just"/>
            <a:r>
              <a:rPr lang="en-US" sz="2000" dirty="0">
                <a:latin typeface="Perpetua" panose="02020502060401020303" pitchFamily="18" charset="0"/>
                <a:cs typeface="Calibri" panose="020F0502020204030204" pitchFamily="34" charset="0"/>
              </a:rPr>
              <a:t>3. The packet is put in the appropriate output queue and waits its turn to be sent.</a:t>
            </a:r>
          </a:p>
          <a:p>
            <a:pPr algn="just"/>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32154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in networks…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3" name="Rectangle 2">
            <a:extLst>
              <a:ext uri="{FF2B5EF4-FFF2-40B4-BE49-F238E27FC236}">
                <a16:creationId xmlns:a16="http://schemas.microsoft.com/office/drawing/2014/main" id="{9A1434D4-7B61-4A9D-9576-90633F930CC3}"/>
              </a:ext>
            </a:extLst>
          </p:cNvPr>
          <p:cNvSpPr/>
          <p:nvPr/>
        </p:nvSpPr>
        <p:spPr>
          <a:xfrm>
            <a:off x="421341" y="2136339"/>
            <a:ext cx="8319888" cy="1785104"/>
          </a:xfrm>
          <a:prstGeom prst="rect">
            <a:avLst/>
          </a:prstGeom>
        </p:spPr>
        <p:txBody>
          <a:bodyPr wrap="square">
            <a:spAutoFit/>
          </a:bodyPr>
          <a:lstStyle/>
          <a:p>
            <a:pPr marL="285750" indent="-285750" algn="just">
              <a:buClr>
                <a:srgbClr val="C00000"/>
              </a:buClr>
              <a:buFont typeface="Wingdings" panose="05000000000000000000" pitchFamily="2" charset="2"/>
              <a:buChar char="v"/>
            </a:pPr>
            <a:r>
              <a:rPr lang="en-US" sz="2200" b="1" dirty="0">
                <a:latin typeface="Perpetua" panose="02020502060401020303" pitchFamily="18" charset="0"/>
                <a:cs typeface="Calibri" panose="020F0502020204030204" pitchFamily="34" charset="0"/>
              </a:rPr>
              <a:t>Two possible scenarios in a router:</a:t>
            </a:r>
          </a:p>
          <a:p>
            <a:pPr marL="800100" lvl="1" indent="-342900" algn="just">
              <a:buFont typeface="+mj-lt"/>
              <a:buAutoNum type="arabicPeriod"/>
            </a:pPr>
            <a:r>
              <a:rPr lang="en-US" sz="2200" dirty="0">
                <a:latin typeface="Perpetua" panose="02020502060401020303" pitchFamily="18" charset="0"/>
                <a:cs typeface="Calibri" panose="020F0502020204030204" pitchFamily="34" charset="0"/>
              </a:rPr>
              <a:t>Packet arrival rate &gt; packet processing rate, </a:t>
            </a:r>
          </a:p>
          <a:p>
            <a:pPr lvl="1" algn="just"/>
            <a:r>
              <a:rPr lang="en-US" sz="2200" dirty="0">
                <a:latin typeface="Perpetua" panose="02020502060401020303" pitchFamily="18" charset="0"/>
                <a:cs typeface="Calibri" panose="020F0502020204030204" pitchFamily="34" charset="0"/>
              </a:rPr>
              <a:t>		the input queues become longer and longer. </a:t>
            </a:r>
          </a:p>
          <a:p>
            <a:pPr lvl="1" algn="just"/>
            <a:r>
              <a:rPr lang="en-US" sz="2200" dirty="0">
                <a:latin typeface="Perpetua" panose="02020502060401020303" pitchFamily="18" charset="0"/>
                <a:cs typeface="Calibri" panose="020F0502020204030204" pitchFamily="34" charset="0"/>
              </a:rPr>
              <a:t>2.   Packet departure rate &lt; Packet processing rate, </a:t>
            </a:r>
          </a:p>
          <a:p>
            <a:pPr lvl="1" algn="just"/>
            <a:r>
              <a:rPr lang="en-US" sz="2200" dirty="0">
                <a:latin typeface="Perpetua" panose="02020502060401020303" pitchFamily="18" charset="0"/>
                <a:cs typeface="Calibri" panose="020F0502020204030204" pitchFamily="34" charset="0"/>
              </a:rPr>
              <a:t>		the output queues become longer and longer</a:t>
            </a:r>
          </a:p>
        </p:txBody>
      </p:sp>
      <p:pic>
        <p:nvPicPr>
          <p:cNvPr id="6" name="Picture 2" descr="http://image.slidesharecdn.com/ch24-100307212519-phpapp02/95/ch24-6-728.jpg?cb=1267997186">
            <a:extLst>
              <a:ext uri="{FF2B5EF4-FFF2-40B4-BE49-F238E27FC236}">
                <a16:creationId xmlns:a16="http://schemas.microsoft.com/office/drawing/2014/main" id="{E7A61120-46A9-40D5-9C4F-475580BA79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289" t="31345" r="6251" b="28318"/>
          <a:stretch/>
        </p:blipFill>
        <p:spPr bwMode="auto">
          <a:xfrm>
            <a:off x="1293517" y="3921443"/>
            <a:ext cx="6064623" cy="2097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864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Terminology</a:t>
            </a:r>
            <a:endParaRPr lang="en-FI" dirty="0"/>
          </a:p>
        </p:txBody>
      </p:sp>
      <p:sp>
        <p:nvSpPr>
          <p:cNvPr id="3" name="Rectangle 2">
            <a:extLst>
              <a:ext uri="{FF2B5EF4-FFF2-40B4-BE49-F238E27FC236}">
                <a16:creationId xmlns:a16="http://schemas.microsoft.com/office/drawing/2014/main" id="{7E5563D3-3603-4511-A7BB-59C8F865E6D4}"/>
              </a:ext>
            </a:extLst>
          </p:cNvPr>
          <p:cNvSpPr/>
          <p:nvPr/>
        </p:nvSpPr>
        <p:spPr>
          <a:xfrm>
            <a:off x="695532" y="2339485"/>
            <a:ext cx="8198097" cy="3139321"/>
          </a:xfrm>
          <a:prstGeom prst="rect">
            <a:avLst/>
          </a:prstGeom>
        </p:spPr>
        <p:txBody>
          <a:bodyPr wrap="square">
            <a:spAutoFit/>
          </a:bodyPr>
          <a:lstStyle/>
          <a:p>
            <a:pPr marL="285750" indent="-285750">
              <a:buFont typeface="Wingdings" panose="05000000000000000000" pitchFamily="2" charset="2"/>
              <a:buChar char="q"/>
            </a:pPr>
            <a:r>
              <a:rPr lang="en-US" sz="2200" b="1" dirty="0">
                <a:latin typeface="Perpetua" panose="02020502060401020303" pitchFamily="18" charset="0"/>
              </a:rPr>
              <a:t>Congestion Window</a:t>
            </a:r>
          </a:p>
          <a:p>
            <a:pPr lvl="1">
              <a:buFont typeface="Wingdings" panose="05000000000000000000" pitchFamily="2" charset="2"/>
              <a:buChar char="Ø"/>
            </a:pPr>
            <a:r>
              <a:rPr lang="en-US" sz="2200" dirty="0">
                <a:latin typeface="Perpetua" panose="02020502060401020303" pitchFamily="18" charset="0"/>
              </a:rPr>
              <a:t>The number of bytes the sender may have in the network at any time  [2]</a:t>
            </a:r>
          </a:p>
          <a:p>
            <a:pPr lvl="1">
              <a:buFont typeface="Wingdings" panose="05000000000000000000" pitchFamily="2" charset="2"/>
              <a:buChar char="Ø"/>
            </a:pPr>
            <a:r>
              <a:rPr lang="en-US" sz="2200" dirty="0" err="1">
                <a:latin typeface="Perpetua" panose="02020502060401020303" pitchFamily="18" charset="0"/>
              </a:rPr>
              <a:t>LastByteSent</a:t>
            </a:r>
            <a:r>
              <a:rPr lang="en-US" sz="2200" dirty="0">
                <a:latin typeface="Perpetua" panose="02020502060401020303" pitchFamily="18" charset="0"/>
              </a:rPr>
              <a:t> – </a:t>
            </a:r>
            <a:r>
              <a:rPr lang="en-US" sz="2200" dirty="0" err="1">
                <a:latin typeface="Perpetua" panose="02020502060401020303" pitchFamily="18" charset="0"/>
              </a:rPr>
              <a:t>LastByteAcked</a:t>
            </a:r>
            <a:r>
              <a:rPr lang="en-US" sz="2200" dirty="0">
                <a:latin typeface="Perpetua" panose="02020502060401020303" pitchFamily="18" charset="0"/>
              </a:rPr>
              <a:t>  &lt;= cwnd</a:t>
            </a:r>
          </a:p>
          <a:p>
            <a:pPr marL="285750" indent="-285750">
              <a:buFont typeface="Wingdings" panose="05000000000000000000" pitchFamily="2" charset="2"/>
              <a:buChar char="q"/>
            </a:pPr>
            <a:r>
              <a:rPr lang="en-US" sz="2200" b="1" dirty="0">
                <a:latin typeface="Perpetua" panose="02020502060401020303" pitchFamily="18" charset="0"/>
              </a:rPr>
              <a:t>Sending Rate</a:t>
            </a:r>
          </a:p>
          <a:p>
            <a:pPr lvl="1">
              <a:buFont typeface="Wingdings" panose="05000000000000000000" pitchFamily="2" charset="2"/>
              <a:buChar char="Ø"/>
            </a:pPr>
            <a:r>
              <a:rPr lang="en-US" sz="2200" dirty="0">
                <a:latin typeface="Perpetua" panose="02020502060401020303" pitchFamily="18" charset="0"/>
              </a:rPr>
              <a:t>The congestion window size divided by the round-trip time (RTT</a:t>
            </a:r>
            <a:r>
              <a:rPr lang="en-US" sz="2200" baseline="50000" dirty="0">
                <a:latin typeface="Perpetua" panose="02020502060401020303" pitchFamily="18" charset="0"/>
              </a:rPr>
              <a:t>1</a:t>
            </a:r>
            <a:r>
              <a:rPr lang="en-US" sz="2200" dirty="0">
                <a:latin typeface="Perpetua" panose="02020502060401020303" pitchFamily="18" charset="0"/>
              </a:rPr>
              <a:t>) of the connection [2]. </a:t>
            </a:r>
          </a:p>
          <a:p>
            <a:pPr lvl="1"/>
            <a:endParaRPr lang="en-US" sz="2200" dirty="0">
              <a:latin typeface="Perpetua" panose="02020502060401020303" pitchFamily="18" charset="0"/>
            </a:endParaRPr>
          </a:p>
          <a:p>
            <a:pPr marL="342900" indent="-342900">
              <a:buFont typeface="Wingdings" panose="05000000000000000000" pitchFamily="2" charset="2"/>
              <a:buChar char="v"/>
            </a:pPr>
            <a:r>
              <a:rPr lang="en-US" sz="2200" i="1" dirty="0">
                <a:solidFill>
                  <a:srgbClr val="C00000"/>
                </a:solidFill>
                <a:latin typeface="Perpetua" panose="02020502060401020303" pitchFamily="18" charset="0"/>
              </a:rPr>
              <a:t>By adjusting the value of cwnd, the sender can therefore adjust the rate at which it sends data into its connection [3]</a:t>
            </a:r>
            <a:r>
              <a:rPr lang="en-US" sz="2200" i="1" dirty="0">
                <a:latin typeface="Perpetua" panose="02020502060401020303" pitchFamily="18" charset="0"/>
              </a:rPr>
              <a:t>.</a:t>
            </a:r>
          </a:p>
        </p:txBody>
      </p:sp>
      <p:sp>
        <p:nvSpPr>
          <p:cNvPr id="6" name="TextBox 5">
            <a:extLst>
              <a:ext uri="{FF2B5EF4-FFF2-40B4-BE49-F238E27FC236}">
                <a16:creationId xmlns:a16="http://schemas.microsoft.com/office/drawing/2014/main" id="{5919094F-B953-4346-80FB-1D5FC0E009D1}"/>
              </a:ext>
            </a:extLst>
          </p:cNvPr>
          <p:cNvSpPr txBox="1"/>
          <p:nvPr/>
        </p:nvSpPr>
        <p:spPr>
          <a:xfrm>
            <a:off x="2764972" y="6408995"/>
            <a:ext cx="5553123" cy="523220"/>
          </a:xfrm>
          <a:prstGeom prst="rect">
            <a:avLst/>
          </a:prstGeom>
          <a:noFill/>
        </p:spPr>
        <p:txBody>
          <a:bodyPr wrap="none" rtlCol="0">
            <a:spAutoFit/>
          </a:bodyPr>
          <a:lstStyle/>
          <a:p>
            <a:r>
              <a:rPr lang="en-US" sz="1400" dirty="0">
                <a:latin typeface="Comic Sans MS" panose="030F0702030302020204" pitchFamily="66" charset="0"/>
              </a:rPr>
              <a:t>1 The time from when a segment is sent until it is acknowledged. </a:t>
            </a:r>
            <a:br>
              <a:rPr lang="en-US" sz="1400" dirty="0">
                <a:latin typeface="Comic Sans MS" panose="030F0702030302020204" pitchFamily="66" charset="0"/>
              </a:rPr>
            </a:br>
            <a:endParaRPr lang="en-US" sz="1400" dirty="0">
              <a:latin typeface="Comic Sans MS" panose="030F0702030302020204" pitchFamily="66" charset="0"/>
            </a:endParaRPr>
          </a:p>
        </p:txBody>
      </p:sp>
    </p:spTree>
    <p:extLst>
      <p:ext uri="{BB962C8B-B14F-4D97-AF65-F5344CB8AC3E}">
        <p14:creationId xmlns:p14="http://schemas.microsoft.com/office/powerpoint/2010/main" val="4023268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Terminology</a:t>
            </a:r>
            <a:endParaRPr lang="en-FI" dirty="0"/>
          </a:p>
        </p:txBody>
      </p:sp>
      <p:sp>
        <p:nvSpPr>
          <p:cNvPr id="3" name="Rectangle 2">
            <a:extLst>
              <a:ext uri="{FF2B5EF4-FFF2-40B4-BE49-F238E27FC236}">
                <a16:creationId xmlns:a16="http://schemas.microsoft.com/office/drawing/2014/main" id="{7E5563D3-3603-4511-A7BB-59C8F865E6D4}"/>
              </a:ext>
            </a:extLst>
          </p:cNvPr>
          <p:cNvSpPr/>
          <p:nvPr/>
        </p:nvSpPr>
        <p:spPr>
          <a:xfrm>
            <a:off x="226780" y="2063762"/>
            <a:ext cx="8198097" cy="3293209"/>
          </a:xfrm>
          <a:prstGeom prst="rect">
            <a:avLst/>
          </a:prstGeom>
        </p:spPr>
        <p:txBody>
          <a:bodyPr wrap="square">
            <a:spAutoFit/>
          </a:bodyPr>
          <a:lstStyle/>
          <a:p>
            <a:pPr marL="285750" indent="-285750">
              <a:buFont typeface="Wingdings" panose="05000000000000000000" pitchFamily="2" charset="2"/>
              <a:buChar char="q"/>
            </a:pPr>
            <a:r>
              <a:rPr lang="en-US" sz="2000" dirty="0">
                <a:latin typeface="Perpetua" panose="02020502060401020303" pitchFamily="18" charset="0"/>
              </a:rPr>
              <a:t>Loss Event</a:t>
            </a:r>
          </a:p>
          <a:p>
            <a:pPr marL="800100" lvl="1" indent="-342900">
              <a:buFont typeface="Wingdings" panose="05000000000000000000" pitchFamily="2" charset="2"/>
              <a:buChar char="§"/>
            </a:pPr>
            <a:r>
              <a:rPr lang="en-US" sz="2000" dirty="0">
                <a:latin typeface="Perpetua" panose="02020502060401020303" pitchFamily="18" charset="0"/>
              </a:rPr>
              <a:t>Timeout</a:t>
            </a:r>
          </a:p>
          <a:p>
            <a:pPr marL="1257300" lvl="2" indent="-342900">
              <a:buFont typeface="Wingdings" panose="05000000000000000000" pitchFamily="2" charset="2"/>
              <a:buChar char="Ø"/>
            </a:pPr>
            <a:r>
              <a:rPr lang="en-US" sz="2000" dirty="0">
                <a:latin typeface="Perpetua" panose="02020502060401020303" pitchFamily="18" charset="0"/>
              </a:rPr>
              <a:t>Sender does not receive any acknowledgement within a predefined interval</a:t>
            </a:r>
          </a:p>
          <a:p>
            <a:pPr marL="800100" lvl="1" indent="-342900">
              <a:buFont typeface="Wingdings" panose="05000000000000000000" pitchFamily="2" charset="2"/>
              <a:buChar char="§"/>
            </a:pPr>
            <a:r>
              <a:rPr lang="en-US" sz="2000" dirty="0">
                <a:latin typeface="Perpetua" panose="02020502060401020303" pitchFamily="18" charset="0"/>
              </a:rPr>
              <a:t>3 duplicate Acknowledgement  (3 duplicate ACK)</a:t>
            </a:r>
          </a:p>
          <a:p>
            <a:pPr marL="1200150" lvl="2" indent="-285750" algn="just">
              <a:buFont typeface="Wingdings" panose="05000000000000000000" pitchFamily="2" charset="2"/>
              <a:buChar char="§"/>
            </a:pPr>
            <a:r>
              <a:rPr lang="en-US" dirty="0">
                <a:latin typeface="Perpetua" panose="02020502060401020303" pitchFamily="18" charset="0"/>
              </a:rPr>
              <a:t> Reception of the same ACK four times.</a:t>
            </a:r>
          </a:p>
          <a:p>
            <a:pPr marL="1200150" lvl="2" indent="-285750" algn="just">
              <a:buFont typeface="Wingdings" panose="05000000000000000000" pitchFamily="2" charset="2"/>
              <a:buChar char="§"/>
            </a:pPr>
            <a:r>
              <a:rPr lang="en-US" dirty="0">
                <a:latin typeface="Perpetua" panose="02020502060401020303" pitchFamily="18" charset="0"/>
              </a:rPr>
              <a:t>Indicates that the channel is not congested that much</a:t>
            </a:r>
          </a:p>
          <a:p>
            <a:pPr lvl="2" algn="just"/>
            <a:r>
              <a:rPr lang="en-US" dirty="0">
                <a:latin typeface="Perpetua" panose="02020502060401020303" pitchFamily="18" charset="0"/>
              </a:rPr>
              <a:t>      as the receiver is still receiving segments.</a:t>
            </a:r>
          </a:p>
          <a:p>
            <a:pPr marL="1200150" lvl="2" indent="-285750" algn="just">
              <a:buFont typeface="Wingdings" panose="05000000000000000000" pitchFamily="2" charset="2"/>
              <a:buChar char="§"/>
            </a:pPr>
            <a:r>
              <a:rPr lang="en-US" dirty="0">
                <a:latin typeface="Perpetua" panose="02020502060401020303" pitchFamily="18" charset="0"/>
              </a:rPr>
              <a:t>Indicates that  the segment 3 is lost as it receives the duplicate</a:t>
            </a:r>
          </a:p>
          <a:p>
            <a:pPr lvl="2" algn="just"/>
            <a:r>
              <a:rPr lang="en-US" dirty="0">
                <a:latin typeface="Perpetua" panose="02020502060401020303" pitchFamily="18" charset="0"/>
              </a:rPr>
              <a:t>       ACK 3</a:t>
            </a:r>
          </a:p>
          <a:p>
            <a:pPr marL="1200150" lvl="2" indent="-285750" algn="just">
              <a:buFont typeface="Wingdings" panose="05000000000000000000" pitchFamily="2" charset="2"/>
              <a:buChar char="§"/>
            </a:pPr>
            <a:r>
              <a:rPr lang="en-US" dirty="0">
                <a:latin typeface="Perpetua" panose="02020502060401020303" pitchFamily="18" charset="0"/>
              </a:rPr>
              <a:t>Receiver is receiving segment out of order.</a:t>
            </a:r>
          </a:p>
        </p:txBody>
      </p:sp>
      <p:grpSp>
        <p:nvGrpSpPr>
          <p:cNvPr id="12" name="Group 11">
            <a:extLst>
              <a:ext uri="{FF2B5EF4-FFF2-40B4-BE49-F238E27FC236}">
                <a16:creationId xmlns:a16="http://schemas.microsoft.com/office/drawing/2014/main" id="{B1A71015-2626-42F3-9FDE-34474213DDB9}"/>
              </a:ext>
            </a:extLst>
          </p:cNvPr>
          <p:cNvGrpSpPr/>
          <p:nvPr/>
        </p:nvGrpSpPr>
        <p:grpSpPr>
          <a:xfrm>
            <a:off x="6254832" y="3100481"/>
            <a:ext cx="2901314" cy="3088577"/>
            <a:chOff x="6254832" y="3100481"/>
            <a:chExt cx="2901314" cy="3088577"/>
          </a:xfrm>
        </p:grpSpPr>
        <p:pic>
          <p:nvPicPr>
            <p:cNvPr id="4" name="Picture 3">
              <a:extLst>
                <a:ext uri="{FF2B5EF4-FFF2-40B4-BE49-F238E27FC236}">
                  <a16:creationId xmlns:a16="http://schemas.microsoft.com/office/drawing/2014/main" id="{86F56704-9750-4BAB-ACDF-C2512CB0AEF4}"/>
                </a:ext>
              </a:extLst>
            </p:cNvPr>
            <p:cNvPicPr>
              <a:picLocks noChangeAspect="1"/>
            </p:cNvPicPr>
            <p:nvPr/>
          </p:nvPicPr>
          <p:blipFill>
            <a:blip r:embed="rId2"/>
            <a:stretch>
              <a:fillRect/>
            </a:stretch>
          </p:blipFill>
          <p:spPr>
            <a:xfrm>
              <a:off x="6254832" y="3100481"/>
              <a:ext cx="2421255" cy="3088577"/>
            </a:xfrm>
            <a:prstGeom prst="rect">
              <a:avLst/>
            </a:prstGeom>
          </p:spPr>
        </p:pic>
        <p:sp>
          <p:nvSpPr>
            <p:cNvPr id="6" name="TextBox 5">
              <a:extLst>
                <a:ext uri="{FF2B5EF4-FFF2-40B4-BE49-F238E27FC236}">
                  <a16:creationId xmlns:a16="http://schemas.microsoft.com/office/drawing/2014/main" id="{A58675DE-D6F3-49B4-A784-990E42B71F1D}"/>
                </a:ext>
              </a:extLst>
            </p:cNvPr>
            <p:cNvSpPr txBox="1"/>
            <p:nvPr/>
          </p:nvSpPr>
          <p:spPr>
            <a:xfrm>
              <a:off x="8213172" y="3710365"/>
              <a:ext cx="925829" cy="276999"/>
            </a:xfrm>
            <a:prstGeom prst="rect">
              <a:avLst/>
            </a:prstGeom>
            <a:solidFill>
              <a:schemeClr val="bg1"/>
            </a:solidFill>
          </p:spPr>
          <p:txBody>
            <a:bodyPr wrap="square" rtlCol="0">
              <a:spAutoFit/>
            </a:bodyPr>
            <a:lstStyle/>
            <a:p>
              <a:r>
                <a:rPr lang="en-US" sz="1200" dirty="0"/>
                <a:t>ACK 2</a:t>
              </a:r>
            </a:p>
          </p:txBody>
        </p:sp>
        <p:sp>
          <p:nvSpPr>
            <p:cNvPr id="7" name="TextBox 6">
              <a:extLst>
                <a:ext uri="{FF2B5EF4-FFF2-40B4-BE49-F238E27FC236}">
                  <a16:creationId xmlns:a16="http://schemas.microsoft.com/office/drawing/2014/main" id="{C0E82AEA-FABB-42D0-82C6-1A1486EA28C1}"/>
                </a:ext>
              </a:extLst>
            </p:cNvPr>
            <p:cNvSpPr txBox="1"/>
            <p:nvPr/>
          </p:nvSpPr>
          <p:spPr>
            <a:xfrm>
              <a:off x="8213171" y="3895567"/>
              <a:ext cx="925829" cy="276999"/>
            </a:xfrm>
            <a:prstGeom prst="rect">
              <a:avLst/>
            </a:prstGeom>
            <a:solidFill>
              <a:schemeClr val="bg1"/>
            </a:solidFill>
          </p:spPr>
          <p:txBody>
            <a:bodyPr wrap="square" rtlCol="0">
              <a:spAutoFit/>
            </a:bodyPr>
            <a:lstStyle/>
            <a:p>
              <a:r>
                <a:rPr lang="en-US" sz="1200" dirty="0"/>
                <a:t>ACK 3</a:t>
              </a:r>
            </a:p>
          </p:txBody>
        </p:sp>
        <p:sp>
          <p:nvSpPr>
            <p:cNvPr id="8" name="TextBox 7">
              <a:extLst>
                <a:ext uri="{FF2B5EF4-FFF2-40B4-BE49-F238E27FC236}">
                  <a16:creationId xmlns:a16="http://schemas.microsoft.com/office/drawing/2014/main" id="{DD318461-2D3C-457F-BBF5-239BBBE7AD2D}"/>
                </a:ext>
              </a:extLst>
            </p:cNvPr>
            <p:cNvSpPr txBox="1"/>
            <p:nvPr/>
          </p:nvSpPr>
          <p:spPr>
            <a:xfrm>
              <a:off x="8230317" y="4236986"/>
              <a:ext cx="925829" cy="276999"/>
            </a:xfrm>
            <a:prstGeom prst="rect">
              <a:avLst/>
            </a:prstGeom>
            <a:solidFill>
              <a:schemeClr val="bg1"/>
            </a:solidFill>
          </p:spPr>
          <p:txBody>
            <a:bodyPr wrap="square" rtlCol="0">
              <a:spAutoFit/>
            </a:bodyPr>
            <a:lstStyle/>
            <a:p>
              <a:r>
                <a:rPr lang="en-US" sz="1200" dirty="0"/>
                <a:t>ACK 3</a:t>
              </a:r>
            </a:p>
          </p:txBody>
        </p:sp>
        <p:sp>
          <p:nvSpPr>
            <p:cNvPr id="9" name="TextBox 8">
              <a:extLst>
                <a:ext uri="{FF2B5EF4-FFF2-40B4-BE49-F238E27FC236}">
                  <a16:creationId xmlns:a16="http://schemas.microsoft.com/office/drawing/2014/main" id="{32AD9BBC-8EFC-4B17-B62C-5159FF25CB3C}"/>
                </a:ext>
              </a:extLst>
            </p:cNvPr>
            <p:cNvSpPr txBox="1"/>
            <p:nvPr/>
          </p:nvSpPr>
          <p:spPr>
            <a:xfrm>
              <a:off x="8218171" y="4569079"/>
              <a:ext cx="925829" cy="276999"/>
            </a:xfrm>
            <a:prstGeom prst="rect">
              <a:avLst/>
            </a:prstGeom>
            <a:solidFill>
              <a:schemeClr val="bg1"/>
            </a:solidFill>
          </p:spPr>
          <p:txBody>
            <a:bodyPr wrap="square" rtlCol="0">
              <a:spAutoFit/>
            </a:bodyPr>
            <a:lstStyle/>
            <a:p>
              <a:r>
                <a:rPr lang="en-US" sz="1200" dirty="0"/>
                <a:t>ACK 3</a:t>
              </a:r>
            </a:p>
          </p:txBody>
        </p:sp>
        <p:sp>
          <p:nvSpPr>
            <p:cNvPr id="10" name="TextBox 9">
              <a:extLst>
                <a:ext uri="{FF2B5EF4-FFF2-40B4-BE49-F238E27FC236}">
                  <a16:creationId xmlns:a16="http://schemas.microsoft.com/office/drawing/2014/main" id="{5DE55FEF-B4D4-479F-B9F1-A94F50F82470}"/>
                </a:ext>
              </a:extLst>
            </p:cNvPr>
            <p:cNvSpPr txBox="1"/>
            <p:nvPr/>
          </p:nvSpPr>
          <p:spPr>
            <a:xfrm>
              <a:off x="8213170" y="5476485"/>
              <a:ext cx="925829" cy="276999"/>
            </a:xfrm>
            <a:prstGeom prst="rect">
              <a:avLst/>
            </a:prstGeom>
            <a:solidFill>
              <a:schemeClr val="bg1"/>
            </a:solidFill>
          </p:spPr>
          <p:txBody>
            <a:bodyPr wrap="square" rtlCol="0">
              <a:spAutoFit/>
            </a:bodyPr>
            <a:lstStyle/>
            <a:p>
              <a:r>
                <a:rPr lang="en-US" sz="1200" dirty="0"/>
                <a:t>ACK 7</a:t>
              </a:r>
            </a:p>
          </p:txBody>
        </p:sp>
        <p:sp>
          <p:nvSpPr>
            <p:cNvPr id="11" name="TextBox 10">
              <a:extLst>
                <a:ext uri="{FF2B5EF4-FFF2-40B4-BE49-F238E27FC236}">
                  <a16:creationId xmlns:a16="http://schemas.microsoft.com/office/drawing/2014/main" id="{00E8ABDC-0B27-40E8-B852-C90A3855E71D}"/>
                </a:ext>
              </a:extLst>
            </p:cNvPr>
            <p:cNvSpPr txBox="1"/>
            <p:nvPr/>
          </p:nvSpPr>
          <p:spPr>
            <a:xfrm>
              <a:off x="8221981" y="4790059"/>
              <a:ext cx="925829" cy="276999"/>
            </a:xfrm>
            <a:prstGeom prst="rect">
              <a:avLst/>
            </a:prstGeom>
            <a:solidFill>
              <a:schemeClr val="bg1"/>
            </a:solidFill>
          </p:spPr>
          <p:txBody>
            <a:bodyPr wrap="square" rtlCol="0">
              <a:spAutoFit/>
            </a:bodyPr>
            <a:lstStyle/>
            <a:p>
              <a:r>
                <a:rPr lang="en-US" sz="1200" dirty="0"/>
                <a:t>ACK 3</a:t>
              </a:r>
            </a:p>
          </p:txBody>
        </p:sp>
      </p:grpSp>
    </p:spTree>
    <p:extLst>
      <p:ext uri="{BB962C8B-B14F-4D97-AF65-F5344CB8AC3E}">
        <p14:creationId xmlns:p14="http://schemas.microsoft.com/office/powerpoint/2010/main" val="126417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TCP Reno</a:t>
            </a:r>
            <a:endParaRPr lang="en-FI" dirty="0"/>
          </a:p>
        </p:txBody>
      </p:sp>
      <p:sp>
        <p:nvSpPr>
          <p:cNvPr id="6" name="Content Placeholder 2">
            <a:extLst>
              <a:ext uri="{FF2B5EF4-FFF2-40B4-BE49-F238E27FC236}">
                <a16:creationId xmlns:a16="http://schemas.microsoft.com/office/drawing/2014/main" id="{AA4E7D11-9414-4499-884E-8FDDB16CDB66}"/>
              </a:ext>
            </a:extLst>
          </p:cNvPr>
          <p:cNvSpPr txBox="1">
            <a:spLocks/>
          </p:cNvSpPr>
          <p:nvPr/>
        </p:nvSpPr>
        <p:spPr>
          <a:xfrm>
            <a:off x="297833" y="2458997"/>
            <a:ext cx="8229600" cy="312420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342900" indent="-342900">
              <a:buFont typeface="Wingdings" panose="05000000000000000000" pitchFamily="2" charset="2"/>
              <a:buChar char="q"/>
            </a:pPr>
            <a:r>
              <a:rPr lang="en-US" sz="2200" b="1" dirty="0">
                <a:solidFill>
                  <a:schemeClr val="tx1"/>
                </a:solidFill>
                <a:latin typeface="Perpetua" panose="02020502060401020303" pitchFamily="18" charset="0"/>
              </a:rPr>
              <a:t>Steps of congestion window  control</a:t>
            </a:r>
            <a:endParaRPr lang="en-US" sz="2200" b="1" dirty="0">
              <a:latin typeface="Perpetua" panose="02020502060401020303" pitchFamily="18" charset="0"/>
            </a:endParaRPr>
          </a:p>
          <a:p>
            <a:pPr marL="800100" lvl="1" indent="-342900" algn="l">
              <a:buFont typeface="Wingdings" panose="05000000000000000000" pitchFamily="2" charset="2"/>
              <a:buChar char="§"/>
            </a:pPr>
            <a:r>
              <a:rPr lang="en-US" dirty="0">
                <a:solidFill>
                  <a:schemeClr val="tx1"/>
                </a:solidFill>
                <a:latin typeface="Perpetua" panose="02020502060401020303" pitchFamily="18" charset="0"/>
              </a:rPr>
              <a:t>Slow Start</a:t>
            </a:r>
          </a:p>
          <a:p>
            <a:pPr marL="800100" lvl="1" indent="-342900" algn="l">
              <a:buFont typeface="Wingdings" panose="05000000000000000000" pitchFamily="2" charset="2"/>
              <a:buChar char="§"/>
            </a:pPr>
            <a:r>
              <a:rPr lang="en-US" dirty="0">
                <a:solidFill>
                  <a:schemeClr val="tx1"/>
                </a:solidFill>
                <a:latin typeface="Perpetua" panose="02020502060401020303" pitchFamily="18" charset="0"/>
              </a:rPr>
              <a:t>Congestion Avoidance</a:t>
            </a:r>
          </a:p>
          <a:p>
            <a:pPr lvl="1"/>
            <a:endParaRPr lang="en-US" dirty="0"/>
          </a:p>
        </p:txBody>
      </p:sp>
    </p:spTree>
    <p:extLst>
      <p:ext uri="{BB962C8B-B14F-4D97-AF65-F5344CB8AC3E}">
        <p14:creationId xmlns:p14="http://schemas.microsoft.com/office/powerpoint/2010/main" val="3182687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TCP Reno</a:t>
            </a:r>
            <a:endParaRPr lang="en-FI" dirty="0"/>
          </a:p>
        </p:txBody>
      </p:sp>
      <p:sp>
        <p:nvSpPr>
          <p:cNvPr id="3" name="Rectangle 2">
            <a:extLst>
              <a:ext uri="{FF2B5EF4-FFF2-40B4-BE49-F238E27FC236}">
                <a16:creationId xmlns:a16="http://schemas.microsoft.com/office/drawing/2014/main" id="{6E205CCC-4620-46D3-9C31-3C4469ED64D2}"/>
              </a:ext>
            </a:extLst>
          </p:cNvPr>
          <p:cNvSpPr/>
          <p:nvPr/>
        </p:nvSpPr>
        <p:spPr>
          <a:xfrm>
            <a:off x="92952" y="2089333"/>
            <a:ext cx="4825699" cy="3016210"/>
          </a:xfrm>
          <a:prstGeom prst="rect">
            <a:avLst/>
          </a:prstGeom>
        </p:spPr>
        <p:txBody>
          <a:bodyPr wrap="square">
            <a:spAutoFit/>
          </a:bodyPr>
          <a:lstStyle/>
          <a:p>
            <a:pPr>
              <a:buFont typeface="Wingdings" panose="05000000000000000000" pitchFamily="2" charset="2"/>
              <a:buChar char="v"/>
            </a:pPr>
            <a:r>
              <a:rPr lang="en-US" sz="2200" b="1" dirty="0">
                <a:latin typeface="Perpetua" panose="02020502060401020303" pitchFamily="18" charset="0"/>
              </a:rPr>
              <a:t>Slow Start</a:t>
            </a:r>
          </a:p>
          <a:p>
            <a:pPr lvl="1" algn="just"/>
            <a:r>
              <a:rPr lang="en-US" sz="2100" dirty="0">
                <a:latin typeface="Perpetua" panose="02020502060401020303" pitchFamily="18" charset="0"/>
              </a:rPr>
              <a:t>Follows a greedy approach. </a:t>
            </a:r>
          </a:p>
          <a:p>
            <a:pPr lvl="1" algn="just"/>
            <a:r>
              <a:rPr lang="en-US" sz="2100" dirty="0">
                <a:latin typeface="Perpetua" panose="02020502060401020303" pitchFamily="18" charset="0"/>
              </a:rPr>
              <a:t>Starts sending data of size equals maximum sized segment (MSS).  </a:t>
            </a:r>
          </a:p>
          <a:p>
            <a:pPr lvl="1" algn="just"/>
            <a:r>
              <a:rPr lang="en-US" sz="2100" dirty="0">
                <a:latin typeface="Perpetua" panose="02020502060401020303" pitchFamily="18" charset="0"/>
              </a:rPr>
              <a:t>If it receives an ACK for the previous transmission by next RTT </a:t>
            </a:r>
            <a:r>
              <a:rPr lang="en-US" sz="2100" dirty="0">
                <a:latin typeface="Perpetua" panose="02020502060401020303" pitchFamily="18" charset="0"/>
                <a:sym typeface="Wingdings" panose="05000000000000000000" pitchFamily="2" charset="2"/>
              </a:rPr>
              <a:t> </a:t>
            </a:r>
            <a:r>
              <a:rPr lang="en-US" sz="2100" dirty="0">
                <a:latin typeface="Perpetua" panose="02020502060401020303" pitchFamily="18" charset="0"/>
              </a:rPr>
              <a:t>it sends 2 MSS. </a:t>
            </a:r>
          </a:p>
          <a:p>
            <a:pPr lvl="1" algn="just"/>
            <a:r>
              <a:rPr lang="en-US" sz="2100" dirty="0">
                <a:latin typeface="Perpetua" panose="02020502060401020303" pitchFamily="18" charset="0"/>
              </a:rPr>
              <a:t>After next RTT, if it receives two ACKs </a:t>
            </a:r>
            <a:r>
              <a:rPr lang="en-US" sz="2100" dirty="0">
                <a:latin typeface="Perpetua" panose="02020502060401020303" pitchFamily="18" charset="0"/>
                <a:sym typeface="Wingdings" panose="05000000000000000000" pitchFamily="2" charset="2"/>
              </a:rPr>
              <a:t></a:t>
            </a:r>
            <a:r>
              <a:rPr lang="en-US" sz="2100" dirty="0">
                <a:latin typeface="Perpetua" panose="02020502060401020303" pitchFamily="18" charset="0"/>
              </a:rPr>
              <a:t> it sends 2+2=4 MSS in next round. </a:t>
            </a:r>
          </a:p>
        </p:txBody>
      </p:sp>
      <p:pic>
        <p:nvPicPr>
          <p:cNvPr id="6" name="Picture 5">
            <a:extLst>
              <a:ext uri="{FF2B5EF4-FFF2-40B4-BE49-F238E27FC236}">
                <a16:creationId xmlns:a16="http://schemas.microsoft.com/office/drawing/2014/main" id="{C943164E-1124-46BC-9FD1-3829D3EAA84E}"/>
              </a:ext>
            </a:extLst>
          </p:cNvPr>
          <p:cNvPicPr>
            <a:picLocks noChangeAspect="1"/>
          </p:cNvPicPr>
          <p:nvPr/>
        </p:nvPicPr>
        <p:blipFill rotWithShape="1">
          <a:blip r:embed="rId2"/>
          <a:srcRect l="25746" b="28647"/>
          <a:stretch/>
        </p:blipFill>
        <p:spPr>
          <a:xfrm>
            <a:off x="5523524" y="2017060"/>
            <a:ext cx="3615953" cy="2935940"/>
          </a:xfrm>
          <a:prstGeom prst="rect">
            <a:avLst/>
          </a:prstGeom>
        </p:spPr>
      </p:pic>
      <p:sp>
        <p:nvSpPr>
          <p:cNvPr id="7" name="TextBox 6">
            <a:extLst>
              <a:ext uri="{FF2B5EF4-FFF2-40B4-BE49-F238E27FC236}">
                <a16:creationId xmlns:a16="http://schemas.microsoft.com/office/drawing/2014/main" id="{D04FE833-1658-415F-A285-802CB6901341}"/>
              </a:ext>
            </a:extLst>
          </p:cNvPr>
          <p:cNvSpPr txBox="1"/>
          <p:nvPr/>
        </p:nvSpPr>
        <p:spPr>
          <a:xfrm>
            <a:off x="5138057" y="5116286"/>
            <a:ext cx="4100418" cy="923330"/>
          </a:xfrm>
          <a:prstGeom prst="rect">
            <a:avLst/>
          </a:prstGeom>
          <a:noFill/>
        </p:spPr>
        <p:txBody>
          <a:bodyPr wrap="none" rtlCol="0">
            <a:spAutoFit/>
          </a:bodyPr>
          <a:lstStyle/>
          <a:p>
            <a:r>
              <a:rPr lang="en-US" dirty="0"/>
              <a:t>Fig. 1 Slow start from an initial congestion</a:t>
            </a:r>
          </a:p>
          <a:p>
            <a:r>
              <a:rPr lang="en-US" dirty="0"/>
              <a:t>          window of one segment [2]. </a:t>
            </a:r>
            <a:br>
              <a:rPr lang="en-US" dirty="0"/>
            </a:br>
            <a:endParaRPr lang="en-US" dirty="0"/>
          </a:p>
        </p:txBody>
      </p:sp>
      <p:pic>
        <p:nvPicPr>
          <p:cNvPr id="8" name="Picture 7">
            <a:extLst>
              <a:ext uri="{FF2B5EF4-FFF2-40B4-BE49-F238E27FC236}">
                <a16:creationId xmlns:a16="http://schemas.microsoft.com/office/drawing/2014/main" id="{B3A82867-E601-4D56-9170-F9B642ED9E8B}"/>
              </a:ext>
            </a:extLst>
          </p:cNvPr>
          <p:cNvPicPr>
            <a:picLocks noChangeAspect="1"/>
          </p:cNvPicPr>
          <p:nvPr/>
        </p:nvPicPr>
        <p:blipFill rotWithShape="1">
          <a:blip r:embed="rId2"/>
          <a:srcRect l="-1502" t="25691" r="72727" b="64895"/>
          <a:stretch/>
        </p:blipFill>
        <p:spPr>
          <a:xfrm rot="17038750">
            <a:off x="4376565" y="3576143"/>
            <a:ext cx="1596094" cy="321787"/>
          </a:xfrm>
          <a:prstGeom prst="rect">
            <a:avLst/>
          </a:prstGeom>
        </p:spPr>
      </p:pic>
    </p:spTree>
    <p:extLst>
      <p:ext uri="{BB962C8B-B14F-4D97-AF65-F5344CB8AC3E}">
        <p14:creationId xmlns:p14="http://schemas.microsoft.com/office/powerpoint/2010/main" val="509425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TCP Reno</a:t>
            </a:r>
            <a:endParaRPr lang="en-FI" dirty="0"/>
          </a:p>
        </p:txBody>
      </p:sp>
      <p:sp>
        <p:nvSpPr>
          <p:cNvPr id="3" name="Rectangle 2">
            <a:extLst>
              <a:ext uri="{FF2B5EF4-FFF2-40B4-BE49-F238E27FC236}">
                <a16:creationId xmlns:a16="http://schemas.microsoft.com/office/drawing/2014/main" id="{6E205CCC-4620-46D3-9C31-3C4469ED64D2}"/>
              </a:ext>
            </a:extLst>
          </p:cNvPr>
          <p:cNvSpPr/>
          <p:nvPr/>
        </p:nvSpPr>
        <p:spPr>
          <a:xfrm>
            <a:off x="92952" y="2089333"/>
            <a:ext cx="4825699" cy="2693045"/>
          </a:xfrm>
          <a:prstGeom prst="rect">
            <a:avLst/>
          </a:prstGeom>
        </p:spPr>
        <p:txBody>
          <a:bodyPr wrap="square">
            <a:spAutoFit/>
          </a:bodyPr>
          <a:lstStyle/>
          <a:p>
            <a:pPr>
              <a:buFont typeface="Wingdings" panose="05000000000000000000" pitchFamily="2" charset="2"/>
              <a:buChar char="v"/>
            </a:pPr>
            <a:r>
              <a:rPr lang="en-US" sz="2200" b="1" dirty="0">
                <a:latin typeface="Perpetua" panose="02020502060401020303" pitchFamily="18" charset="0"/>
              </a:rPr>
              <a:t>Slow Start (cont.)</a:t>
            </a:r>
          </a:p>
          <a:p>
            <a:pPr lvl="1" algn="just"/>
            <a:r>
              <a:rPr lang="en-US" sz="2100" dirty="0">
                <a:latin typeface="Perpetua" panose="02020502060401020303" pitchFamily="18" charset="0"/>
              </a:rPr>
              <a:t>That is, in each round, N+M MSS in a round if it sends N MSS in the last transmission round and receives M ACK before the current round. </a:t>
            </a:r>
          </a:p>
          <a:p>
            <a:pPr lvl="1" algn="just"/>
            <a:r>
              <a:rPr lang="en-US" sz="2100" dirty="0">
                <a:latin typeface="Perpetua" panose="02020502060401020303" pitchFamily="18" charset="0"/>
              </a:rPr>
              <a:t>If it receives ACK for all the N MSS (previously sent), it sends N+N MSS this round. </a:t>
            </a:r>
          </a:p>
        </p:txBody>
      </p:sp>
      <p:pic>
        <p:nvPicPr>
          <p:cNvPr id="6" name="Picture 5">
            <a:extLst>
              <a:ext uri="{FF2B5EF4-FFF2-40B4-BE49-F238E27FC236}">
                <a16:creationId xmlns:a16="http://schemas.microsoft.com/office/drawing/2014/main" id="{C943164E-1124-46BC-9FD1-3829D3EAA84E}"/>
              </a:ext>
            </a:extLst>
          </p:cNvPr>
          <p:cNvPicPr>
            <a:picLocks noChangeAspect="1"/>
          </p:cNvPicPr>
          <p:nvPr/>
        </p:nvPicPr>
        <p:blipFill rotWithShape="1">
          <a:blip r:embed="rId2"/>
          <a:srcRect l="25746" b="28647"/>
          <a:stretch/>
        </p:blipFill>
        <p:spPr>
          <a:xfrm>
            <a:off x="5523524" y="2017060"/>
            <a:ext cx="3615953" cy="2935940"/>
          </a:xfrm>
          <a:prstGeom prst="rect">
            <a:avLst/>
          </a:prstGeom>
        </p:spPr>
      </p:pic>
      <p:sp>
        <p:nvSpPr>
          <p:cNvPr id="7" name="TextBox 6">
            <a:extLst>
              <a:ext uri="{FF2B5EF4-FFF2-40B4-BE49-F238E27FC236}">
                <a16:creationId xmlns:a16="http://schemas.microsoft.com/office/drawing/2014/main" id="{D04FE833-1658-415F-A285-802CB6901341}"/>
              </a:ext>
            </a:extLst>
          </p:cNvPr>
          <p:cNvSpPr txBox="1"/>
          <p:nvPr/>
        </p:nvSpPr>
        <p:spPr>
          <a:xfrm>
            <a:off x="5138057" y="5116286"/>
            <a:ext cx="4100418" cy="923330"/>
          </a:xfrm>
          <a:prstGeom prst="rect">
            <a:avLst/>
          </a:prstGeom>
          <a:noFill/>
        </p:spPr>
        <p:txBody>
          <a:bodyPr wrap="none" rtlCol="0">
            <a:spAutoFit/>
          </a:bodyPr>
          <a:lstStyle/>
          <a:p>
            <a:r>
              <a:rPr lang="en-US" dirty="0"/>
              <a:t>Fig. 1 Slow start from an initial congestion</a:t>
            </a:r>
          </a:p>
          <a:p>
            <a:r>
              <a:rPr lang="en-US" dirty="0"/>
              <a:t>          window of one segment [2]. </a:t>
            </a:r>
            <a:br>
              <a:rPr lang="en-US" dirty="0"/>
            </a:br>
            <a:endParaRPr lang="en-US" dirty="0"/>
          </a:p>
        </p:txBody>
      </p:sp>
      <p:pic>
        <p:nvPicPr>
          <p:cNvPr id="8" name="Picture 7">
            <a:extLst>
              <a:ext uri="{FF2B5EF4-FFF2-40B4-BE49-F238E27FC236}">
                <a16:creationId xmlns:a16="http://schemas.microsoft.com/office/drawing/2014/main" id="{B3A82867-E601-4D56-9170-F9B642ED9E8B}"/>
              </a:ext>
            </a:extLst>
          </p:cNvPr>
          <p:cNvPicPr>
            <a:picLocks noChangeAspect="1"/>
          </p:cNvPicPr>
          <p:nvPr/>
        </p:nvPicPr>
        <p:blipFill rotWithShape="1">
          <a:blip r:embed="rId2"/>
          <a:srcRect l="-1502" t="25691" r="72727" b="64895"/>
          <a:stretch/>
        </p:blipFill>
        <p:spPr>
          <a:xfrm rot="17038750">
            <a:off x="4376565" y="3576143"/>
            <a:ext cx="1596094" cy="321787"/>
          </a:xfrm>
          <a:prstGeom prst="rect">
            <a:avLst/>
          </a:prstGeom>
        </p:spPr>
      </p:pic>
    </p:spTree>
    <p:extLst>
      <p:ext uri="{BB962C8B-B14F-4D97-AF65-F5344CB8AC3E}">
        <p14:creationId xmlns:p14="http://schemas.microsoft.com/office/powerpoint/2010/main" val="3194815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TCP Reno</a:t>
            </a:r>
            <a:endParaRPr lang="en-FI" dirty="0"/>
          </a:p>
        </p:txBody>
      </p:sp>
      <p:sp>
        <p:nvSpPr>
          <p:cNvPr id="3" name="Rectangle 2">
            <a:extLst>
              <a:ext uri="{FF2B5EF4-FFF2-40B4-BE49-F238E27FC236}">
                <a16:creationId xmlns:a16="http://schemas.microsoft.com/office/drawing/2014/main" id="{01662111-25A0-4E72-946C-97FA6DC46FB2}"/>
              </a:ext>
            </a:extLst>
          </p:cNvPr>
          <p:cNvSpPr/>
          <p:nvPr/>
        </p:nvSpPr>
        <p:spPr>
          <a:xfrm>
            <a:off x="267458" y="2251231"/>
            <a:ext cx="3164456" cy="430887"/>
          </a:xfrm>
          <a:prstGeom prst="rect">
            <a:avLst/>
          </a:prstGeom>
        </p:spPr>
        <p:txBody>
          <a:bodyPr wrap="none">
            <a:spAutoFit/>
          </a:bodyPr>
          <a:lstStyle/>
          <a:p>
            <a:pPr>
              <a:buFont typeface="Wingdings" panose="05000000000000000000" pitchFamily="2" charset="2"/>
              <a:buChar char="v"/>
            </a:pPr>
            <a:r>
              <a:rPr lang="en-US" sz="2200" b="1" dirty="0">
                <a:latin typeface="Perpetua" panose="02020502060401020303" pitchFamily="18" charset="0"/>
              </a:rPr>
              <a:t>Congestion Avoidance </a:t>
            </a:r>
          </a:p>
        </p:txBody>
      </p:sp>
      <p:sp>
        <p:nvSpPr>
          <p:cNvPr id="7" name="Rectangle 6">
            <a:extLst>
              <a:ext uri="{FF2B5EF4-FFF2-40B4-BE49-F238E27FC236}">
                <a16:creationId xmlns:a16="http://schemas.microsoft.com/office/drawing/2014/main" id="{5001C1F8-7716-483E-BDD6-FA31EB2EE5C7}"/>
              </a:ext>
            </a:extLst>
          </p:cNvPr>
          <p:cNvSpPr/>
          <p:nvPr/>
        </p:nvSpPr>
        <p:spPr>
          <a:xfrm>
            <a:off x="153146" y="2878062"/>
            <a:ext cx="5844131" cy="830997"/>
          </a:xfrm>
          <a:prstGeom prst="rect">
            <a:avLst/>
          </a:prstGeom>
        </p:spPr>
        <p:txBody>
          <a:bodyPr wrap="square">
            <a:spAutoFit/>
          </a:bodyPr>
          <a:lstStyle/>
          <a:p>
            <a:pPr lvl="1"/>
            <a:r>
              <a:rPr lang="en-US" sz="2400" dirty="0">
                <a:solidFill>
                  <a:srgbClr val="00B0F0"/>
                </a:solidFill>
                <a:latin typeface="Perpetua" panose="02020502060401020303" pitchFamily="18" charset="0"/>
              </a:rPr>
              <a:t>How long does cwnd continue to be increased exponentially?</a:t>
            </a:r>
            <a:endParaRPr lang="en-US" sz="2200" dirty="0">
              <a:solidFill>
                <a:srgbClr val="00B0F0"/>
              </a:solidFill>
              <a:latin typeface="Perpetua" panose="02020502060401020303" pitchFamily="18" charset="0"/>
            </a:endParaRPr>
          </a:p>
        </p:txBody>
      </p:sp>
      <p:grpSp>
        <p:nvGrpSpPr>
          <p:cNvPr id="11" name="Group 10">
            <a:extLst>
              <a:ext uri="{FF2B5EF4-FFF2-40B4-BE49-F238E27FC236}">
                <a16:creationId xmlns:a16="http://schemas.microsoft.com/office/drawing/2014/main" id="{5851B5C7-7055-4830-AE96-8B776905C591}"/>
              </a:ext>
            </a:extLst>
          </p:cNvPr>
          <p:cNvGrpSpPr/>
          <p:nvPr/>
        </p:nvGrpSpPr>
        <p:grpSpPr>
          <a:xfrm>
            <a:off x="632044" y="4026380"/>
            <a:ext cx="4865883" cy="1147957"/>
            <a:chOff x="773558" y="3457764"/>
            <a:chExt cx="4865883" cy="1147957"/>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81EDBF8-5573-43DA-A08E-66360B62FF52}"/>
                    </a:ext>
                  </a:extLst>
                </p:cNvPr>
                <p:cNvSpPr txBox="1"/>
                <p:nvPr/>
              </p:nvSpPr>
              <p:spPr>
                <a:xfrm>
                  <a:off x="773558" y="3457764"/>
                  <a:ext cx="242008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𝑐𝑤𝑛𝑑</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𝑡h𝑟𝑒𝑠h𝑜𝑙𝑑</m:t>
                        </m:r>
                      </m:oMath>
                    </m:oMathPara>
                  </a14:m>
                  <a:endParaRPr lang="en-US" sz="2000" dirty="0"/>
                </a:p>
              </p:txBody>
            </p:sp>
          </mc:Choice>
          <mc:Fallback xmlns="">
            <p:sp>
              <p:nvSpPr>
                <p:cNvPr id="6" name="TextBox 5">
                  <a:extLst>
                    <a:ext uri="{FF2B5EF4-FFF2-40B4-BE49-F238E27FC236}">
                      <a16:creationId xmlns:a16="http://schemas.microsoft.com/office/drawing/2014/main" id="{881EDBF8-5573-43DA-A08E-66360B62FF52}"/>
                    </a:ext>
                  </a:extLst>
                </p:cNvPr>
                <p:cNvSpPr txBox="1">
                  <a:spLocks noRot="1" noChangeAspect="1" noMove="1" noResize="1" noEditPoints="1" noAdjustHandles="1" noChangeArrowheads="1" noChangeShapeType="1" noTextEdit="1"/>
                </p:cNvSpPr>
                <p:nvPr/>
              </p:nvSpPr>
              <p:spPr>
                <a:xfrm>
                  <a:off x="773558" y="3457764"/>
                  <a:ext cx="2420086" cy="307777"/>
                </a:xfrm>
                <a:prstGeom prst="rect">
                  <a:avLst/>
                </a:prstGeom>
                <a:blipFill>
                  <a:blip r:embed="rId2"/>
                  <a:stretch>
                    <a:fillRect l="-3275" r="-1763" b="-33333"/>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AA784CB9-AA3E-4959-BBF2-9EE8044BF9EE}"/>
                </a:ext>
              </a:extLst>
            </p:cNvPr>
            <p:cNvSpPr txBox="1"/>
            <p:nvPr/>
          </p:nvSpPr>
          <p:spPr>
            <a:xfrm>
              <a:off x="1096146" y="3836280"/>
              <a:ext cx="4543295" cy="769441"/>
            </a:xfrm>
            <a:prstGeom prst="rect">
              <a:avLst/>
            </a:prstGeom>
            <a:noFill/>
          </p:spPr>
          <p:txBody>
            <a:bodyPr wrap="none" rtlCol="0">
              <a:spAutoFit/>
            </a:bodyPr>
            <a:lstStyle/>
            <a:p>
              <a:r>
                <a:rPr lang="en-US" sz="2200" dirty="0">
                  <a:latin typeface="Perpetua" panose="02020502060401020303" pitchFamily="18" charset="0"/>
                </a:rPr>
                <a:t>Increase cwnd  by1 per transmission round</a:t>
              </a:r>
            </a:p>
            <a:p>
              <a:r>
                <a:rPr lang="en-US" sz="2200" dirty="0">
                  <a:latin typeface="Perpetua" panose="02020502060401020303" pitchFamily="18" charset="0"/>
                </a:rPr>
                <a:t>That is, increase cwnd linearly</a:t>
              </a:r>
              <a:r>
                <a:rPr lang="en-US" sz="2200" baseline="50000" dirty="0">
                  <a:latin typeface="Perpetua" panose="02020502060401020303" pitchFamily="18" charset="0"/>
                </a:rPr>
                <a:t>1</a:t>
              </a:r>
              <a:endParaRPr lang="en-US" sz="2200" dirty="0">
                <a:latin typeface="Perpetua" panose="02020502060401020303" pitchFamily="18" charset="0"/>
              </a:endParaRPr>
            </a:p>
          </p:txBody>
        </p:sp>
      </p:grpSp>
      <p:sp>
        <p:nvSpPr>
          <p:cNvPr id="15" name="TextBox 14">
            <a:extLst>
              <a:ext uri="{FF2B5EF4-FFF2-40B4-BE49-F238E27FC236}">
                <a16:creationId xmlns:a16="http://schemas.microsoft.com/office/drawing/2014/main" id="{E8B8C4D7-711B-49EC-904E-5096F2ED1BAD}"/>
              </a:ext>
            </a:extLst>
          </p:cNvPr>
          <p:cNvSpPr txBox="1"/>
          <p:nvPr/>
        </p:nvSpPr>
        <p:spPr>
          <a:xfrm>
            <a:off x="959067" y="6359865"/>
            <a:ext cx="7687923" cy="307777"/>
          </a:xfrm>
          <a:prstGeom prst="rect">
            <a:avLst/>
          </a:prstGeom>
          <a:noFill/>
        </p:spPr>
        <p:txBody>
          <a:bodyPr wrap="square" rtlCol="0">
            <a:spAutoFit/>
          </a:bodyPr>
          <a:lstStyle/>
          <a:p>
            <a:r>
              <a:rPr lang="en-US" sz="1400" dirty="0">
                <a:solidFill>
                  <a:schemeClr val="bg1">
                    <a:lumMod val="50000"/>
                  </a:schemeClr>
                </a:solidFill>
                <a:latin typeface="Comic Sans MS" panose="030F0702030302020204" pitchFamily="66" charset="0"/>
              </a:rPr>
              <a:t>1. Usually timeout and 3 duplicate ACK do not happen in slow start</a:t>
            </a:r>
          </a:p>
        </p:txBody>
      </p:sp>
      <p:pic>
        <p:nvPicPr>
          <p:cNvPr id="16" name="Picture 15">
            <a:extLst>
              <a:ext uri="{FF2B5EF4-FFF2-40B4-BE49-F238E27FC236}">
                <a16:creationId xmlns:a16="http://schemas.microsoft.com/office/drawing/2014/main" id="{8639CC43-C3F9-4C96-9051-486985E88BDF}"/>
              </a:ext>
            </a:extLst>
          </p:cNvPr>
          <p:cNvPicPr>
            <a:picLocks noChangeAspect="1"/>
          </p:cNvPicPr>
          <p:nvPr/>
        </p:nvPicPr>
        <p:blipFill>
          <a:blip r:embed="rId3"/>
          <a:stretch>
            <a:fillRect/>
          </a:stretch>
        </p:blipFill>
        <p:spPr>
          <a:xfrm>
            <a:off x="5997277" y="2648647"/>
            <a:ext cx="2817413" cy="2019218"/>
          </a:xfrm>
          <a:prstGeom prst="rect">
            <a:avLst/>
          </a:prstGeom>
        </p:spPr>
      </p:pic>
      <p:sp>
        <p:nvSpPr>
          <p:cNvPr id="17" name="TextBox 16">
            <a:extLst>
              <a:ext uri="{FF2B5EF4-FFF2-40B4-BE49-F238E27FC236}">
                <a16:creationId xmlns:a16="http://schemas.microsoft.com/office/drawing/2014/main" id="{EEB6DAF9-AAFF-4E82-A608-916D5862B774}"/>
              </a:ext>
            </a:extLst>
          </p:cNvPr>
          <p:cNvSpPr txBox="1"/>
          <p:nvPr/>
        </p:nvSpPr>
        <p:spPr>
          <a:xfrm>
            <a:off x="5904514" y="4916129"/>
            <a:ext cx="2709268" cy="369332"/>
          </a:xfrm>
          <a:prstGeom prst="rect">
            <a:avLst/>
          </a:prstGeom>
          <a:noFill/>
        </p:spPr>
        <p:txBody>
          <a:bodyPr wrap="none" rtlCol="0">
            <a:spAutoFit/>
          </a:bodyPr>
          <a:lstStyle/>
          <a:p>
            <a:r>
              <a:rPr lang="en-US" dirty="0">
                <a:latin typeface="Perpetua" panose="02020502060401020303" pitchFamily="18" charset="0"/>
              </a:rPr>
              <a:t>Fig.  2 Linear increase of cwnd</a:t>
            </a:r>
          </a:p>
        </p:txBody>
      </p:sp>
    </p:spTree>
    <p:extLst>
      <p:ext uri="{BB962C8B-B14F-4D97-AF65-F5344CB8AC3E}">
        <p14:creationId xmlns:p14="http://schemas.microsoft.com/office/powerpoint/2010/main" val="498227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TCP Reno</a:t>
            </a:r>
            <a:endParaRPr lang="en-FI" dirty="0"/>
          </a:p>
        </p:txBody>
      </p:sp>
      <p:sp>
        <p:nvSpPr>
          <p:cNvPr id="6" name="Rectangle 5">
            <a:extLst>
              <a:ext uri="{FF2B5EF4-FFF2-40B4-BE49-F238E27FC236}">
                <a16:creationId xmlns:a16="http://schemas.microsoft.com/office/drawing/2014/main" id="{0FF6350F-1B1C-419B-BFCA-C63D2DC90AD7}"/>
              </a:ext>
            </a:extLst>
          </p:cNvPr>
          <p:cNvSpPr/>
          <p:nvPr/>
        </p:nvSpPr>
        <p:spPr>
          <a:xfrm>
            <a:off x="0" y="2273717"/>
            <a:ext cx="5844131" cy="830997"/>
          </a:xfrm>
          <a:prstGeom prst="rect">
            <a:avLst/>
          </a:prstGeom>
        </p:spPr>
        <p:txBody>
          <a:bodyPr wrap="square">
            <a:spAutoFit/>
          </a:bodyPr>
          <a:lstStyle/>
          <a:p>
            <a:pPr lvl="1"/>
            <a:r>
              <a:rPr lang="en-US" sz="2400" b="1" i="1" dirty="0">
                <a:solidFill>
                  <a:srgbClr val="00B0F0"/>
                </a:solidFill>
                <a:latin typeface="Perpetua" panose="02020502060401020303" pitchFamily="18" charset="0"/>
              </a:rPr>
              <a:t>How long does cwnd continue to be increased linearly?</a:t>
            </a:r>
            <a:endParaRPr lang="en-US" sz="2200" b="1" i="1" dirty="0">
              <a:solidFill>
                <a:srgbClr val="00B0F0"/>
              </a:solidFill>
              <a:latin typeface="Perpetua" panose="02020502060401020303" pitchFamily="18" charset="0"/>
            </a:endParaRPr>
          </a:p>
        </p:txBody>
      </p:sp>
      <p:sp>
        <p:nvSpPr>
          <p:cNvPr id="3" name="TextBox 2">
            <a:extLst>
              <a:ext uri="{FF2B5EF4-FFF2-40B4-BE49-F238E27FC236}">
                <a16:creationId xmlns:a16="http://schemas.microsoft.com/office/drawing/2014/main" id="{1F2AE64E-0F5E-4F43-B0A0-EA02638775E1}"/>
              </a:ext>
            </a:extLst>
          </p:cNvPr>
          <p:cNvSpPr txBox="1"/>
          <p:nvPr/>
        </p:nvSpPr>
        <p:spPr>
          <a:xfrm>
            <a:off x="978555" y="3059668"/>
            <a:ext cx="3988271" cy="1107996"/>
          </a:xfrm>
          <a:prstGeom prst="rect">
            <a:avLst/>
          </a:prstGeom>
          <a:noFill/>
        </p:spPr>
        <p:txBody>
          <a:bodyPr wrap="none" rtlCol="0">
            <a:spAutoFit/>
          </a:bodyPr>
          <a:lstStyle/>
          <a:p>
            <a:pPr marL="342900" indent="-342900">
              <a:buFont typeface="Wingdings" panose="05000000000000000000" pitchFamily="2" charset="2"/>
              <a:buChar char="§"/>
            </a:pPr>
            <a:r>
              <a:rPr lang="en-US" sz="2200" dirty="0">
                <a:latin typeface="Perpetua" panose="02020502060401020303" pitchFamily="18" charset="0"/>
              </a:rPr>
              <a:t>Until one of two incidents happen</a:t>
            </a:r>
          </a:p>
          <a:p>
            <a:pPr marL="800100" lvl="1" indent="-342900">
              <a:buFont typeface="Courier New" panose="02070309020205020404" pitchFamily="49" charset="0"/>
              <a:buChar char="o"/>
            </a:pPr>
            <a:r>
              <a:rPr lang="en-US" sz="2200" dirty="0">
                <a:latin typeface="Perpetua" panose="02020502060401020303" pitchFamily="18" charset="0"/>
              </a:rPr>
              <a:t>Timeout</a:t>
            </a:r>
          </a:p>
          <a:p>
            <a:pPr marL="800100" lvl="1" indent="-342900">
              <a:buFont typeface="Courier New" panose="02070309020205020404" pitchFamily="49" charset="0"/>
              <a:buChar char="o"/>
            </a:pPr>
            <a:r>
              <a:rPr lang="en-US" sz="2200" dirty="0">
                <a:latin typeface="Perpetua" panose="02020502060401020303" pitchFamily="18" charset="0"/>
              </a:rPr>
              <a:t>3 duplicate ACK</a:t>
            </a:r>
          </a:p>
        </p:txBody>
      </p:sp>
      <p:sp>
        <p:nvSpPr>
          <p:cNvPr id="8" name="Rectangle 7">
            <a:extLst>
              <a:ext uri="{FF2B5EF4-FFF2-40B4-BE49-F238E27FC236}">
                <a16:creationId xmlns:a16="http://schemas.microsoft.com/office/drawing/2014/main" id="{A85BFEBD-4185-44C2-B451-1CDF1636B485}"/>
              </a:ext>
            </a:extLst>
          </p:cNvPr>
          <p:cNvSpPr/>
          <p:nvPr/>
        </p:nvSpPr>
        <p:spPr>
          <a:xfrm>
            <a:off x="486066" y="4180821"/>
            <a:ext cx="2000869" cy="769441"/>
          </a:xfrm>
          <a:prstGeom prst="rect">
            <a:avLst/>
          </a:prstGeom>
        </p:spPr>
        <p:txBody>
          <a:bodyPr wrap="none">
            <a:spAutoFit/>
          </a:bodyPr>
          <a:lstStyle/>
          <a:p>
            <a:pPr marL="800100" lvl="1" indent="-342900">
              <a:buFont typeface="Courier New" panose="02070309020205020404" pitchFamily="49" charset="0"/>
              <a:buChar char="o"/>
            </a:pPr>
            <a:r>
              <a:rPr lang="en-US" sz="2200" b="1" dirty="0">
                <a:latin typeface="Perpetua" panose="02020502060401020303" pitchFamily="18" charset="0"/>
              </a:rPr>
              <a:t>Timeout</a:t>
            </a:r>
          </a:p>
          <a:p>
            <a:pPr marL="1257300" lvl="2" indent="-342900">
              <a:buFont typeface="Arial" panose="020B0604020202020204" pitchFamily="34" charset="0"/>
              <a:buChar char="•"/>
            </a:pPr>
            <a:endParaRPr lang="en-US" sz="2200" dirty="0">
              <a:latin typeface="Perpetua" panose="02020502060401020303" pitchFamily="18"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634FA16-C135-4885-A06A-E1E530BDC36C}"/>
                  </a:ext>
                </a:extLst>
              </p:cNvPr>
              <p:cNvSpPr txBox="1"/>
              <p:nvPr/>
            </p:nvSpPr>
            <p:spPr>
              <a:xfrm>
                <a:off x="1739094" y="4568690"/>
                <a:ext cx="1963871" cy="524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𝑇h𝑟𝑒𝑠h𝑜𝑙𝑑</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𝑐𝑤𝑛𝑑</m:t>
                          </m:r>
                        </m:num>
                        <m:den>
                          <m:r>
                            <a:rPr lang="en-US" b="0" i="1" smtClean="0">
                              <a:latin typeface="Cambria Math" panose="02040503050406030204" pitchFamily="18" charset="0"/>
                            </a:rPr>
                            <m:t>2</m:t>
                          </m:r>
                        </m:den>
                      </m:f>
                    </m:oMath>
                  </m:oMathPara>
                </a14:m>
                <a:endParaRPr lang="en-US" dirty="0"/>
              </a:p>
            </p:txBody>
          </p:sp>
        </mc:Choice>
        <mc:Fallback xmlns="">
          <p:sp>
            <p:nvSpPr>
              <p:cNvPr id="10" name="TextBox 9">
                <a:extLst>
                  <a:ext uri="{FF2B5EF4-FFF2-40B4-BE49-F238E27FC236}">
                    <a16:creationId xmlns:a16="http://schemas.microsoft.com/office/drawing/2014/main" id="{F634FA16-C135-4885-A06A-E1E530BDC36C}"/>
                  </a:ext>
                </a:extLst>
              </p:cNvPr>
              <p:cNvSpPr txBox="1">
                <a:spLocks noRot="1" noChangeAspect="1" noMove="1" noResize="1" noEditPoints="1" noAdjustHandles="1" noChangeArrowheads="1" noChangeShapeType="1" noTextEdit="1"/>
              </p:cNvSpPr>
              <p:nvPr/>
            </p:nvSpPr>
            <p:spPr>
              <a:xfrm>
                <a:off x="1739094" y="4568690"/>
                <a:ext cx="1963871" cy="52411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0B85574-29CD-473A-957E-6BF4896D6FCF}"/>
                  </a:ext>
                </a:extLst>
              </p:cNvPr>
              <p:cNvSpPr txBox="1"/>
              <p:nvPr/>
            </p:nvSpPr>
            <p:spPr>
              <a:xfrm>
                <a:off x="1811405" y="5187073"/>
                <a:ext cx="15282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𝑐𝑤𝑛𝑑</m:t>
                      </m:r>
                      <m:r>
                        <a:rPr lang="en-US" b="0" i="1" smtClean="0">
                          <a:latin typeface="Cambria Math" panose="02040503050406030204" pitchFamily="18" charset="0"/>
                        </a:rPr>
                        <m:t>=1 </m:t>
                      </m:r>
                      <m:r>
                        <a:rPr lang="en-US" b="0" i="1" smtClean="0">
                          <a:latin typeface="Cambria Math" panose="02040503050406030204" pitchFamily="18" charset="0"/>
                        </a:rPr>
                        <m:t>𝑀𝑆𝑆</m:t>
                      </m:r>
                    </m:oMath>
                  </m:oMathPara>
                </a14:m>
                <a:endParaRPr lang="en-US" dirty="0"/>
              </a:p>
            </p:txBody>
          </p:sp>
        </mc:Choice>
        <mc:Fallback xmlns="">
          <p:sp>
            <p:nvSpPr>
              <p:cNvPr id="11" name="TextBox 10">
                <a:extLst>
                  <a:ext uri="{FF2B5EF4-FFF2-40B4-BE49-F238E27FC236}">
                    <a16:creationId xmlns:a16="http://schemas.microsoft.com/office/drawing/2014/main" id="{E0B85574-29CD-473A-957E-6BF4896D6FCF}"/>
                  </a:ext>
                </a:extLst>
              </p:cNvPr>
              <p:cNvSpPr txBox="1">
                <a:spLocks noRot="1" noChangeAspect="1" noMove="1" noResize="1" noEditPoints="1" noAdjustHandles="1" noChangeArrowheads="1" noChangeShapeType="1" noTextEdit="1"/>
              </p:cNvSpPr>
              <p:nvPr/>
            </p:nvSpPr>
            <p:spPr>
              <a:xfrm>
                <a:off x="1811405" y="5187073"/>
                <a:ext cx="1528239" cy="276999"/>
              </a:xfrm>
              <a:prstGeom prst="rect">
                <a:avLst/>
              </a:prstGeom>
              <a:blipFill>
                <a:blip r:embed="rId3"/>
                <a:stretch>
                  <a:fillRect l="-3586" r="-3187" b="-8889"/>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B9765AF0-C3C1-4FCD-9B58-9F52BD8B8BF1}"/>
              </a:ext>
            </a:extLst>
          </p:cNvPr>
          <p:cNvSpPr txBox="1"/>
          <p:nvPr/>
        </p:nvSpPr>
        <p:spPr>
          <a:xfrm>
            <a:off x="1739094" y="5558337"/>
            <a:ext cx="1730217" cy="430887"/>
          </a:xfrm>
          <a:prstGeom prst="rect">
            <a:avLst/>
          </a:prstGeom>
          <a:noFill/>
        </p:spPr>
        <p:txBody>
          <a:bodyPr wrap="none" rtlCol="0">
            <a:spAutoFit/>
          </a:bodyPr>
          <a:lstStyle/>
          <a:p>
            <a:r>
              <a:rPr lang="en-US" sz="2200" dirty="0">
                <a:latin typeface="Perpetua" panose="02020502060401020303" pitchFamily="18" charset="0"/>
              </a:rPr>
              <a:t>Start slow start</a:t>
            </a:r>
          </a:p>
        </p:txBody>
      </p:sp>
      <p:grpSp>
        <p:nvGrpSpPr>
          <p:cNvPr id="17" name="Group 16">
            <a:extLst>
              <a:ext uri="{FF2B5EF4-FFF2-40B4-BE49-F238E27FC236}">
                <a16:creationId xmlns:a16="http://schemas.microsoft.com/office/drawing/2014/main" id="{9958904F-AD46-483B-93EB-148DCBDC578F}"/>
              </a:ext>
            </a:extLst>
          </p:cNvPr>
          <p:cNvGrpSpPr/>
          <p:nvPr/>
        </p:nvGrpSpPr>
        <p:grpSpPr>
          <a:xfrm>
            <a:off x="5001149" y="2341545"/>
            <a:ext cx="3493174" cy="2999490"/>
            <a:chOff x="5001149" y="2341545"/>
            <a:chExt cx="3493174" cy="2999490"/>
          </a:xfrm>
        </p:grpSpPr>
        <p:pic>
          <p:nvPicPr>
            <p:cNvPr id="2050" name="Picture 2" descr="Scenario in TCP Tahoe, where congestion control reacts to a timed out ACK with a slow restart. ">
              <a:extLst>
                <a:ext uri="{FF2B5EF4-FFF2-40B4-BE49-F238E27FC236}">
                  <a16:creationId xmlns:a16="http://schemas.microsoft.com/office/drawing/2014/main" id="{641C2A02-35E4-4FC6-883A-20F6E064BEC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724"/>
            <a:stretch/>
          </p:blipFill>
          <p:spPr bwMode="auto">
            <a:xfrm>
              <a:off x="5151048" y="2341545"/>
              <a:ext cx="3343275" cy="299949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A8E818F-90AB-4F3E-BE44-923185F81ACE}"/>
                </a:ext>
              </a:extLst>
            </p:cNvPr>
            <p:cNvSpPr txBox="1"/>
            <p:nvPr/>
          </p:nvSpPr>
          <p:spPr>
            <a:xfrm>
              <a:off x="5714021" y="2470635"/>
              <a:ext cx="970137" cy="369332"/>
            </a:xfrm>
            <a:prstGeom prst="rect">
              <a:avLst/>
            </a:prstGeom>
            <a:solidFill>
              <a:schemeClr val="bg1"/>
            </a:solidFill>
          </p:spPr>
          <p:txBody>
            <a:bodyPr wrap="none" rtlCol="0">
              <a:spAutoFit/>
            </a:bodyPr>
            <a:lstStyle/>
            <a:p>
              <a:r>
                <a:rPr lang="en-US" dirty="0">
                  <a:latin typeface="Times New Roman" panose="02020603050405020304" pitchFamily="18" charset="0"/>
                  <a:cs typeface="Times New Roman" panose="02020603050405020304" pitchFamily="18" charset="0"/>
                </a:rPr>
                <a:t>Timeout</a:t>
              </a:r>
            </a:p>
          </p:txBody>
        </p:sp>
        <p:cxnSp>
          <p:nvCxnSpPr>
            <p:cNvPr id="14" name="Straight Connector 13">
              <a:extLst>
                <a:ext uri="{FF2B5EF4-FFF2-40B4-BE49-F238E27FC236}">
                  <a16:creationId xmlns:a16="http://schemas.microsoft.com/office/drawing/2014/main" id="{18B6B74C-5BE5-4D84-A77F-B6749911E0C1}"/>
                </a:ext>
              </a:extLst>
            </p:cNvPr>
            <p:cNvCxnSpPr/>
            <p:nvPr/>
          </p:nvCxnSpPr>
          <p:spPr>
            <a:xfrm>
              <a:off x="5844131" y="3320143"/>
              <a:ext cx="978554" cy="0"/>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9858611-6B10-485F-AD3A-6BF75C85D809}"/>
                </a:ext>
              </a:extLst>
            </p:cNvPr>
            <p:cNvCxnSpPr/>
            <p:nvPr/>
          </p:nvCxnSpPr>
          <p:spPr>
            <a:xfrm>
              <a:off x="7150416" y="3905238"/>
              <a:ext cx="978554" cy="0"/>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318EF3FD-FCAD-48E8-87A8-2C9DFABDAC62}"/>
                </a:ext>
              </a:extLst>
            </p:cNvPr>
            <p:cNvSpPr txBox="1"/>
            <p:nvPr/>
          </p:nvSpPr>
          <p:spPr>
            <a:xfrm>
              <a:off x="5001149" y="3027763"/>
              <a:ext cx="1027204" cy="369332"/>
            </a:xfrm>
            <a:prstGeom prst="rect">
              <a:avLst/>
            </a:prstGeom>
            <a:noFill/>
          </p:spPr>
          <p:txBody>
            <a:bodyPr wrap="none" rtlCol="0">
              <a:spAutoFit/>
            </a:bodyPr>
            <a:lstStyle/>
            <a:p>
              <a:r>
                <a:rPr lang="en-US" dirty="0">
                  <a:latin typeface="Perpetua" panose="02020502060401020303" pitchFamily="18" charset="0"/>
                </a:rPr>
                <a:t>Threshold</a:t>
              </a:r>
            </a:p>
          </p:txBody>
        </p:sp>
      </p:grpSp>
      <p:sp>
        <p:nvSpPr>
          <p:cNvPr id="19" name="TextBox 18">
            <a:extLst>
              <a:ext uri="{FF2B5EF4-FFF2-40B4-BE49-F238E27FC236}">
                <a16:creationId xmlns:a16="http://schemas.microsoft.com/office/drawing/2014/main" id="{B9A3AA89-B623-4835-A02C-25C962F1004B}"/>
              </a:ext>
            </a:extLst>
          </p:cNvPr>
          <p:cNvSpPr txBox="1"/>
          <p:nvPr/>
        </p:nvSpPr>
        <p:spPr>
          <a:xfrm>
            <a:off x="5724564" y="5405700"/>
            <a:ext cx="1518364" cy="369332"/>
          </a:xfrm>
          <a:prstGeom prst="rect">
            <a:avLst/>
          </a:prstGeom>
          <a:noFill/>
        </p:spPr>
        <p:txBody>
          <a:bodyPr wrap="none" rtlCol="0">
            <a:spAutoFit/>
          </a:bodyPr>
          <a:lstStyle/>
          <a:p>
            <a:r>
              <a:rPr lang="en-US" dirty="0"/>
              <a:t>Fig. 3 Timeout</a:t>
            </a:r>
          </a:p>
        </p:txBody>
      </p:sp>
    </p:spTree>
    <p:extLst>
      <p:ext uri="{BB962C8B-B14F-4D97-AF65-F5344CB8AC3E}">
        <p14:creationId xmlns:p14="http://schemas.microsoft.com/office/powerpoint/2010/main" val="594329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TCP Reno</a:t>
            </a:r>
            <a:endParaRPr lang="en-FI" dirty="0"/>
          </a:p>
        </p:txBody>
      </p:sp>
      <p:sp>
        <p:nvSpPr>
          <p:cNvPr id="6" name="Rectangle 5">
            <a:extLst>
              <a:ext uri="{FF2B5EF4-FFF2-40B4-BE49-F238E27FC236}">
                <a16:creationId xmlns:a16="http://schemas.microsoft.com/office/drawing/2014/main" id="{40A80081-D242-43E1-B0B5-BFB1632891B0}"/>
              </a:ext>
            </a:extLst>
          </p:cNvPr>
          <p:cNvSpPr/>
          <p:nvPr/>
        </p:nvSpPr>
        <p:spPr>
          <a:xfrm>
            <a:off x="203037" y="2428221"/>
            <a:ext cx="2914324" cy="769441"/>
          </a:xfrm>
          <a:prstGeom prst="rect">
            <a:avLst/>
          </a:prstGeom>
        </p:spPr>
        <p:txBody>
          <a:bodyPr wrap="none">
            <a:spAutoFit/>
          </a:bodyPr>
          <a:lstStyle/>
          <a:p>
            <a:pPr marL="800100" lvl="1" indent="-342900">
              <a:buFont typeface="Courier New" panose="02070309020205020404" pitchFamily="49" charset="0"/>
              <a:buChar char="o"/>
            </a:pPr>
            <a:r>
              <a:rPr lang="en-US" sz="2200" b="1" dirty="0">
                <a:latin typeface="Perpetua" panose="02020502060401020303" pitchFamily="18" charset="0"/>
              </a:rPr>
              <a:t>3 duplicate ACK</a:t>
            </a:r>
          </a:p>
          <a:p>
            <a:pPr marL="1257300" lvl="2" indent="-342900">
              <a:buFont typeface="Arial" panose="020B0604020202020204" pitchFamily="34" charset="0"/>
              <a:buChar char="•"/>
            </a:pPr>
            <a:endParaRPr lang="en-US" sz="2200" dirty="0">
              <a:latin typeface="Perpetua" panose="02020502060401020303" pitchFamily="18"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9E08F63-F2DF-4E10-A4D8-6C645D834B97}"/>
                  </a:ext>
                </a:extLst>
              </p:cNvPr>
              <p:cNvSpPr txBox="1"/>
              <p:nvPr/>
            </p:nvSpPr>
            <p:spPr>
              <a:xfrm>
                <a:off x="1456065" y="2816090"/>
                <a:ext cx="1963871" cy="524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𝑇h𝑟𝑒𝑠h𝑜𝑙𝑑</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𝑐𝑤𝑛𝑑</m:t>
                          </m:r>
                        </m:num>
                        <m:den>
                          <m:r>
                            <a:rPr lang="en-US" b="0" i="1" smtClean="0">
                              <a:latin typeface="Cambria Math" panose="02040503050406030204" pitchFamily="18" charset="0"/>
                            </a:rPr>
                            <m:t>2</m:t>
                          </m:r>
                        </m:den>
                      </m:f>
                    </m:oMath>
                  </m:oMathPara>
                </a14:m>
                <a:endParaRPr lang="en-US" dirty="0"/>
              </a:p>
            </p:txBody>
          </p:sp>
        </mc:Choice>
        <mc:Fallback xmlns="">
          <p:sp>
            <p:nvSpPr>
              <p:cNvPr id="7" name="TextBox 6">
                <a:extLst>
                  <a:ext uri="{FF2B5EF4-FFF2-40B4-BE49-F238E27FC236}">
                    <a16:creationId xmlns:a16="http://schemas.microsoft.com/office/drawing/2014/main" id="{99E08F63-F2DF-4E10-A4D8-6C645D834B97}"/>
                  </a:ext>
                </a:extLst>
              </p:cNvPr>
              <p:cNvSpPr txBox="1">
                <a:spLocks noRot="1" noChangeAspect="1" noMove="1" noResize="1" noEditPoints="1" noAdjustHandles="1" noChangeArrowheads="1" noChangeShapeType="1" noTextEdit="1"/>
              </p:cNvSpPr>
              <p:nvPr/>
            </p:nvSpPr>
            <p:spPr>
              <a:xfrm>
                <a:off x="1456065" y="2816090"/>
                <a:ext cx="1963871" cy="52411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ADCBD8F-F2D5-445D-9AA5-43C4ADB02050}"/>
                  </a:ext>
                </a:extLst>
              </p:cNvPr>
              <p:cNvSpPr txBox="1"/>
              <p:nvPr/>
            </p:nvSpPr>
            <p:spPr>
              <a:xfrm>
                <a:off x="1528376" y="3434473"/>
                <a:ext cx="1899751" cy="276999"/>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𝑐𝑤𝑛𝑑</m:t>
                    </m:r>
                    <m:r>
                      <a:rPr lang="en-US" b="0" i="1" smtClean="0">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𝑇h𝑟𝑒𝑠h𝑜𝑙𝑑</m:t>
                    </m:r>
                  </m:oMath>
                </a14:m>
                <a:endParaRPr lang="en-US" dirty="0"/>
              </a:p>
            </p:txBody>
          </p:sp>
        </mc:Choice>
        <mc:Fallback xmlns="">
          <p:sp>
            <p:nvSpPr>
              <p:cNvPr id="8" name="TextBox 7">
                <a:extLst>
                  <a:ext uri="{FF2B5EF4-FFF2-40B4-BE49-F238E27FC236}">
                    <a16:creationId xmlns:a16="http://schemas.microsoft.com/office/drawing/2014/main" id="{6ADCBD8F-F2D5-445D-9AA5-43C4ADB02050}"/>
                  </a:ext>
                </a:extLst>
              </p:cNvPr>
              <p:cNvSpPr txBox="1">
                <a:spLocks noRot="1" noChangeAspect="1" noMove="1" noResize="1" noEditPoints="1" noAdjustHandles="1" noChangeArrowheads="1" noChangeShapeType="1" noTextEdit="1"/>
              </p:cNvSpPr>
              <p:nvPr/>
            </p:nvSpPr>
            <p:spPr>
              <a:xfrm>
                <a:off x="1528376" y="3434473"/>
                <a:ext cx="1899751" cy="276999"/>
              </a:xfrm>
              <a:prstGeom prst="rect">
                <a:avLst/>
              </a:prstGeom>
              <a:blipFill>
                <a:blip r:embed="rId3"/>
                <a:stretch>
                  <a:fillRect l="-4502" r="-3859" b="-6522"/>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0639ED62-9F18-43E7-AABD-A6667BA60016}"/>
              </a:ext>
            </a:extLst>
          </p:cNvPr>
          <p:cNvSpPr txBox="1"/>
          <p:nvPr/>
        </p:nvSpPr>
        <p:spPr>
          <a:xfrm>
            <a:off x="1447974" y="3827503"/>
            <a:ext cx="2881623" cy="430887"/>
          </a:xfrm>
          <a:prstGeom prst="rect">
            <a:avLst/>
          </a:prstGeom>
          <a:noFill/>
        </p:spPr>
        <p:txBody>
          <a:bodyPr wrap="none" rtlCol="0">
            <a:spAutoFit/>
          </a:bodyPr>
          <a:lstStyle/>
          <a:p>
            <a:r>
              <a:rPr lang="en-US" sz="2200" dirty="0">
                <a:latin typeface="Perpetua" panose="02020502060401020303" pitchFamily="18" charset="0"/>
              </a:rPr>
              <a:t>Start congestion avoidance</a:t>
            </a:r>
          </a:p>
        </p:txBody>
      </p:sp>
      <p:sp>
        <p:nvSpPr>
          <p:cNvPr id="26" name="TextBox 25">
            <a:extLst>
              <a:ext uri="{FF2B5EF4-FFF2-40B4-BE49-F238E27FC236}">
                <a16:creationId xmlns:a16="http://schemas.microsoft.com/office/drawing/2014/main" id="{DD85378F-8185-4F2C-9D02-F0B651C0F471}"/>
              </a:ext>
            </a:extLst>
          </p:cNvPr>
          <p:cNvSpPr txBox="1"/>
          <p:nvPr/>
        </p:nvSpPr>
        <p:spPr>
          <a:xfrm>
            <a:off x="5491153" y="5518487"/>
            <a:ext cx="2196242" cy="369332"/>
          </a:xfrm>
          <a:prstGeom prst="rect">
            <a:avLst/>
          </a:prstGeom>
          <a:noFill/>
        </p:spPr>
        <p:txBody>
          <a:bodyPr wrap="none" rtlCol="0">
            <a:spAutoFit/>
          </a:bodyPr>
          <a:lstStyle/>
          <a:p>
            <a:r>
              <a:rPr lang="en-US" dirty="0"/>
              <a:t>Fig. 4 3 duplicate ACK</a:t>
            </a:r>
          </a:p>
        </p:txBody>
      </p:sp>
      <p:grpSp>
        <p:nvGrpSpPr>
          <p:cNvPr id="37" name="Group 36">
            <a:extLst>
              <a:ext uri="{FF2B5EF4-FFF2-40B4-BE49-F238E27FC236}">
                <a16:creationId xmlns:a16="http://schemas.microsoft.com/office/drawing/2014/main" id="{97CA18B0-B7E3-4264-B1F6-4B87FD2C350D}"/>
              </a:ext>
            </a:extLst>
          </p:cNvPr>
          <p:cNvGrpSpPr/>
          <p:nvPr/>
        </p:nvGrpSpPr>
        <p:grpSpPr>
          <a:xfrm>
            <a:off x="4468224" y="2280811"/>
            <a:ext cx="4060449" cy="3231163"/>
            <a:chOff x="4468224" y="2280811"/>
            <a:chExt cx="4060449" cy="3231163"/>
          </a:xfrm>
        </p:grpSpPr>
        <p:pic>
          <p:nvPicPr>
            <p:cNvPr id="4" name="Picture 3" descr="A close up of a map&#10;&#10;Description automatically generated">
              <a:extLst>
                <a:ext uri="{FF2B5EF4-FFF2-40B4-BE49-F238E27FC236}">
                  <a16:creationId xmlns:a16="http://schemas.microsoft.com/office/drawing/2014/main" id="{F95BCF85-CFED-4E23-B58F-4C67C93A2F87}"/>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468224" y="2280811"/>
              <a:ext cx="4060449" cy="3046497"/>
            </a:xfrm>
            <a:prstGeom prst="rect">
              <a:avLst/>
            </a:prstGeom>
          </p:spPr>
        </p:pic>
        <p:sp>
          <p:nvSpPr>
            <p:cNvPr id="12" name="TextBox 11">
              <a:extLst>
                <a:ext uri="{FF2B5EF4-FFF2-40B4-BE49-F238E27FC236}">
                  <a16:creationId xmlns:a16="http://schemas.microsoft.com/office/drawing/2014/main" id="{7631CE84-F0DA-4D20-99FF-16785B0F7E9F}"/>
                </a:ext>
              </a:extLst>
            </p:cNvPr>
            <p:cNvSpPr txBox="1"/>
            <p:nvPr/>
          </p:nvSpPr>
          <p:spPr>
            <a:xfrm>
              <a:off x="6321765" y="5142642"/>
              <a:ext cx="535018" cy="369332"/>
            </a:xfrm>
            <a:prstGeom prst="rect">
              <a:avLst/>
            </a:prstGeom>
            <a:noFill/>
          </p:spPr>
          <p:txBody>
            <a:bodyPr wrap="none" rtlCol="0">
              <a:spAutoFit/>
            </a:bodyPr>
            <a:lstStyle/>
            <a:p>
              <a:r>
                <a:rPr lang="en-US" dirty="0"/>
                <a:t>RTT</a:t>
              </a:r>
            </a:p>
          </p:txBody>
        </p:sp>
        <p:sp>
          <p:nvSpPr>
            <p:cNvPr id="15" name="TextBox 14">
              <a:extLst>
                <a:ext uri="{FF2B5EF4-FFF2-40B4-BE49-F238E27FC236}">
                  <a16:creationId xmlns:a16="http://schemas.microsoft.com/office/drawing/2014/main" id="{FBB2DA84-4639-44CC-AAE1-6607518646A2}"/>
                </a:ext>
              </a:extLst>
            </p:cNvPr>
            <p:cNvSpPr txBox="1"/>
            <p:nvPr/>
          </p:nvSpPr>
          <p:spPr>
            <a:xfrm rot="16200000">
              <a:off x="4307283" y="3526806"/>
              <a:ext cx="691215" cy="369332"/>
            </a:xfrm>
            <a:prstGeom prst="rect">
              <a:avLst/>
            </a:prstGeom>
            <a:noFill/>
          </p:spPr>
          <p:txBody>
            <a:bodyPr wrap="none" rtlCol="0">
              <a:spAutoFit/>
            </a:bodyPr>
            <a:lstStyle/>
            <a:p>
              <a:r>
                <a:rPr lang="en-US" dirty="0"/>
                <a:t>cwnd</a:t>
              </a:r>
            </a:p>
          </p:txBody>
        </p:sp>
        <p:cxnSp>
          <p:nvCxnSpPr>
            <p:cNvPr id="27" name="Straight Connector 26">
              <a:extLst>
                <a:ext uri="{FF2B5EF4-FFF2-40B4-BE49-F238E27FC236}">
                  <a16:creationId xmlns:a16="http://schemas.microsoft.com/office/drawing/2014/main" id="{F5DC9E81-455F-4819-83CE-FA82726B4F9E}"/>
                </a:ext>
              </a:extLst>
            </p:cNvPr>
            <p:cNvCxnSpPr/>
            <p:nvPr/>
          </p:nvCxnSpPr>
          <p:spPr>
            <a:xfrm>
              <a:off x="6640953" y="3935307"/>
              <a:ext cx="778933"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CB95D849-079B-4398-B8F9-50640006DD81}"/>
                </a:ext>
              </a:extLst>
            </p:cNvPr>
            <p:cNvCxnSpPr/>
            <p:nvPr/>
          </p:nvCxnSpPr>
          <p:spPr>
            <a:xfrm>
              <a:off x="5542832" y="3214596"/>
              <a:ext cx="778933"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17E0DB56-A8DB-41D3-8927-F9559C6793FC}"/>
                </a:ext>
              </a:extLst>
            </p:cNvPr>
            <p:cNvSpPr txBox="1"/>
            <p:nvPr/>
          </p:nvSpPr>
          <p:spPr>
            <a:xfrm>
              <a:off x="5161222" y="2493305"/>
              <a:ext cx="1337226" cy="307777"/>
            </a:xfrm>
            <a:prstGeom prst="rect">
              <a:avLst/>
            </a:prstGeom>
            <a:noFill/>
          </p:spPr>
          <p:txBody>
            <a:bodyPr wrap="none" rtlCol="0">
              <a:spAutoFit/>
            </a:bodyPr>
            <a:lstStyle/>
            <a:p>
              <a:r>
                <a:rPr lang="en-US" sz="1400" dirty="0"/>
                <a:t>3-duplicate ACK</a:t>
              </a:r>
            </a:p>
          </p:txBody>
        </p:sp>
        <p:cxnSp>
          <p:nvCxnSpPr>
            <p:cNvPr id="31" name="Straight Arrow Connector 30">
              <a:extLst>
                <a:ext uri="{FF2B5EF4-FFF2-40B4-BE49-F238E27FC236}">
                  <a16:creationId xmlns:a16="http://schemas.microsoft.com/office/drawing/2014/main" id="{92DC45FA-C4E4-41AA-944C-DE7C166A3CB3}"/>
                </a:ext>
              </a:extLst>
            </p:cNvPr>
            <p:cNvCxnSpPr>
              <a:cxnSpLocks/>
              <a:stCxn id="29" idx="3"/>
            </p:cNvCxnSpPr>
            <p:nvPr/>
          </p:nvCxnSpPr>
          <p:spPr>
            <a:xfrm>
              <a:off x="6498448" y="2647194"/>
              <a:ext cx="227472" cy="553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70C7F5C0-A52D-4BBB-B81F-A313CC3CDA99}"/>
                </a:ext>
              </a:extLst>
            </p:cNvPr>
            <p:cNvSpPr txBox="1"/>
            <p:nvPr/>
          </p:nvSpPr>
          <p:spPr>
            <a:xfrm>
              <a:off x="7484533" y="3673614"/>
              <a:ext cx="518988" cy="338554"/>
            </a:xfrm>
            <a:prstGeom prst="rect">
              <a:avLst/>
            </a:prstGeom>
            <a:noFill/>
          </p:spPr>
          <p:txBody>
            <a:bodyPr wrap="none" rtlCol="0">
              <a:spAutoFit/>
            </a:bodyPr>
            <a:lstStyle/>
            <a:p>
              <a:r>
                <a:rPr lang="en-US" sz="1600" dirty="0" err="1"/>
                <a:t>ssth</a:t>
              </a:r>
              <a:endParaRPr lang="en-US" sz="1600" dirty="0"/>
            </a:p>
          </p:txBody>
        </p:sp>
        <p:sp>
          <p:nvSpPr>
            <p:cNvPr id="36" name="TextBox 35">
              <a:extLst>
                <a:ext uri="{FF2B5EF4-FFF2-40B4-BE49-F238E27FC236}">
                  <a16:creationId xmlns:a16="http://schemas.microsoft.com/office/drawing/2014/main" id="{56960132-B327-46D7-B20A-D0FDDB603C5E}"/>
                </a:ext>
              </a:extLst>
            </p:cNvPr>
            <p:cNvSpPr txBox="1"/>
            <p:nvPr/>
          </p:nvSpPr>
          <p:spPr>
            <a:xfrm>
              <a:off x="5023844" y="2987075"/>
              <a:ext cx="518988" cy="338554"/>
            </a:xfrm>
            <a:prstGeom prst="rect">
              <a:avLst/>
            </a:prstGeom>
            <a:noFill/>
          </p:spPr>
          <p:txBody>
            <a:bodyPr wrap="none" rtlCol="0">
              <a:spAutoFit/>
            </a:bodyPr>
            <a:lstStyle/>
            <a:p>
              <a:r>
                <a:rPr lang="en-US" sz="1600" dirty="0" err="1"/>
                <a:t>ssth</a:t>
              </a:r>
              <a:endParaRPr lang="en-US" sz="1600" dirty="0"/>
            </a:p>
          </p:txBody>
        </p:sp>
      </p:grpSp>
    </p:spTree>
    <p:extLst>
      <p:ext uri="{BB962C8B-B14F-4D97-AF65-F5344CB8AC3E}">
        <p14:creationId xmlns:p14="http://schemas.microsoft.com/office/powerpoint/2010/main" val="627100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Congestion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TCP Reno</a:t>
            </a:r>
            <a:endParaRPr lang="en-FI" dirty="0"/>
          </a:p>
        </p:txBody>
      </p:sp>
      <p:pic>
        <p:nvPicPr>
          <p:cNvPr id="6" name="Picture 3">
            <a:extLst>
              <a:ext uri="{FF2B5EF4-FFF2-40B4-BE49-F238E27FC236}">
                <a16:creationId xmlns:a16="http://schemas.microsoft.com/office/drawing/2014/main" id="{E34D47B0-8324-4D52-AD85-E8D11F2075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3885" y="2384559"/>
            <a:ext cx="6204858" cy="2982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AA566947-66F0-422F-A1B3-803EE3958292}"/>
              </a:ext>
            </a:extLst>
          </p:cNvPr>
          <p:cNvSpPr txBox="1"/>
          <p:nvPr/>
        </p:nvSpPr>
        <p:spPr>
          <a:xfrm>
            <a:off x="2601686" y="5475514"/>
            <a:ext cx="2416687" cy="369332"/>
          </a:xfrm>
          <a:prstGeom prst="rect">
            <a:avLst/>
          </a:prstGeom>
          <a:noFill/>
        </p:spPr>
        <p:txBody>
          <a:bodyPr wrap="none" rtlCol="0">
            <a:spAutoFit/>
          </a:bodyPr>
          <a:lstStyle/>
          <a:p>
            <a:r>
              <a:rPr lang="en-US" dirty="0"/>
              <a:t>Fig. 5 TCP reno example</a:t>
            </a:r>
          </a:p>
        </p:txBody>
      </p:sp>
    </p:spTree>
    <p:extLst>
      <p:ext uri="{BB962C8B-B14F-4D97-AF65-F5344CB8AC3E}">
        <p14:creationId xmlns:p14="http://schemas.microsoft.com/office/powerpoint/2010/main" val="2605078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621A8-CDBD-3E70-5D84-84D872680B7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B72D67-6922-3C63-72AF-FFC5F0213E4D}"/>
              </a:ext>
            </a:extLst>
          </p:cNvPr>
          <p:cNvSpPr>
            <a:spLocks noGrp="1"/>
          </p:cNvSpPr>
          <p:nvPr>
            <p:ph idx="1"/>
          </p:nvPr>
        </p:nvSpPr>
        <p:spPr/>
        <p:txBody>
          <a:bodyPr/>
          <a:lstStyle/>
          <a:p>
            <a:endParaRPr lang="en-US"/>
          </a:p>
        </p:txBody>
      </p:sp>
      <p:pic>
        <p:nvPicPr>
          <p:cNvPr id="1026" name="Picture 2" descr="3.q Assume a triple duplicate ACK event is detected | Chegg.com">
            <a:extLst>
              <a:ext uri="{FF2B5EF4-FFF2-40B4-BE49-F238E27FC236}">
                <a16:creationId xmlns:a16="http://schemas.microsoft.com/office/drawing/2014/main" id="{B074BCF2-5800-7EE3-872F-74A951244E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63" y="422031"/>
            <a:ext cx="9106211" cy="600690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D56173E-1403-B59F-C971-73E5E5A3B15D}"/>
              </a:ext>
            </a:extLst>
          </p:cNvPr>
          <p:cNvSpPr txBox="1"/>
          <p:nvPr/>
        </p:nvSpPr>
        <p:spPr>
          <a:xfrm>
            <a:off x="6315714" y="1621892"/>
            <a:ext cx="2804060" cy="1200329"/>
          </a:xfrm>
          <a:prstGeom prst="rect">
            <a:avLst/>
          </a:prstGeom>
          <a:noFill/>
        </p:spPr>
        <p:txBody>
          <a:bodyPr wrap="square">
            <a:spAutoFit/>
          </a:bodyPr>
          <a:lstStyle/>
          <a:p>
            <a:r>
              <a:rPr lang="en-US" b="0" i="0" dirty="0">
                <a:solidFill>
                  <a:srgbClr val="222222"/>
                </a:solidFill>
                <a:effectLst/>
                <a:latin typeface="Aspira Webfont"/>
              </a:rPr>
              <a:t>Find the Events in the TCP RENO. What are The Values Of </a:t>
            </a:r>
            <a:r>
              <a:rPr lang="en-US" b="0" i="0" dirty="0" err="1">
                <a:solidFill>
                  <a:srgbClr val="222222"/>
                </a:solidFill>
                <a:effectLst/>
                <a:latin typeface="Aspira Webfont"/>
              </a:rPr>
              <a:t>Ssthresh</a:t>
            </a:r>
            <a:r>
              <a:rPr lang="en-US" b="0" i="0" dirty="0">
                <a:solidFill>
                  <a:srgbClr val="222222"/>
                </a:solidFill>
                <a:effectLst/>
                <a:latin typeface="Aspira Webfont"/>
              </a:rPr>
              <a:t> And </a:t>
            </a:r>
            <a:r>
              <a:rPr lang="en-US" b="0" i="0" dirty="0" err="1">
                <a:solidFill>
                  <a:srgbClr val="222222"/>
                </a:solidFill>
                <a:effectLst/>
                <a:latin typeface="Aspira Webfont"/>
              </a:rPr>
              <a:t>Cwnd</a:t>
            </a:r>
            <a:r>
              <a:rPr lang="en-US" b="0" i="0" dirty="0">
                <a:solidFill>
                  <a:srgbClr val="222222"/>
                </a:solidFill>
                <a:effectLst/>
                <a:latin typeface="Aspira Webfont"/>
              </a:rPr>
              <a:t> at Each </a:t>
            </a:r>
            <a:r>
              <a:rPr lang="en-US" dirty="0">
                <a:solidFill>
                  <a:srgbClr val="222222"/>
                </a:solidFill>
                <a:latin typeface="Aspira Webfont"/>
              </a:rPr>
              <a:t>E</a:t>
            </a:r>
            <a:r>
              <a:rPr lang="en-US" b="0" i="0" dirty="0">
                <a:solidFill>
                  <a:srgbClr val="222222"/>
                </a:solidFill>
                <a:effectLst/>
                <a:latin typeface="Aspira Webfont"/>
              </a:rPr>
              <a:t>vent.</a:t>
            </a:r>
            <a:endParaRPr lang="en-US" dirty="0"/>
          </a:p>
        </p:txBody>
      </p:sp>
    </p:spTree>
    <p:extLst>
      <p:ext uri="{BB962C8B-B14F-4D97-AF65-F5344CB8AC3E}">
        <p14:creationId xmlns:p14="http://schemas.microsoft.com/office/powerpoint/2010/main" val="723364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Task 2</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12" name="TextBox 11">
            <a:extLst>
              <a:ext uri="{FF2B5EF4-FFF2-40B4-BE49-F238E27FC236}">
                <a16:creationId xmlns:a16="http://schemas.microsoft.com/office/drawing/2014/main" id="{3686879E-33A3-4A4C-B377-963440C19E98}"/>
              </a:ext>
            </a:extLst>
          </p:cNvPr>
          <p:cNvSpPr txBox="1"/>
          <p:nvPr/>
        </p:nvSpPr>
        <p:spPr>
          <a:xfrm>
            <a:off x="185057" y="1979668"/>
            <a:ext cx="8826327" cy="338554"/>
          </a:xfrm>
          <a:prstGeom prst="rect">
            <a:avLst/>
          </a:prstGeom>
          <a:noFill/>
        </p:spPr>
        <p:txBody>
          <a:bodyPr wrap="none" rtlCol="0">
            <a:spAutoFit/>
          </a:bodyPr>
          <a:lstStyle/>
          <a:p>
            <a:r>
              <a:rPr lang="en-US" sz="1600" b="1" dirty="0">
                <a:solidFill>
                  <a:srgbClr val="0070C0"/>
                </a:solidFill>
                <a:latin typeface="Perpetua" panose="02020502060401020303" pitchFamily="18" charset="0"/>
              </a:rPr>
              <a:t>Identify Timeout/3 duplicate ACK incidence. Also identify slow start, congestion avoidance  period.</a:t>
            </a:r>
          </a:p>
        </p:txBody>
      </p:sp>
      <p:pic>
        <p:nvPicPr>
          <p:cNvPr id="1026" name="Picture 2" descr="See the source image">
            <a:extLst>
              <a:ext uri="{FF2B5EF4-FFF2-40B4-BE49-F238E27FC236}">
                <a16:creationId xmlns:a16="http://schemas.microsoft.com/office/drawing/2014/main" id="{C1E78F97-A497-B678-E0F2-69698092A4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057" y="2318222"/>
            <a:ext cx="8773885" cy="4539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0714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Flow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idx="1"/>
          </p:nvPr>
        </p:nvSpPr>
        <p:spPr/>
        <p:txBody>
          <a:bodyPr/>
          <a:lstStyle/>
          <a:p>
            <a:r>
              <a:rPr lang="en-US" sz="2400" dirty="0">
                <a:latin typeface="Perpetua" panose="02020502060401020303" pitchFamily="18" charset="0"/>
                <a:ea typeface="Permanent Marker" panose="02000000000000000000" pitchFamily="2" charset="0"/>
              </a:rPr>
              <a:t>The TCP stores the data that needs to be sent in the send buffer and the data to be received in the receive buffer. Flow control makes sure that no more packets are sent by the sender once the receiver’s buffer is full as the messages will be dropped and the receiver won’t be able to handle them. In order to control the amount of data sent by the TCP, the receiver will create a buffer which is also known as Receive Window.</a:t>
            </a:r>
            <a:endParaRPr lang="en-US" dirty="0">
              <a:latin typeface="Perpetua" panose="02020502060401020303" pitchFamily="18" charset="0"/>
              <a:ea typeface="Permanent Marker" panose="02000000000000000000" pitchFamily="2" charset="0"/>
            </a:endParaRPr>
          </a:p>
          <a:p>
            <a:r>
              <a:rPr lang="en-US" dirty="0"/>
              <a:t> </a:t>
            </a:r>
            <a:endParaRPr lang="en-FI" dirty="0"/>
          </a:p>
        </p:txBody>
      </p:sp>
    </p:spTree>
    <p:extLst>
      <p:ext uri="{BB962C8B-B14F-4D97-AF65-F5344CB8AC3E}">
        <p14:creationId xmlns:p14="http://schemas.microsoft.com/office/powerpoint/2010/main" val="4181236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Flow control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4" name="TextBox 3">
            <a:extLst>
              <a:ext uri="{FF2B5EF4-FFF2-40B4-BE49-F238E27FC236}">
                <a16:creationId xmlns:a16="http://schemas.microsoft.com/office/drawing/2014/main" id="{60233793-9576-4A61-A1FD-1B83B0EE9820}"/>
              </a:ext>
            </a:extLst>
          </p:cNvPr>
          <p:cNvSpPr txBox="1"/>
          <p:nvPr/>
        </p:nvSpPr>
        <p:spPr>
          <a:xfrm>
            <a:off x="249759" y="2017059"/>
            <a:ext cx="9007081" cy="3816429"/>
          </a:xfrm>
          <a:prstGeom prst="rect">
            <a:avLst/>
          </a:prstGeom>
          <a:noFill/>
        </p:spPr>
        <p:txBody>
          <a:bodyPr wrap="none" rtlCol="0">
            <a:spAutoFit/>
          </a:bodyPr>
          <a:lstStyle/>
          <a:p>
            <a:pPr marL="285750" indent="-285750">
              <a:buFont typeface="Wingdings" panose="05000000000000000000" pitchFamily="2" charset="2"/>
              <a:buChar char="§"/>
            </a:pPr>
            <a:r>
              <a:rPr lang="en-US" sz="2400" dirty="0">
                <a:latin typeface="Perpetua" panose="02020502060401020303" pitchFamily="18" charset="0"/>
                <a:ea typeface="Permanent Marker" panose="02000000000000000000" pitchFamily="2" charset="0"/>
              </a:rPr>
              <a:t>Send window</a:t>
            </a:r>
          </a:p>
          <a:p>
            <a:pPr marL="742950" lvl="1" indent="-285750">
              <a:buFont typeface="Courier New" panose="02070309020205020404" pitchFamily="49" charset="0"/>
              <a:buChar char="o"/>
            </a:pPr>
            <a:r>
              <a:rPr lang="en-US" sz="2200" dirty="0">
                <a:latin typeface="Perpetua" panose="02020502060401020303" pitchFamily="18" charset="0"/>
                <a:ea typeface="Permanent Marker" panose="02000000000000000000" pitchFamily="2" charset="0"/>
              </a:rPr>
              <a:t>Sequence of byte numbers  of which some are sent but yet to be acknowledged </a:t>
            </a:r>
          </a:p>
          <a:p>
            <a:pPr lvl="1"/>
            <a:r>
              <a:rPr lang="en-US" sz="2200" dirty="0">
                <a:latin typeface="Perpetua" panose="02020502060401020303" pitchFamily="18" charset="0"/>
                <a:ea typeface="Permanent Marker" panose="02000000000000000000" pitchFamily="2" charset="0"/>
              </a:rPr>
              <a:t>     while others are waiting to be sent</a:t>
            </a:r>
          </a:p>
          <a:p>
            <a:pPr marL="800100" lvl="1" indent="-342900">
              <a:buFont typeface="Courier New" panose="02070309020205020404" pitchFamily="49" charset="0"/>
              <a:buChar char="o"/>
            </a:pPr>
            <a:r>
              <a:rPr lang="en-US" sz="2200" dirty="0">
                <a:latin typeface="Perpetua" panose="02020502060401020303" pitchFamily="18" charset="0"/>
                <a:ea typeface="Permanent Marker" panose="02000000000000000000" pitchFamily="2" charset="0"/>
              </a:rPr>
              <a:t>Maintained by sender</a:t>
            </a:r>
          </a:p>
          <a:p>
            <a:pPr lvl="1"/>
            <a:endParaRPr lang="en-US" sz="2200" dirty="0">
              <a:latin typeface="Perpetua" panose="02020502060401020303" pitchFamily="18" charset="0"/>
              <a:ea typeface="Permanent Marker" panose="02000000000000000000" pitchFamily="2" charset="0"/>
            </a:endParaRPr>
          </a:p>
          <a:p>
            <a:pPr marL="342900" indent="-342900">
              <a:buFont typeface="Wingdings" panose="05000000000000000000" pitchFamily="2" charset="2"/>
              <a:buChar char="§"/>
            </a:pPr>
            <a:r>
              <a:rPr lang="en-US" sz="2400" dirty="0">
                <a:latin typeface="Perpetua" panose="02020502060401020303" pitchFamily="18" charset="0"/>
                <a:ea typeface="Permanent Marker" panose="02000000000000000000" pitchFamily="2" charset="0"/>
              </a:rPr>
              <a:t>Receive window</a:t>
            </a:r>
          </a:p>
          <a:p>
            <a:pPr marL="742950" lvl="1" indent="-285750">
              <a:buFont typeface="Courier New" panose="02070309020205020404" pitchFamily="49" charset="0"/>
              <a:buChar char="o"/>
            </a:pPr>
            <a:r>
              <a:rPr lang="en-US" sz="2200" dirty="0">
                <a:latin typeface="Perpetua" panose="02020502060401020303" pitchFamily="18" charset="0"/>
                <a:ea typeface="Permanent Marker" panose="02000000000000000000" pitchFamily="2" charset="0"/>
              </a:rPr>
              <a:t>Sequence of byte numbers  which are expected to be received</a:t>
            </a:r>
          </a:p>
          <a:p>
            <a:pPr marL="742950" lvl="1" indent="-285750">
              <a:buFont typeface="Courier New" panose="02070309020205020404" pitchFamily="49" charset="0"/>
              <a:buChar char="o"/>
            </a:pPr>
            <a:r>
              <a:rPr lang="en-US" sz="2200" dirty="0">
                <a:latin typeface="Perpetua" panose="02020502060401020303" pitchFamily="18" charset="0"/>
                <a:ea typeface="Permanent Marker" panose="02000000000000000000" pitchFamily="2" charset="0"/>
              </a:rPr>
              <a:t>Maintained by receiver</a:t>
            </a:r>
          </a:p>
          <a:p>
            <a:pPr lvl="1"/>
            <a:endParaRPr lang="en-US" sz="2200" dirty="0">
              <a:latin typeface="Perpetua" panose="02020502060401020303" pitchFamily="18" charset="0"/>
              <a:ea typeface="Permanent Marker" panose="02000000000000000000" pitchFamily="2" charset="0"/>
            </a:endParaRPr>
          </a:p>
          <a:p>
            <a:pPr lvl="1"/>
            <a:endParaRPr lang="en-US" sz="2200" dirty="0">
              <a:latin typeface="Perpetua" panose="02020502060401020303" pitchFamily="18" charset="0"/>
              <a:ea typeface="Permanent Marker" panose="02000000000000000000" pitchFamily="2" charset="0"/>
            </a:endParaRPr>
          </a:p>
          <a:p>
            <a:endParaRPr lang="en-US" dirty="0">
              <a:latin typeface="Perpetua" panose="02020502060401020303" pitchFamily="18" charset="0"/>
              <a:ea typeface="Permanent Marker" panose="02000000000000000000" pitchFamily="2" charset="0"/>
            </a:endParaRPr>
          </a:p>
        </p:txBody>
      </p:sp>
    </p:spTree>
    <p:extLst>
      <p:ext uri="{BB962C8B-B14F-4D97-AF65-F5344CB8AC3E}">
        <p14:creationId xmlns:p14="http://schemas.microsoft.com/office/powerpoint/2010/main" val="2076372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2" name="Rectangle 1">
            <a:extLst>
              <a:ext uri="{FF2B5EF4-FFF2-40B4-BE49-F238E27FC236}">
                <a16:creationId xmlns:a16="http://schemas.microsoft.com/office/drawing/2014/main" id="{49E7FB70-CD44-40AB-A6D3-FF8F232F17EC}"/>
              </a:ext>
            </a:extLst>
          </p:cNvPr>
          <p:cNvSpPr/>
          <p:nvPr/>
        </p:nvSpPr>
        <p:spPr>
          <a:xfrm>
            <a:off x="335493" y="2032338"/>
            <a:ext cx="8612563" cy="4247317"/>
          </a:xfrm>
          <a:prstGeom prst="rect">
            <a:avLst/>
          </a:prstGeom>
        </p:spPr>
        <p:txBody>
          <a:bodyPr wrap="square">
            <a:spAutoFit/>
          </a:bodyPr>
          <a:lstStyle/>
          <a:p>
            <a:pPr algn="just"/>
            <a:r>
              <a:rPr lang="en-US" dirty="0"/>
              <a:t>[1] </a:t>
            </a:r>
            <a:r>
              <a:rPr lang="en-US" dirty="0">
                <a:latin typeface="Times New Roman" panose="02020603050405020304" pitchFamily="18" charset="0"/>
                <a:cs typeface="Times New Roman" panose="02020603050405020304" pitchFamily="18" charset="0"/>
              </a:rPr>
              <a:t>B. A. </a:t>
            </a:r>
            <a:r>
              <a:rPr lang="en-US" dirty="0" err="1">
                <a:latin typeface="Times New Roman" panose="02020603050405020304" pitchFamily="18" charset="0"/>
                <a:cs typeface="Times New Roman" panose="02020603050405020304" pitchFamily="18" charset="0"/>
              </a:rPr>
              <a:t>Forouzan</a:t>
            </a:r>
            <a:r>
              <a:rPr lang="en-US" i="1" dirty="0">
                <a:latin typeface="Times New Roman" panose="02020603050405020304" pitchFamily="18" charset="0"/>
                <a:cs typeface="Times New Roman" panose="02020603050405020304" pitchFamily="18" charset="0"/>
              </a:rPr>
              <a:t>, Data Communication and Networking, 4</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ed., Tata McGraw Hill  Companies, Inc.,  New Delhi, 2010, pp.  385.</a:t>
            </a:r>
          </a:p>
          <a:p>
            <a:pPr algn="just"/>
            <a:r>
              <a:rPr lang="en-US" dirty="0">
                <a:latin typeface="Times New Roman" panose="02020603050405020304" pitchFamily="18" charset="0"/>
                <a:cs typeface="Times New Roman" panose="02020603050405020304" pitchFamily="18" charset="0"/>
              </a:rPr>
              <a:t>[2] A. S. Tanenbaum and D. J. </a:t>
            </a:r>
            <a:r>
              <a:rPr lang="en-US" dirty="0" err="1">
                <a:latin typeface="Times New Roman" panose="02020603050405020304" pitchFamily="18" charset="0"/>
                <a:cs typeface="Times New Roman" panose="02020603050405020304" pitchFamily="18" charset="0"/>
              </a:rPr>
              <a:t>Wetherall</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Computer Networks</a:t>
            </a:r>
            <a:r>
              <a:rPr lang="en-US" dirty="0">
                <a:latin typeface="Times New Roman" panose="02020603050405020304" pitchFamily="18" charset="0"/>
                <a:cs typeface="Times New Roman" panose="02020603050405020304" pitchFamily="18" charset="0"/>
              </a:rPr>
              <a:t>,  5</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ed., Pearson          </a:t>
            </a:r>
          </a:p>
          <a:p>
            <a:pPr algn="just"/>
            <a:r>
              <a:rPr lang="en-US" dirty="0">
                <a:latin typeface="Times New Roman" panose="02020603050405020304" pitchFamily="18" charset="0"/>
                <a:cs typeface="Times New Roman" panose="02020603050405020304" pitchFamily="18" charset="0"/>
              </a:rPr>
              <a:t>      Education India, 2013, pp.  571-572.</a:t>
            </a:r>
          </a:p>
          <a:p>
            <a:pPr algn="just"/>
            <a:r>
              <a:rPr lang="en-US" dirty="0">
                <a:latin typeface="Times New Roman" panose="02020603050405020304" pitchFamily="18" charset="0"/>
                <a:cs typeface="Times New Roman" panose="02020603050405020304" pitchFamily="18" charset="0"/>
              </a:rPr>
              <a:t>[3] J. F., Kurose and K. W. Ross</a:t>
            </a:r>
            <a:r>
              <a:rPr lang="en-US" i="1" dirty="0">
                <a:latin typeface="Times New Roman" panose="02020603050405020304" pitchFamily="18" charset="0"/>
                <a:cs typeface="Times New Roman" panose="02020603050405020304" pitchFamily="18" charset="0"/>
              </a:rPr>
              <a:t>, Computer Networking: A Top-Down Approach,</a:t>
            </a:r>
            <a:r>
              <a:rPr lang="en-US" dirty="0">
                <a:latin typeface="Times New Roman" panose="02020603050405020304" pitchFamily="18" charset="0"/>
                <a:cs typeface="Times New Roman" panose="02020603050405020304" pitchFamily="18" charset="0"/>
              </a:rPr>
              <a:t> 7</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ed.,        </a:t>
            </a:r>
          </a:p>
          <a:p>
            <a:pPr algn="just"/>
            <a:r>
              <a:rPr lang="en-US" dirty="0">
                <a:latin typeface="Times New Roman" panose="02020603050405020304" pitchFamily="18" charset="0"/>
                <a:cs typeface="Times New Roman" panose="02020603050405020304" pitchFamily="18" charset="0"/>
              </a:rPr>
              <a:t>      Pearson Education, Inc.,  USA, 2017, pp. 274-277.</a:t>
            </a:r>
          </a:p>
          <a:p>
            <a:pPr algn="just"/>
            <a:r>
              <a:rPr lang="en-US" dirty="0">
                <a:latin typeface="Times New Roman" panose="02020603050405020304" pitchFamily="18" charset="0"/>
                <a:cs typeface="Times New Roman" panose="02020603050405020304" pitchFamily="18" charset="0"/>
              </a:rPr>
              <a:t>[4] D. </a:t>
            </a:r>
            <a:r>
              <a:rPr lang="en-US" dirty="0" err="1">
                <a:latin typeface="Times New Roman" panose="02020603050405020304" pitchFamily="18" charset="0"/>
                <a:cs typeface="Times New Roman" panose="02020603050405020304" pitchFamily="18" charset="0"/>
              </a:rPr>
              <a:t>Medhi</a:t>
            </a:r>
            <a:r>
              <a:rPr lang="en-US" dirty="0">
                <a:latin typeface="Times New Roman" panose="02020603050405020304" pitchFamily="18" charset="0"/>
                <a:cs typeface="Times New Roman" panose="02020603050405020304" pitchFamily="18" charset="0"/>
              </a:rPr>
              <a:t> and K. </a:t>
            </a:r>
            <a:r>
              <a:rPr lang="en-US" dirty="0" err="1">
                <a:latin typeface="Times New Roman" panose="02020603050405020304" pitchFamily="18" charset="0"/>
                <a:cs typeface="Times New Roman" panose="02020603050405020304" pitchFamily="18" charset="0"/>
              </a:rPr>
              <a:t>Ramassamy</a:t>
            </a:r>
            <a:r>
              <a:rPr lang="en-US" dirty="0">
                <a:latin typeface="Times New Roman" panose="02020603050405020304" pitchFamily="18" charset="0"/>
                <a:cs typeface="Times New Roman" panose="02020603050405020304" pitchFamily="18" charset="0"/>
              </a:rPr>
              <a:t>, Network Routing Algorithms, Protocols and  </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Archtectures</a:t>
            </a:r>
            <a:r>
              <a:rPr lang="en-US" dirty="0">
                <a:latin typeface="Times New Roman" panose="02020603050405020304" pitchFamily="18" charset="0"/>
                <a:cs typeface="Times New Roman" panose="02020603050405020304" pitchFamily="18" charset="0"/>
              </a:rPr>
              <a:t>,  2</a:t>
            </a:r>
            <a:r>
              <a:rPr lang="en-US" baseline="30000" dirty="0">
                <a:latin typeface="Times New Roman" panose="02020603050405020304" pitchFamily="18" charset="0"/>
                <a:cs typeface="Times New Roman" panose="02020603050405020304" pitchFamily="18" charset="0"/>
              </a:rPr>
              <a:t>nd</a:t>
            </a:r>
            <a:r>
              <a:rPr lang="en-US" dirty="0">
                <a:latin typeface="Times New Roman" panose="02020603050405020304" pitchFamily="18" charset="0"/>
                <a:cs typeface="Times New Roman" panose="02020603050405020304" pitchFamily="18" charset="0"/>
              </a:rPr>
              <a:t> ed.,  Elsevier Inc., 2018,  pp. 607-608.</a:t>
            </a:r>
          </a:p>
          <a:p>
            <a:pPr algn="just"/>
            <a:r>
              <a:rPr lang="en-US" dirty="0">
                <a:latin typeface="Times New Roman" panose="02020603050405020304" pitchFamily="18" charset="0"/>
                <a:cs typeface="Times New Roman" panose="02020603050405020304" pitchFamily="18" charset="0"/>
              </a:rPr>
              <a:t>[5] D. </a:t>
            </a:r>
            <a:r>
              <a:rPr lang="en-US" dirty="0" err="1">
                <a:latin typeface="Times New Roman" panose="02020603050405020304" pitchFamily="18" charset="0"/>
                <a:cs typeface="Times New Roman" panose="02020603050405020304" pitchFamily="18" charset="0"/>
              </a:rPr>
              <a:t>Runemalm</a:t>
            </a:r>
            <a:r>
              <a:rPr lang="en-US" dirty="0">
                <a:latin typeface="Times New Roman" panose="02020603050405020304" pitchFamily="18" charset="0"/>
                <a:cs typeface="Times New Roman" panose="02020603050405020304" pitchFamily="18" charset="0"/>
              </a:rPr>
              <a:t> , D. M. Sarwar and M. </a:t>
            </a:r>
            <a:r>
              <a:rPr lang="en-US" dirty="0" err="1">
                <a:latin typeface="Times New Roman" panose="02020603050405020304" pitchFamily="18" charset="0"/>
                <a:cs typeface="Times New Roman" panose="02020603050405020304" pitchFamily="18" charset="0"/>
              </a:rPr>
              <a:t>Shalbaf</a:t>
            </a:r>
            <a:r>
              <a:rPr lang="en-US" dirty="0">
                <a:latin typeface="Times New Roman" panose="02020603050405020304" pitchFamily="18" charset="0"/>
                <a:cs typeface="Times New Roman" panose="02020603050405020304" pitchFamily="18" charset="0"/>
              </a:rPr>
              <a:t>,  “Decreasing the Hybrid-ARQ bandwidth   </a:t>
            </a:r>
          </a:p>
          <a:p>
            <a:pPr algn="just"/>
            <a:r>
              <a:rPr lang="en-US" dirty="0">
                <a:latin typeface="Times New Roman" panose="02020603050405020304" pitchFamily="18" charset="0"/>
                <a:cs typeface="Times New Roman" panose="02020603050405020304" pitchFamily="18" charset="0"/>
              </a:rPr>
              <a:t>      overhead through the Multiple Packet NAK (MPN) protocol”,     </a:t>
            </a:r>
          </a:p>
          <a:p>
            <a:pPr algn="just"/>
            <a:r>
              <a:rPr lang="en-US" dirty="0">
                <a:latin typeface="Times New Roman" panose="02020603050405020304" pitchFamily="18" charset="0"/>
                <a:cs typeface="Times New Roman" panose="02020603050405020304" pitchFamily="18" charset="0"/>
              </a:rPr>
              <a:t>     </a:t>
            </a:r>
            <a:r>
              <a:rPr lang="en-US" dirty="0"/>
              <a:t>https://www.researchgate.net/publication/267554658 , [Accessed: April. 22, 2020]. </a:t>
            </a:r>
          </a:p>
          <a:p>
            <a:pPr algn="just"/>
            <a:r>
              <a:rPr lang="en-US" dirty="0"/>
              <a:t>[6] </a:t>
            </a:r>
            <a:r>
              <a:rPr lang="en-US" dirty="0">
                <a:latin typeface="Times New Roman" panose="02020603050405020304" pitchFamily="18" charset="0"/>
                <a:cs typeface="Times New Roman" panose="02020603050405020304" pitchFamily="18" charset="0"/>
              </a:rPr>
              <a:t>B. A. </a:t>
            </a:r>
            <a:r>
              <a:rPr lang="en-US" dirty="0" err="1">
                <a:latin typeface="Times New Roman" panose="02020603050405020304" pitchFamily="18" charset="0"/>
                <a:cs typeface="Times New Roman" panose="02020603050405020304" pitchFamily="18" charset="0"/>
              </a:rPr>
              <a:t>Forouzan</a:t>
            </a:r>
            <a:r>
              <a:rPr lang="en-US" i="1" dirty="0">
                <a:latin typeface="Times New Roman" panose="02020603050405020304" pitchFamily="18" charset="0"/>
                <a:cs typeface="Times New Roman" panose="02020603050405020304" pitchFamily="18" charset="0"/>
              </a:rPr>
              <a:t>, TCP/IP Protocol Suite,  4</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ed., McGraw Hill  Companies, Inc., USA, </a:t>
            </a:r>
          </a:p>
          <a:p>
            <a:pPr algn="just"/>
            <a:r>
              <a:rPr lang="en-US" dirty="0">
                <a:latin typeface="Times New Roman" panose="02020603050405020304" pitchFamily="18" charset="0"/>
                <a:cs typeface="Times New Roman" panose="02020603050405020304" pitchFamily="18" charset="0"/>
              </a:rPr>
              <a:t>      2010, pp.  457-462.</a:t>
            </a:r>
          </a:p>
          <a:p>
            <a:br>
              <a:rPr lang="en-US" dirty="0"/>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4969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Recommended Books</a:t>
            </a:r>
          </a:p>
        </p:txBody>
      </p:sp>
      <p:sp>
        <p:nvSpPr>
          <p:cNvPr id="6" name="Content Placeholder 2">
            <a:extLst>
              <a:ext uri="{FF2B5EF4-FFF2-40B4-BE49-F238E27FC236}">
                <a16:creationId xmlns:a16="http://schemas.microsoft.com/office/drawing/2014/main" id="{2BD90A38-0417-4618-AF01-2FABAEE89A54}"/>
              </a:ext>
            </a:extLst>
          </p:cNvPr>
          <p:cNvSpPr txBox="1">
            <a:spLocks/>
          </p:cNvSpPr>
          <p:nvPr/>
        </p:nvSpPr>
        <p:spPr>
          <a:xfrm>
            <a:off x="234014" y="1373238"/>
            <a:ext cx="7886700" cy="4351338"/>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endParaRPr lang="en-US" dirty="0"/>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Data Communications and Networking</a:t>
            </a:r>
            <a:r>
              <a:rPr lang="en-US" sz="15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B. A. </a:t>
            </a:r>
            <a:r>
              <a:rPr lang="en-US" sz="1500" i="1" dirty="0" err="1">
                <a:latin typeface="Times New Roman" panose="02020603050405020304" pitchFamily="18" charset="0"/>
                <a:cs typeface="Times New Roman" panose="02020603050405020304" pitchFamily="18" charset="0"/>
              </a:rPr>
              <a:t>Forouzan</a:t>
            </a:r>
            <a:r>
              <a:rPr lang="en-US" sz="1500" dirty="0">
                <a:latin typeface="Times New Roman" panose="02020603050405020304" pitchFamily="18" charset="0"/>
                <a:cs typeface="Times New Roman" panose="02020603050405020304" pitchFamily="18" charset="0"/>
              </a:rPr>
              <a:t>, McGraw-Hill, Inc., Fourth Edition, 2007,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Computer Networking: A Top-Down Approach</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J. F., Kurose, K. W. Ross</a:t>
            </a:r>
            <a:r>
              <a:rPr lang="en-US" sz="1500" dirty="0">
                <a:latin typeface="Times New Roman" panose="02020603050405020304" pitchFamily="18" charset="0"/>
                <a:cs typeface="Times New Roman" panose="02020603050405020304" pitchFamily="18" charset="0"/>
              </a:rPr>
              <a:t>, Pearson Education, Inc., Sixth Edition,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Official Cert Guide CCNA 200-301 , vol. 1</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W. Odom</a:t>
            </a:r>
            <a:r>
              <a:rPr lang="en-US" sz="1500" dirty="0">
                <a:latin typeface="Times New Roman" panose="02020603050405020304" pitchFamily="18" charset="0"/>
                <a:cs typeface="Times New Roman" panose="02020603050405020304" pitchFamily="18" charset="0"/>
              </a:rPr>
              <a:t>, Cisco Press, First Edition, 2019,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CCNA Routing and Switching</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T. </a:t>
            </a:r>
            <a:r>
              <a:rPr lang="en-US" sz="1500" i="1" dirty="0" err="1">
                <a:latin typeface="Times New Roman" panose="02020603050405020304" pitchFamily="18" charset="0"/>
                <a:cs typeface="Times New Roman" panose="02020603050405020304" pitchFamily="18" charset="0"/>
              </a:rPr>
              <a:t>Lammle</a:t>
            </a:r>
            <a:r>
              <a:rPr lang="en-US" sz="1500" dirty="0">
                <a:latin typeface="Times New Roman" panose="02020603050405020304" pitchFamily="18" charset="0"/>
                <a:cs typeface="Times New Roman" panose="02020603050405020304" pitchFamily="18" charset="0"/>
              </a:rPr>
              <a:t>, John Wily &amp; Sons, Second Edition, 2016,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TCP/IP Protocol Suite</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B. A. </a:t>
            </a:r>
            <a:r>
              <a:rPr lang="en-US" sz="1500" i="1" dirty="0" err="1">
                <a:latin typeface="Times New Roman" panose="02020603050405020304" pitchFamily="18" charset="0"/>
                <a:cs typeface="Times New Roman" panose="02020603050405020304" pitchFamily="18" charset="0"/>
              </a:rPr>
              <a:t>Forouzan</a:t>
            </a:r>
            <a:r>
              <a:rPr lang="en-US" sz="1500" dirty="0">
                <a:latin typeface="Times New Roman" panose="02020603050405020304" pitchFamily="18" charset="0"/>
                <a:cs typeface="Times New Roman" panose="02020603050405020304" pitchFamily="18" charset="0"/>
              </a:rPr>
              <a:t>, McGraw-Hill, Inc., Fourth Edition, 2009, USA. </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Data and Computer Communication</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W. Stallings</a:t>
            </a:r>
            <a:r>
              <a:rPr lang="en-US" sz="1500" dirty="0">
                <a:latin typeface="Times New Roman" panose="02020603050405020304" pitchFamily="18" charset="0"/>
                <a:cs typeface="Times New Roman" panose="02020603050405020304" pitchFamily="18" charset="0"/>
              </a:rPr>
              <a:t>, Pearson Education, Inc., Tenth Education, 2013, USA.</a:t>
            </a:r>
          </a:p>
        </p:txBody>
      </p:sp>
    </p:spTree>
    <p:extLst>
      <p:ext uri="{BB962C8B-B14F-4D97-AF65-F5344CB8AC3E}">
        <p14:creationId xmlns:p14="http://schemas.microsoft.com/office/powerpoint/2010/main" val="324693386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30A8883D509741AAD9698FAF47E5F3" ma:contentTypeVersion="3" ma:contentTypeDescription="Create a new document." ma:contentTypeScope="" ma:versionID="cb1aed282deb53376718859fe67fe0d6">
  <xsd:schema xmlns:xsd="http://www.w3.org/2001/XMLSchema" xmlns:xs="http://www.w3.org/2001/XMLSchema" xmlns:p="http://schemas.microsoft.com/office/2006/metadata/properties" xmlns:ns2="9c9eb58d-2f4c-499b-ab9c-47c1d5de8bf8" targetNamespace="http://schemas.microsoft.com/office/2006/metadata/properties" ma:root="true" ma:fieldsID="c7d838d636f2945413649be92e4efa58" ns2:_="">
    <xsd:import namespace="9c9eb58d-2f4c-499b-ab9c-47c1d5de8bf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9eb58d-2f4c-499b-ab9c-47c1d5de8b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4008CB2-F0C4-449A-950F-F817A6B5A846}"/>
</file>

<file path=customXml/itemProps2.xml><?xml version="1.0" encoding="utf-8"?>
<ds:datastoreItem xmlns:ds="http://schemas.openxmlformats.org/officeDocument/2006/customXml" ds:itemID="{CD54F81F-FE90-440F-B0B7-BD850B7E8D67}"/>
</file>

<file path=customXml/itemProps3.xml><?xml version="1.0" encoding="utf-8"?>
<ds:datastoreItem xmlns:ds="http://schemas.openxmlformats.org/officeDocument/2006/customXml" ds:itemID="{F6B9DCE6-F8B4-4E92-91A5-E5B867E186CA}"/>
</file>

<file path=docProps/app.xml><?xml version="1.0" encoding="utf-8"?>
<Properties xmlns="http://schemas.openxmlformats.org/officeDocument/2006/extended-properties" xmlns:vt="http://schemas.openxmlformats.org/officeDocument/2006/docPropsVTypes">
  <Template>Spectrum.thmx</Template>
  <TotalTime>9147</TotalTime>
  <Words>1358</Words>
  <Application>Microsoft Office PowerPoint</Application>
  <PresentationFormat>On-screen Show (4:3)</PresentationFormat>
  <Paragraphs>166</Paragraphs>
  <Slides>20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Arial</vt:lpstr>
      <vt:lpstr>Aspira Webfont</vt:lpstr>
      <vt:lpstr>Calibri</vt:lpstr>
      <vt:lpstr>Cambria Math</vt:lpstr>
      <vt:lpstr>Comic Sans MS</vt:lpstr>
      <vt:lpstr>Corbel</vt:lpstr>
      <vt:lpstr>Courier New</vt:lpstr>
      <vt:lpstr>Perpetua</vt:lpstr>
      <vt:lpstr>Times New Roman</vt:lpstr>
      <vt:lpstr>Wingdings</vt:lpstr>
      <vt:lpstr>Spectrum</vt:lpstr>
      <vt:lpstr>Transport Layer Protocols II</vt:lpstr>
      <vt:lpstr>Lecture Outline</vt:lpstr>
      <vt:lpstr>Congestion in networks</vt:lpstr>
      <vt:lpstr>Congestion in networks…</vt:lpstr>
      <vt:lpstr>Congestion in networks…</vt:lpstr>
      <vt:lpstr>Congestion Control</vt:lpstr>
      <vt:lpstr>Congestion Control</vt:lpstr>
      <vt:lpstr>Congestion Control</vt:lpstr>
      <vt:lpstr>Congestion Control</vt:lpstr>
      <vt:lpstr>Congestion Control</vt:lpstr>
      <vt:lpstr>Congestion Control</vt:lpstr>
      <vt:lpstr>Congestion Control</vt:lpstr>
      <vt:lpstr>Congestion Control</vt:lpstr>
      <vt:lpstr>Congestion Control</vt:lpstr>
      <vt:lpstr>PowerPoint Presentation</vt:lpstr>
      <vt:lpstr>Task 2</vt:lpstr>
      <vt:lpstr>Flow control</vt:lpstr>
      <vt:lpstr>Flow control</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MOUSUMI BALA</cp:lastModifiedBy>
  <cp:revision>98</cp:revision>
  <dcterms:created xsi:type="dcterms:W3CDTF">2018-12-10T17:20:29Z</dcterms:created>
  <dcterms:modified xsi:type="dcterms:W3CDTF">2025-12-23T02:12:46Z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0x0101000130A8883D509741AAD9698FAF47E5F3</vt:lpwstr>
  </property>
</Properties>
</file>