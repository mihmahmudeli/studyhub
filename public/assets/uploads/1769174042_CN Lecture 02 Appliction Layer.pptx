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7" r:id="rId16"/>
    <p:sldId id="292" r:id="rId17"/>
    <p:sldId id="293" r:id="rId18"/>
    <p:sldId id="294" r:id="rId19"/>
    <p:sldId id="295" r:id="rId20"/>
    <p:sldId id="296" r:id="rId21"/>
    <p:sldId id="265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3" d="100"/>
          <a:sy n="73" d="100"/>
        </p:scale>
        <p:origin x="10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BCFD82F6-C882-4829-AEA8-1B030952CD17}"/>
    <pc:docChg chg="custSel addSld modSld">
      <pc:chgData name="Dr. Md Mehedi Hasan" userId="5eb39d97-deb0-466a-af4c-298e34812974" providerId="ADAL" clId="{BCFD82F6-C882-4829-AEA8-1B030952CD17}" dt="2022-09-25T08:19:49.995" v="42" actId="1035"/>
      <pc:docMkLst>
        <pc:docMk/>
      </pc:docMkLst>
      <pc:sldChg chg="modSp mod">
        <pc:chgData name="Dr. Md Mehedi Hasan" userId="5eb39d97-deb0-466a-af4c-298e34812974" providerId="ADAL" clId="{BCFD82F6-C882-4829-AEA8-1B030952CD17}" dt="2022-09-25T08:09:27.413" v="13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BCFD82F6-C882-4829-AEA8-1B030952CD17}" dt="2022-09-25T08:12:44.893" v="26" actId="14100"/>
        <pc:sldMkLst>
          <pc:docMk/>
          <pc:sldMk cId="3478246974" sldId="286"/>
        </pc:sldMkLst>
      </pc:sldChg>
      <pc:sldChg chg="delSp modSp mod">
        <pc:chgData name="Dr. Md Mehedi Hasan" userId="5eb39d97-deb0-466a-af4c-298e34812974" providerId="ADAL" clId="{BCFD82F6-C882-4829-AEA8-1B030952CD17}" dt="2022-09-25T08:19:49.995" v="42" actId="1035"/>
        <pc:sldMkLst>
          <pc:docMk/>
          <pc:sldMk cId="1506980463" sldId="291"/>
        </pc:sldMkLst>
      </pc:sldChg>
      <pc:sldChg chg="delSp modSp add mod">
        <pc:chgData name="Dr. Md Mehedi Hasan" userId="5eb39d97-deb0-466a-af4c-298e34812974" providerId="ADAL" clId="{BCFD82F6-C882-4829-AEA8-1B030952CD17}" dt="2022-09-25T08:13:35.090" v="35"/>
        <pc:sldMkLst>
          <pc:docMk/>
          <pc:sldMk cId="213033884" sldId="297"/>
        </pc:sldMkLst>
      </pc:sldChg>
    </pc:docChg>
  </pc:docChgLst>
  <pc:docChgLst>
    <pc:chgData name="Dr. Md Mehedi Hasan" userId="5eb39d97-deb0-466a-af4c-298e34812974" providerId="ADAL" clId="{4C607900-A80E-41E7-96D2-1523CB25C8C2}"/>
    <pc:docChg chg="modSld">
      <pc:chgData name="Dr. Md Mehedi Hasan" userId="5eb39d97-deb0-466a-af4c-298e34812974" providerId="ADAL" clId="{4C607900-A80E-41E7-96D2-1523CB25C8C2}" dt="2023-01-30T07:51:13.440" v="9" actId="20577"/>
      <pc:docMkLst>
        <pc:docMk/>
      </pc:docMkLst>
      <pc:sldChg chg="modSp mod">
        <pc:chgData name="Dr. Md Mehedi Hasan" userId="5eb39d97-deb0-466a-af4c-298e34812974" providerId="ADAL" clId="{4C607900-A80E-41E7-96D2-1523CB25C8C2}" dt="2023-01-30T07:51:13.440" v="9" actId="20577"/>
        <pc:sldMkLst>
          <pc:docMk/>
          <pc:sldMk cId="700707328" sldId="256"/>
        </pc:sldMkLst>
      </pc:sldChg>
    </pc:docChg>
  </pc:docChgLst>
  <pc:docChgLst>
    <pc:chgData name="Dr. Md Mehedi Hasan" userId="239fb861-385a-4bac-bb29-9c26fc54d0ba" providerId="ADAL" clId="{F3D8D2A0-22E6-4AF9-821E-4FBBD607C935}"/>
    <pc:docChg chg="modSld">
      <pc:chgData name="Dr. Md Mehedi Hasan" userId="239fb861-385a-4bac-bb29-9c26fc54d0ba" providerId="ADAL" clId="{F3D8D2A0-22E6-4AF9-821E-4FBBD607C935}" dt="2025-03-09T06:12:07.990" v="13" actId="14100"/>
      <pc:docMkLst>
        <pc:docMk/>
      </pc:docMkLst>
      <pc:sldChg chg="modSp mod">
        <pc:chgData name="Dr. Md Mehedi Hasan" userId="239fb861-385a-4bac-bb29-9c26fc54d0ba" providerId="ADAL" clId="{F3D8D2A0-22E6-4AF9-821E-4FBBD607C935}" dt="2025-03-09T06:10:20.611" v="9" actId="20577"/>
        <pc:sldMkLst>
          <pc:docMk/>
          <pc:sldMk cId="700707328" sldId="256"/>
        </pc:sldMkLst>
        <pc:graphicFrameChg chg="modGraphic">
          <ac:chgData name="Dr. Md Mehedi Hasan" userId="239fb861-385a-4bac-bb29-9c26fc54d0ba" providerId="ADAL" clId="{F3D8D2A0-22E6-4AF9-821E-4FBBD607C935}" dt="2025-03-09T06:10:20.611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239fb861-385a-4bac-bb29-9c26fc54d0ba" providerId="ADAL" clId="{F3D8D2A0-22E6-4AF9-821E-4FBBD607C935}" dt="2025-03-09T06:11:57.415" v="11" actId="14100"/>
        <pc:sldMkLst>
          <pc:docMk/>
          <pc:sldMk cId="590903442" sldId="282"/>
        </pc:sldMkLst>
        <pc:spChg chg="mod">
          <ac:chgData name="Dr. Md Mehedi Hasan" userId="239fb861-385a-4bac-bb29-9c26fc54d0ba" providerId="ADAL" clId="{F3D8D2A0-22E6-4AF9-821E-4FBBD607C935}" dt="2025-03-09T06:11:57.415" v="11" actId="14100"/>
          <ac:spMkLst>
            <pc:docMk/>
            <pc:sldMk cId="590903442" sldId="282"/>
            <ac:spMk id="4" creationId="{00000000-0000-0000-0000-000000000000}"/>
          </ac:spMkLst>
        </pc:spChg>
      </pc:sldChg>
      <pc:sldChg chg="modSp mod">
        <pc:chgData name="Dr. Md Mehedi Hasan" userId="239fb861-385a-4bac-bb29-9c26fc54d0ba" providerId="ADAL" clId="{F3D8D2A0-22E6-4AF9-821E-4FBBD607C935}" dt="2025-03-09T06:12:07.990" v="13" actId="14100"/>
        <pc:sldMkLst>
          <pc:docMk/>
          <pc:sldMk cId="2783982687" sldId="283"/>
        </pc:sldMkLst>
        <pc:spChg chg="mod">
          <ac:chgData name="Dr. Md Mehedi Hasan" userId="239fb861-385a-4bac-bb29-9c26fc54d0ba" providerId="ADAL" clId="{F3D8D2A0-22E6-4AF9-821E-4FBBD607C935}" dt="2025-03-09T06:12:07.990" v="13" actId="14100"/>
          <ac:spMkLst>
            <pc:docMk/>
            <pc:sldMk cId="2783982687" sldId="283"/>
            <ac:spMk id="4" creationId="{00000000-0000-0000-0000-000000000000}"/>
          </ac:spMkLst>
        </pc:spChg>
      </pc:sldChg>
    </pc:docChg>
  </pc:docChgLst>
  <pc:docChgLst>
    <pc:chgData name="Dr. Md Mehedi Hasan" userId="239fb861-385a-4bac-bb29-9c26fc54d0ba" providerId="ADAL" clId="{84F62C06-5969-4EE4-A2D5-AC16FBC09D1C}"/>
    <pc:docChg chg="modSld">
      <pc:chgData name="Dr. Md Mehedi Hasan" userId="239fb861-385a-4bac-bb29-9c26fc54d0ba" providerId="ADAL" clId="{84F62C06-5969-4EE4-A2D5-AC16FBC09D1C}" dt="2024-11-04T04:12:31.451" v="5" actId="20577"/>
      <pc:docMkLst>
        <pc:docMk/>
      </pc:docMkLst>
      <pc:sldChg chg="modSp mod">
        <pc:chgData name="Dr. Md Mehedi Hasan" userId="239fb861-385a-4bac-bb29-9c26fc54d0ba" providerId="ADAL" clId="{84F62C06-5969-4EE4-A2D5-AC16FBC09D1C}" dt="2024-11-04T04:12:31.451" v="5" actId="20577"/>
        <pc:sldMkLst>
          <pc:docMk/>
          <pc:sldMk cId="700707328" sldId="256"/>
        </pc:sldMkLst>
      </pc:sldChg>
    </pc:docChg>
  </pc:docChgLst>
  <pc:docChgLst>
    <pc:chgData name="Dr. Md Mehedi Hasan" userId="5eb39d97-deb0-466a-af4c-298e34812974" providerId="ADAL" clId="{3A6BD533-0F62-4A07-AA1D-3C0E37B49401}"/>
    <pc:docChg chg="modSld">
      <pc:chgData name="Dr. Md Mehedi Hasan" userId="5eb39d97-deb0-466a-af4c-298e34812974" providerId="ADAL" clId="{3A6BD533-0F62-4A07-AA1D-3C0E37B49401}" dt="2023-09-26T06:16:51.769" v="17" actId="20577"/>
      <pc:docMkLst>
        <pc:docMk/>
      </pc:docMkLst>
      <pc:sldChg chg="modSp mod">
        <pc:chgData name="Dr. Md Mehedi Hasan" userId="5eb39d97-deb0-466a-af4c-298e34812974" providerId="ADAL" clId="{3A6BD533-0F62-4A07-AA1D-3C0E37B49401}" dt="2023-09-26T06:16:51.769" v="17" actId="20577"/>
        <pc:sldMkLst>
          <pc:docMk/>
          <pc:sldMk cId="700707328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0043-86B6-4995-AFCF-75742B2971F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89EB-434E-4CCF-A285-C485F66DE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9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5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21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5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9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1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01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47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5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82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89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31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2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33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42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8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dsco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dsco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puter_fundamentals/computer_networking.htm" TargetMode="External"/><Relationship Id="rId2" Type="http://schemas.openxmlformats.org/officeDocument/2006/relationships/hyperlink" Target="https://www.geeksforgeeks.org/basics-computer-networking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spc="-325" dirty="0"/>
              <a:t>Application Layer Protocols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60288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3946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9685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</a:t>
                      </a:r>
                      <a:r>
                        <a:rPr lang="en-US" i="1" dirty="0" err="1"/>
                        <a:t>Mousumi</a:t>
                      </a:r>
                      <a:r>
                        <a:rPr lang="en-US" i="1" dirty="0"/>
                        <a:t> Bala; </a:t>
                      </a:r>
                      <a:r>
                        <a:rPr lang="en-US" i="1" dirty="0">
                          <a:hlinkClick r:id="rId2"/>
                        </a:rPr>
                        <a:t>mousumi.bala@aiub.edu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007" y="2923309"/>
            <a:ext cx="74953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Different layers of Protocol</a:t>
            </a:r>
          </a:p>
          <a:p>
            <a:r>
              <a:rPr lang="en-US" dirty="0"/>
              <a:t>2. Protocol Types</a:t>
            </a:r>
          </a:p>
          <a:p>
            <a:r>
              <a:rPr lang="en-US" dirty="0"/>
              <a:t>3. HTTP</a:t>
            </a:r>
          </a:p>
          <a:p>
            <a:r>
              <a:rPr lang="en-US" dirty="0"/>
              <a:t>4. DNS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15" dirty="0"/>
              <a:t>What </a:t>
            </a:r>
            <a:r>
              <a:rPr lang="en-US" sz="4000" spc="-305" dirty="0"/>
              <a:t>is </a:t>
            </a:r>
            <a:r>
              <a:rPr lang="en-US" sz="4000" spc="-550" dirty="0"/>
              <a:t> </a:t>
            </a:r>
            <a:r>
              <a:rPr lang="en-US" sz="4000" spc="-270" dirty="0"/>
              <a:t>Protocol?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151087" y="2386157"/>
            <a:ext cx="8618840" cy="26443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sz="2000" b="1" spc="-100" dirty="0">
                <a:latin typeface="Trebuchet MS"/>
                <a:cs typeface="Trebuchet MS"/>
              </a:rPr>
              <a:t>Protocol</a:t>
            </a:r>
            <a:r>
              <a:rPr sz="2000" spc="-100" dirty="0">
                <a:latin typeface="Arial"/>
                <a:cs typeface="Arial"/>
              </a:rPr>
              <a:t>: </a:t>
            </a:r>
            <a:r>
              <a:rPr sz="2000" spc="-65" dirty="0">
                <a:latin typeface="Arial"/>
                <a:cs typeface="Arial"/>
              </a:rPr>
              <a:t>In </a:t>
            </a:r>
            <a:r>
              <a:rPr sz="2000" spc="-55" dirty="0">
                <a:latin typeface="Arial"/>
                <a:cs typeface="Arial"/>
              </a:rPr>
              <a:t>computer </a:t>
            </a:r>
            <a:r>
              <a:rPr sz="2000" spc="-65" dirty="0">
                <a:latin typeface="Arial"/>
                <a:cs typeface="Arial"/>
              </a:rPr>
              <a:t>networks, communication </a:t>
            </a:r>
            <a:r>
              <a:rPr sz="2000" spc="-114" dirty="0">
                <a:latin typeface="Arial"/>
                <a:cs typeface="Arial"/>
              </a:rPr>
              <a:t>occurs </a:t>
            </a:r>
            <a:r>
              <a:rPr sz="2000" spc="-60" dirty="0">
                <a:latin typeface="Arial"/>
                <a:cs typeface="Arial"/>
              </a:rPr>
              <a:t>between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25" dirty="0">
                <a:latin typeface="Arial"/>
                <a:cs typeface="Arial"/>
              </a:rPr>
              <a:t>in different </a:t>
            </a:r>
            <a:r>
              <a:rPr sz="2000" spc="-125" dirty="0">
                <a:latin typeface="Arial"/>
                <a:cs typeface="Arial"/>
              </a:rPr>
              <a:t>systems.  </a:t>
            </a:r>
            <a:r>
              <a:rPr sz="2000" spc="-110" dirty="0">
                <a:latin typeface="Arial"/>
                <a:cs typeface="Arial"/>
              </a:rPr>
              <a:t>However, </a:t>
            </a:r>
            <a:r>
              <a:rPr sz="2000" spc="5" dirty="0">
                <a:latin typeface="Arial"/>
                <a:cs typeface="Arial"/>
              </a:rPr>
              <a:t>two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75" dirty="0">
                <a:latin typeface="Arial"/>
                <a:cs typeface="Arial"/>
              </a:rPr>
              <a:t>simply </a:t>
            </a:r>
            <a:r>
              <a:rPr sz="2000" spc="-120" dirty="0">
                <a:latin typeface="Arial"/>
                <a:cs typeface="Arial"/>
              </a:rPr>
              <a:t>send </a:t>
            </a:r>
            <a:r>
              <a:rPr sz="2000" spc="20" dirty="0">
                <a:latin typeface="Arial"/>
                <a:cs typeface="Arial"/>
              </a:rPr>
              <a:t>bit </a:t>
            </a:r>
            <a:r>
              <a:rPr sz="2000" spc="-100" dirty="0">
                <a:latin typeface="Arial"/>
                <a:cs typeface="Arial"/>
              </a:rPr>
              <a:t>streams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20" dirty="0">
                <a:latin typeface="Arial"/>
                <a:cs typeface="Arial"/>
              </a:rPr>
              <a:t>each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90" dirty="0">
                <a:latin typeface="Arial"/>
                <a:cs typeface="Arial"/>
              </a:rPr>
              <a:t>expect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90" dirty="0">
                <a:latin typeface="Arial"/>
                <a:cs typeface="Arial"/>
              </a:rPr>
              <a:t>be  </a:t>
            </a:r>
            <a:r>
              <a:rPr sz="2000" spc="-65" dirty="0">
                <a:latin typeface="Arial"/>
                <a:cs typeface="Arial"/>
              </a:rPr>
              <a:t>understood. </a:t>
            </a:r>
            <a:r>
              <a:rPr sz="2000" spc="-125" dirty="0">
                <a:latin typeface="Arial"/>
                <a:cs typeface="Arial"/>
              </a:rPr>
              <a:t>For </a:t>
            </a:r>
            <a:r>
              <a:rPr sz="2000" spc="-65" dirty="0">
                <a:latin typeface="Arial"/>
                <a:cs typeface="Arial"/>
              </a:rPr>
              <a:t>communication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10" dirty="0">
                <a:latin typeface="Arial"/>
                <a:cs typeface="Arial"/>
              </a:rPr>
              <a:t>occur,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entities </a:t>
            </a:r>
            <a:r>
              <a:rPr sz="2000" spc="-65" dirty="0">
                <a:latin typeface="Arial"/>
                <a:cs typeface="Arial"/>
              </a:rPr>
              <a:t>must </a:t>
            </a:r>
            <a:r>
              <a:rPr sz="2000" spc="-110" dirty="0">
                <a:latin typeface="Arial"/>
                <a:cs typeface="Arial"/>
              </a:rPr>
              <a:t>agree </a:t>
            </a:r>
            <a:r>
              <a:rPr sz="2000" spc="-60" dirty="0">
                <a:latin typeface="Arial"/>
                <a:cs typeface="Arial"/>
              </a:rPr>
              <a:t>on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protocol.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protocol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85" dirty="0">
                <a:latin typeface="Arial"/>
                <a:cs typeface="Arial"/>
              </a:rPr>
              <a:t>set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75" dirty="0">
                <a:latin typeface="Arial"/>
                <a:cs typeface="Arial"/>
              </a:rPr>
              <a:t>rules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90" dirty="0">
                <a:latin typeface="Arial"/>
                <a:cs typeface="Arial"/>
              </a:rPr>
              <a:t>govern </a:t>
            </a:r>
            <a:r>
              <a:rPr sz="2000" spc="-80" dirty="0">
                <a:latin typeface="Arial"/>
                <a:cs typeface="Arial"/>
              </a:rPr>
              <a:t>data </a:t>
            </a:r>
            <a:r>
              <a:rPr sz="2000" spc="-75" dirty="0">
                <a:latin typeface="Arial"/>
                <a:cs typeface="Arial"/>
              </a:rPr>
              <a:t>communications.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45" dirty="0">
                <a:latin typeface="Arial"/>
                <a:cs typeface="Arial"/>
              </a:rPr>
              <a:t>protocol </a:t>
            </a:r>
            <a:r>
              <a:rPr sz="2000" spc="-80" dirty="0">
                <a:latin typeface="Arial"/>
                <a:cs typeface="Arial"/>
              </a:rPr>
              <a:t>defines </a:t>
            </a:r>
            <a:r>
              <a:rPr sz="2000" spc="-35" dirty="0">
                <a:latin typeface="Arial"/>
                <a:cs typeface="Arial"/>
              </a:rPr>
              <a:t>what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75" dirty="0">
                <a:latin typeface="Arial"/>
                <a:cs typeface="Arial"/>
              </a:rPr>
              <a:t>communicated, </a:t>
            </a:r>
            <a:r>
              <a:rPr sz="2000" spc="-55" dirty="0">
                <a:latin typeface="Arial"/>
                <a:cs typeface="Arial"/>
              </a:rPr>
              <a:t>how </a:t>
            </a:r>
            <a:r>
              <a:rPr sz="2000" spc="60" dirty="0">
                <a:latin typeface="Arial"/>
                <a:cs typeface="Arial"/>
              </a:rPr>
              <a:t>it 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75" dirty="0">
                <a:latin typeface="Arial"/>
                <a:cs typeface="Arial"/>
              </a:rPr>
              <a:t>communicated,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communicated.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spc="-120" dirty="0">
                <a:latin typeface="Arial"/>
                <a:cs typeface="Arial"/>
              </a:rPr>
              <a:t>Example: </a:t>
            </a:r>
            <a:r>
              <a:rPr sz="2000" spc="-265" dirty="0">
                <a:latin typeface="Arial"/>
                <a:cs typeface="Arial"/>
              </a:rPr>
              <a:t>HTTP, </a:t>
            </a:r>
            <a:r>
              <a:rPr sz="2000" spc="-295" dirty="0">
                <a:latin typeface="Arial"/>
                <a:cs typeface="Arial"/>
              </a:rPr>
              <a:t>FTP, </a:t>
            </a:r>
            <a:r>
              <a:rPr sz="2000" spc="-275" dirty="0">
                <a:latin typeface="Arial"/>
                <a:cs typeface="Arial"/>
              </a:rPr>
              <a:t>TCP,IP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etc.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273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75" dirty="0"/>
              <a:t>Different </a:t>
            </a:r>
            <a:r>
              <a:rPr lang="en-US" sz="4000" spc="-440" dirty="0"/>
              <a:t>Layers</a:t>
            </a:r>
            <a:r>
              <a:rPr lang="en-US" sz="4000" spc="-565" dirty="0"/>
              <a:t>  </a:t>
            </a:r>
            <a:r>
              <a:rPr lang="en-US" sz="4000" spc="-245" dirty="0"/>
              <a:t>Protocol</a:t>
            </a:r>
            <a:endParaRPr lang="en-US" sz="4000" dirty="0"/>
          </a:p>
        </p:txBody>
      </p:sp>
      <p:sp>
        <p:nvSpPr>
          <p:cNvPr id="5" name="object 6"/>
          <p:cNvSpPr/>
          <p:nvPr/>
        </p:nvSpPr>
        <p:spPr>
          <a:xfrm>
            <a:off x="1500169" y="2119746"/>
            <a:ext cx="5949696" cy="4009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79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45" dirty="0"/>
              <a:t>Protocol</a:t>
            </a:r>
            <a:r>
              <a:rPr lang="en-US" sz="4000" spc="-440" dirty="0"/>
              <a:t>  </a:t>
            </a:r>
            <a:r>
              <a:rPr lang="en-US" sz="4000" spc="-475" dirty="0"/>
              <a:t>Types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685799" y="2330738"/>
            <a:ext cx="7808977" cy="34753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Font typeface="Wingdings"/>
              <a:buChar char=""/>
              <a:tabLst>
                <a:tab pos="271780" algn="l"/>
              </a:tabLst>
            </a:pPr>
            <a:r>
              <a:rPr sz="2000" b="1" spc="-90" dirty="0">
                <a:latin typeface="Trebuchet MS"/>
                <a:cs typeface="Trebuchet MS"/>
              </a:rPr>
              <a:t>PUSH </a:t>
            </a:r>
            <a:r>
              <a:rPr sz="2000" b="1" spc="-120" dirty="0">
                <a:latin typeface="Trebuchet MS"/>
                <a:cs typeface="Trebuchet MS"/>
              </a:rPr>
              <a:t>protocol: </a:t>
            </a:r>
            <a:r>
              <a:rPr sz="2000" spc="-65" dirty="0">
                <a:latin typeface="Arial"/>
                <a:cs typeface="Arial"/>
              </a:rPr>
              <a:t>In </a:t>
            </a:r>
            <a:r>
              <a:rPr sz="2000" spc="-100" dirty="0">
                <a:latin typeface="Arial"/>
                <a:cs typeface="Arial"/>
              </a:rPr>
              <a:t>push </a:t>
            </a:r>
            <a:r>
              <a:rPr sz="2000" spc="-65" dirty="0">
                <a:latin typeface="Arial"/>
                <a:cs typeface="Arial"/>
              </a:rPr>
              <a:t>protocols,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client </a:t>
            </a:r>
            <a:r>
              <a:rPr sz="2000" spc="-110" dirty="0">
                <a:latin typeface="Arial"/>
                <a:cs typeface="Arial"/>
              </a:rPr>
              <a:t>opens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connection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40" dirty="0">
                <a:latin typeface="Arial"/>
                <a:cs typeface="Arial"/>
              </a:rPr>
              <a:t>keeps </a:t>
            </a:r>
            <a:r>
              <a:rPr sz="2000" spc="60" dirty="0">
                <a:latin typeface="Arial"/>
                <a:cs typeface="Arial"/>
              </a:rPr>
              <a:t>it  </a:t>
            </a:r>
            <a:r>
              <a:rPr sz="2000" spc="-65" dirty="0">
                <a:latin typeface="Arial"/>
                <a:cs typeface="Arial"/>
              </a:rPr>
              <a:t>constantly </a:t>
            </a:r>
            <a:r>
              <a:rPr sz="2000" spc="-70" dirty="0">
                <a:latin typeface="Arial"/>
                <a:cs typeface="Arial"/>
              </a:rPr>
              <a:t>active. </a:t>
            </a: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5" dirty="0">
                <a:latin typeface="Arial"/>
                <a:cs typeface="Arial"/>
              </a:rPr>
              <a:t>will </a:t>
            </a:r>
            <a:r>
              <a:rPr sz="2000" spc="-114" dirty="0">
                <a:latin typeface="Arial"/>
                <a:cs typeface="Arial"/>
              </a:rPr>
              <a:t>send </a:t>
            </a:r>
            <a:r>
              <a:rPr sz="2000" spc="-90" dirty="0">
                <a:latin typeface="Arial"/>
                <a:cs typeface="Arial"/>
              </a:rPr>
              <a:t>(push)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75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100" dirty="0">
                <a:latin typeface="Arial"/>
                <a:cs typeface="Arial"/>
              </a:rPr>
              <a:t>using </a:t>
            </a:r>
            <a:r>
              <a:rPr sz="2000" spc="-5" dirty="0">
                <a:latin typeface="Arial"/>
                <a:cs typeface="Arial"/>
              </a:rPr>
              <a:t>that  </a:t>
            </a:r>
            <a:r>
              <a:rPr sz="2000" spc="-95" dirty="0">
                <a:latin typeface="Arial"/>
                <a:cs typeface="Arial"/>
              </a:rPr>
              <a:t>single </a:t>
            </a:r>
            <a:r>
              <a:rPr sz="2000" spc="-100" dirty="0">
                <a:latin typeface="Arial"/>
                <a:cs typeface="Arial"/>
              </a:rPr>
              <a:t>always-on </a:t>
            </a:r>
            <a:r>
              <a:rPr sz="2000" spc="-65" dirty="0">
                <a:latin typeface="Arial"/>
                <a:cs typeface="Arial"/>
              </a:rPr>
              <a:t>connection. In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80" dirty="0">
                <a:latin typeface="Arial"/>
                <a:cs typeface="Arial"/>
              </a:rPr>
              <a:t>words,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235" dirty="0">
                <a:latin typeface="Arial"/>
                <a:cs typeface="Arial"/>
              </a:rPr>
              <a:t>PUSHes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client.  </a:t>
            </a:r>
            <a:r>
              <a:rPr sz="2000" spc="-120" dirty="0">
                <a:latin typeface="Arial"/>
                <a:cs typeface="Arial"/>
              </a:rPr>
              <a:t>Example: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SMTP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DBEBD"/>
              </a:buClr>
              <a:buFont typeface="Wingdings"/>
              <a:buChar char=""/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DBEBD"/>
              </a:buClr>
              <a:buFont typeface="Wingdings"/>
              <a:buChar char=""/>
            </a:pPr>
            <a:endParaRPr sz="2300" dirty="0">
              <a:latin typeface="Times New Roman"/>
              <a:cs typeface="Times New Roman"/>
            </a:endParaRPr>
          </a:p>
          <a:p>
            <a:pPr marL="104139" marR="242570" indent="-91440">
              <a:lnSpc>
                <a:spcPct val="90000"/>
              </a:lnSpc>
              <a:buClr>
                <a:srgbClr val="9DBEBD"/>
              </a:buClr>
              <a:buFont typeface="Wingdings"/>
              <a:buChar char=""/>
              <a:tabLst>
                <a:tab pos="215900" algn="l"/>
              </a:tabLst>
            </a:pPr>
            <a:r>
              <a:rPr sz="2000" b="1" spc="-175" dirty="0">
                <a:latin typeface="Trebuchet MS"/>
                <a:cs typeface="Trebuchet MS"/>
              </a:rPr>
              <a:t>PULL </a:t>
            </a:r>
            <a:r>
              <a:rPr sz="2000" b="1" spc="-114" dirty="0">
                <a:latin typeface="Trebuchet MS"/>
                <a:cs typeface="Trebuchet MS"/>
              </a:rPr>
              <a:t>protocol: </a:t>
            </a:r>
            <a:r>
              <a:rPr sz="2000" spc="-6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pull </a:t>
            </a:r>
            <a:r>
              <a:rPr sz="2000" spc="-60" dirty="0">
                <a:latin typeface="Arial"/>
                <a:cs typeface="Arial"/>
              </a:rPr>
              <a:t>protocols,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55" dirty="0">
                <a:latin typeface="Arial"/>
                <a:cs typeface="Arial"/>
              </a:rPr>
              <a:t>periodically </a:t>
            </a:r>
            <a:r>
              <a:rPr sz="2000" spc="-90" dirty="0">
                <a:latin typeface="Arial"/>
                <a:cs typeface="Arial"/>
              </a:rPr>
              <a:t>connects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server, </a:t>
            </a:r>
            <a:r>
              <a:rPr sz="2000" spc="-135" dirty="0">
                <a:latin typeface="Arial"/>
                <a:cs typeface="Arial"/>
              </a:rPr>
              <a:t>checks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95" dirty="0">
                <a:latin typeface="Arial"/>
                <a:cs typeface="Arial"/>
              </a:rPr>
              <a:t>and  </a:t>
            </a:r>
            <a:r>
              <a:rPr sz="2000" spc="-105" dirty="0">
                <a:latin typeface="Arial"/>
                <a:cs typeface="Arial"/>
              </a:rPr>
              <a:t>gets </a:t>
            </a:r>
            <a:r>
              <a:rPr sz="2000" spc="-65" dirty="0">
                <a:latin typeface="Arial"/>
                <a:cs typeface="Arial"/>
              </a:rPr>
              <a:t>(pulls)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recent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events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closes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connection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disconnects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from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The  </a:t>
            </a:r>
            <a:r>
              <a:rPr sz="2000" spc="-40" dirty="0">
                <a:latin typeface="Arial"/>
                <a:cs typeface="Arial"/>
              </a:rPr>
              <a:t>client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repeats </a:t>
            </a:r>
            <a:r>
              <a:rPr sz="2000" spc="-40" dirty="0">
                <a:latin typeface="Arial"/>
                <a:cs typeface="Arial"/>
              </a:rPr>
              <a:t>this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whole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procedure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get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updated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about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new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events.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this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mode,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clients  </a:t>
            </a:r>
            <a:r>
              <a:rPr sz="2000" spc="-55" dirty="0">
                <a:latin typeface="Arial"/>
                <a:cs typeface="Arial"/>
              </a:rPr>
              <a:t>periodically </a:t>
            </a:r>
            <a:r>
              <a:rPr sz="2000" spc="-245" dirty="0">
                <a:latin typeface="Arial"/>
                <a:cs typeface="Arial"/>
              </a:rPr>
              <a:t>PULLs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new </a:t>
            </a:r>
            <a:r>
              <a:rPr sz="2000" spc="-95" dirty="0">
                <a:latin typeface="Arial"/>
                <a:cs typeface="Arial"/>
              </a:rPr>
              <a:t>events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120" dirty="0">
                <a:latin typeface="Arial"/>
                <a:cs typeface="Arial"/>
              </a:rPr>
              <a:t>Example: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245" dirty="0">
                <a:latin typeface="Arial"/>
                <a:cs typeface="Arial"/>
              </a:rPr>
              <a:t>HTTP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90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15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520" dirty="0"/>
              <a:t> </a:t>
            </a:r>
            <a:r>
              <a:rPr lang="en-US" sz="4000" spc="-645" dirty="0"/>
              <a:t>HTTP</a:t>
            </a:r>
            <a:endParaRPr lang="en-US" sz="4000" dirty="0"/>
          </a:p>
        </p:txBody>
      </p:sp>
      <p:sp>
        <p:nvSpPr>
          <p:cNvPr id="4" name="object 6"/>
          <p:cNvSpPr txBox="1"/>
          <p:nvPr/>
        </p:nvSpPr>
        <p:spPr>
          <a:xfrm>
            <a:off x="761999" y="2330738"/>
            <a:ext cx="7808977" cy="403636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445770" indent="-91440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Char char="•"/>
              <a:tabLst>
                <a:tab pos="218440" algn="l"/>
              </a:tabLst>
            </a:pPr>
            <a:r>
              <a:rPr sz="2000" spc="-245" dirty="0">
                <a:latin typeface="Arial"/>
                <a:cs typeface="Arial"/>
              </a:rPr>
              <a:t>HTTP </a:t>
            </a:r>
            <a:r>
              <a:rPr sz="2000" spc="-60" dirty="0">
                <a:latin typeface="Arial"/>
                <a:cs typeface="Arial"/>
              </a:rPr>
              <a:t>(Hypertext </a:t>
            </a:r>
            <a:r>
              <a:rPr sz="2000" spc="-114" dirty="0">
                <a:latin typeface="Arial"/>
                <a:cs typeface="Arial"/>
              </a:rPr>
              <a:t>Transfer </a:t>
            </a:r>
            <a:r>
              <a:rPr sz="2000" spc="-70" dirty="0">
                <a:latin typeface="Arial"/>
                <a:cs typeface="Arial"/>
              </a:rPr>
              <a:t>Protocol)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-135" dirty="0">
                <a:latin typeface="Arial"/>
                <a:cs typeface="Arial"/>
              </a:rPr>
              <a:t>across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world </a:t>
            </a:r>
            <a:r>
              <a:rPr sz="2000" spc="-50" dirty="0">
                <a:latin typeface="Arial"/>
                <a:cs typeface="Arial"/>
              </a:rPr>
              <a:t>wide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30" dirty="0">
                <a:latin typeface="Arial"/>
                <a:cs typeface="Arial"/>
              </a:rPr>
              <a:t>(www)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80" dirty="0">
                <a:latin typeface="Arial"/>
                <a:cs typeface="Arial"/>
              </a:rPr>
              <a:t>data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transfer 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80" dirty="0">
                <a:latin typeface="Arial"/>
                <a:cs typeface="Arial"/>
              </a:rPr>
              <a:t>one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65" dirty="0">
                <a:latin typeface="Arial"/>
                <a:cs typeface="Arial"/>
              </a:rPr>
              <a:t>most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-55" dirty="0">
                <a:latin typeface="Arial"/>
                <a:cs typeface="Arial"/>
              </a:rPr>
              <a:t>application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protocols.</a:t>
            </a:r>
            <a:endParaRPr sz="2000" dirty="0">
              <a:latin typeface="Arial"/>
              <a:cs typeface="Arial"/>
            </a:endParaRPr>
          </a:p>
          <a:p>
            <a:pPr marL="104139" marR="5080" indent="-91440" algn="just">
              <a:lnSpc>
                <a:spcPts val="2160"/>
              </a:lnSpc>
              <a:spcBef>
                <a:spcPts val="1405"/>
              </a:spcBef>
              <a:buClr>
                <a:srgbClr val="9DBEBD"/>
              </a:buClr>
              <a:buChar char="•"/>
              <a:tabLst>
                <a:tab pos="220345" algn="l"/>
              </a:tabLst>
            </a:pPr>
            <a:r>
              <a:rPr sz="2000" spc="-245" dirty="0">
                <a:latin typeface="Arial"/>
                <a:cs typeface="Arial"/>
              </a:rPr>
              <a:t>HTTP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specifies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request/response </a:t>
            </a:r>
            <a:r>
              <a:rPr sz="2000" spc="-45" dirty="0">
                <a:latin typeface="Arial"/>
                <a:cs typeface="Arial"/>
              </a:rPr>
              <a:t>protocol. </a:t>
            </a:r>
            <a:r>
              <a:rPr sz="2000" spc="-90" dirty="0">
                <a:latin typeface="Arial"/>
                <a:cs typeface="Arial"/>
              </a:rPr>
              <a:t>When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client, </a:t>
            </a:r>
            <a:r>
              <a:rPr sz="2000" spc="-50" dirty="0">
                <a:latin typeface="Arial"/>
                <a:cs typeface="Arial"/>
              </a:rPr>
              <a:t>typically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browser,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50" dirty="0">
                <a:latin typeface="Arial"/>
                <a:cs typeface="Arial"/>
              </a:rPr>
              <a:t>message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110" dirty="0">
                <a:latin typeface="Arial"/>
                <a:cs typeface="Arial"/>
              </a:rPr>
              <a:t>server,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45" dirty="0">
                <a:latin typeface="Arial"/>
                <a:cs typeface="Arial"/>
              </a:rPr>
              <a:t>HTTP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protocol </a:t>
            </a:r>
            <a:r>
              <a:rPr sz="2000" spc="-80" dirty="0">
                <a:latin typeface="Arial"/>
                <a:cs typeface="Arial"/>
              </a:rPr>
              <a:t>defines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5" dirty="0">
                <a:latin typeface="Arial"/>
                <a:cs typeface="Arial"/>
              </a:rPr>
              <a:t>to 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130" dirty="0">
                <a:latin typeface="Arial"/>
                <a:cs typeface="Arial"/>
              </a:rPr>
              <a:t>page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3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respond</a:t>
            </a:r>
            <a:endParaRPr sz="2000" dirty="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120"/>
              </a:spcBef>
              <a:buClr>
                <a:srgbClr val="9DBEBD"/>
              </a:buClr>
              <a:buChar char="•"/>
              <a:tabLst>
                <a:tab pos="160655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three </a:t>
            </a:r>
            <a:r>
              <a:rPr sz="2000" spc="-85" dirty="0">
                <a:latin typeface="Arial"/>
                <a:cs typeface="Arial"/>
              </a:rPr>
              <a:t>common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-75" dirty="0">
                <a:latin typeface="Arial"/>
                <a:cs typeface="Arial"/>
              </a:rPr>
              <a:t>types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are: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75"/>
              </a:spcBef>
              <a:buChar char="■"/>
              <a:tabLst>
                <a:tab pos="316230" algn="l"/>
              </a:tabLst>
            </a:pPr>
            <a:r>
              <a:rPr sz="2000" spc="-305" dirty="0">
                <a:latin typeface="Arial"/>
                <a:cs typeface="Arial"/>
              </a:rPr>
              <a:t>GET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70"/>
              </a:spcBef>
              <a:buChar char="■"/>
              <a:tabLst>
                <a:tab pos="316230" algn="l"/>
              </a:tabLst>
            </a:pPr>
            <a:r>
              <a:rPr sz="2000" spc="-300" dirty="0">
                <a:latin typeface="Arial"/>
                <a:cs typeface="Arial"/>
              </a:rPr>
              <a:t>POST</a:t>
            </a:r>
            <a:endParaRPr sz="2000" dirty="0">
              <a:latin typeface="Arial"/>
              <a:cs typeface="Arial"/>
            </a:endParaRPr>
          </a:p>
          <a:p>
            <a:pPr marL="315595" lvl="1" indent="-211454">
              <a:lnSpc>
                <a:spcPct val="100000"/>
              </a:lnSpc>
              <a:spcBef>
                <a:spcPts val="1160"/>
              </a:spcBef>
              <a:buChar char="■"/>
              <a:tabLst>
                <a:tab pos="316230" algn="l"/>
              </a:tabLst>
            </a:pPr>
            <a:r>
              <a:rPr sz="2000" spc="-240" dirty="0">
                <a:latin typeface="Arial"/>
                <a:cs typeface="Arial"/>
              </a:rPr>
              <a:t>PUT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98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5" dirty="0"/>
              <a:t> </a:t>
            </a:r>
            <a:r>
              <a:rPr lang="en-US" sz="4000" spc="-645" dirty="0"/>
              <a:t>HTTP     (c  o  n  t   .)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164942" y="2233756"/>
            <a:ext cx="8798949" cy="142859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265" dirty="0">
                <a:latin typeface="Arial"/>
                <a:cs typeface="Arial"/>
              </a:rPr>
              <a:t>GET: </a:t>
            </a:r>
            <a:r>
              <a:rPr sz="2000" spc="25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client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75" dirty="0">
                <a:latin typeface="Arial"/>
                <a:cs typeface="Arial"/>
              </a:rPr>
              <a:t>data.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browser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0" dirty="0">
                <a:latin typeface="Arial"/>
                <a:cs typeface="Arial"/>
              </a:rPr>
              <a:t>GET </a:t>
            </a:r>
            <a:r>
              <a:rPr sz="2000" spc="-155" dirty="0">
                <a:latin typeface="Arial"/>
                <a:cs typeface="Arial"/>
              </a:rPr>
              <a:t>message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50" dirty="0">
                <a:latin typeface="Arial"/>
                <a:cs typeface="Arial"/>
              </a:rPr>
              <a:t>pages </a:t>
            </a:r>
            <a:r>
              <a:rPr sz="2000" spc="-25" dirty="0">
                <a:latin typeface="Arial"/>
                <a:cs typeface="Arial"/>
              </a:rPr>
              <a:t>from 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0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200" dirty="0">
                <a:latin typeface="Arial"/>
                <a:cs typeface="Arial"/>
              </a:rPr>
              <a:t>As </a:t>
            </a:r>
            <a:r>
              <a:rPr sz="2000" spc="-85" dirty="0">
                <a:latin typeface="Arial"/>
                <a:cs typeface="Arial"/>
              </a:rPr>
              <a:t>shown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100" dirty="0">
                <a:latin typeface="Arial"/>
                <a:cs typeface="Arial"/>
              </a:rPr>
              <a:t>Figure,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05" dirty="0">
                <a:latin typeface="Arial"/>
                <a:cs typeface="Arial"/>
              </a:rPr>
              <a:t>receives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0" dirty="0">
                <a:latin typeface="Arial"/>
                <a:cs typeface="Arial"/>
              </a:rPr>
              <a:t>GET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-100" dirty="0">
                <a:latin typeface="Arial"/>
                <a:cs typeface="Arial"/>
              </a:rPr>
              <a:t>responds </a:t>
            </a:r>
            <a:r>
              <a:rPr sz="2000" spc="10" dirty="0">
                <a:latin typeface="Arial"/>
                <a:cs typeface="Arial"/>
              </a:rPr>
              <a:t>with </a:t>
            </a:r>
            <a:r>
              <a:rPr sz="2000" spc="-155" dirty="0">
                <a:latin typeface="Arial"/>
                <a:cs typeface="Arial"/>
              </a:rPr>
              <a:t>a  </a:t>
            </a:r>
            <a:r>
              <a:rPr sz="2000" spc="-85" dirty="0">
                <a:latin typeface="Arial"/>
                <a:cs typeface="Arial"/>
              </a:rPr>
              <a:t>status </a:t>
            </a:r>
            <a:r>
              <a:rPr sz="2000" spc="-45" dirty="0">
                <a:latin typeface="Arial"/>
                <a:cs typeface="Arial"/>
              </a:rPr>
              <a:t>line, </a:t>
            </a:r>
            <a:r>
              <a:rPr sz="2000" spc="-130" dirty="0">
                <a:latin typeface="Arial"/>
                <a:cs typeface="Arial"/>
              </a:rPr>
              <a:t>such </a:t>
            </a:r>
            <a:r>
              <a:rPr sz="2000" spc="-185" dirty="0">
                <a:latin typeface="Arial"/>
                <a:cs typeface="Arial"/>
              </a:rPr>
              <a:t>as </a:t>
            </a:r>
            <a:r>
              <a:rPr sz="2000" spc="-145" dirty="0">
                <a:latin typeface="Arial"/>
                <a:cs typeface="Arial"/>
              </a:rPr>
              <a:t>HTTP/1.1 </a:t>
            </a:r>
            <a:r>
              <a:rPr sz="2000" spc="-95" dirty="0">
                <a:latin typeface="Arial"/>
                <a:cs typeface="Arial"/>
              </a:rPr>
              <a:t>200 </a:t>
            </a:r>
            <a:r>
              <a:rPr sz="2000" spc="-195" dirty="0">
                <a:latin typeface="Arial"/>
                <a:cs typeface="Arial"/>
              </a:rPr>
              <a:t>OK,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55" dirty="0">
                <a:latin typeface="Arial"/>
                <a:cs typeface="Arial"/>
              </a:rPr>
              <a:t>a message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its </a:t>
            </a:r>
            <a:r>
              <a:rPr sz="2000" spc="-50" dirty="0">
                <a:latin typeface="Arial"/>
                <a:cs typeface="Arial"/>
              </a:rPr>
              <a:t>own,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body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75" dirty="0">
                <a:latin typeface="Arial"/>
                <a:cs typeface="Arial"/>
              </a:rPr>
              <a:t>requested </a:t>
            </a:r>
            <a:r>
              <a:rPr sz="2000" spc="-25" dirty="0">
                <a:latin typeface="Arial"/>
                <a:cs typeface="Arial"/>
              </a:rPr>
              <a:t>file,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30" dirty="0">
                <a:latin typeface="Arial"/>
                <a:cs typeface="Arial"/>
              </a:rPr>
              <a:t>error </a:t>
            </a:r>
            <a:r>
              <a:rPr sz="2000" spc="-145" dirty="0">
                <a:latin typeface="Arial"/>
                <a:cs typeface="Arial"/>
              </a:rPr>
              <a:t>message, </a:t>
            </a:r>
            <a:r>
              <a:rPr sz="2000" spc="-15" dirty="0">
                <a:latin typeface="Arial"/>
                <a:cs typeface="Arial"/>
              </a:rPr>
              <a:t>or </a:t>
            </a:r>
            <a:r>
              <a:rPr sz="2000" spc="-120" dirty="0">
                <a:latin typeface="Arial"/>
                <a:cs typeface="Arial"/>
              </a:rPr>
              <a:t>some </a:t>
            </a:r>
            <a:r>
              <a:rPr sz="2000" spc="-20" dirty="0">
                <a:latin typeface="Arial"/>
                <a:cs typeface="Arial"/>
              </a:rPr>
              <a:t>other</a:t>
            </a:r>
            <a:r>
              <a:rPr sz="2000" spc="-3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information.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522913" y="3352800"/>
            <a:ext cx="5490971" cy="2724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13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5" dirty="0"/>
              <a:t> </a:t>
            </a:r>
            <a:r>
              <a:rPr lang="en-US" sz="4000" spc="-645" dirty="0"/>
              <a:t>HTTP     (c  o  n  t   .)	</a:t>
            </a:r>
            <a:endParaRPr lang="en-US"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128920" y="2391337"/>
            <a:ext cx="8779553" cy="196977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74320" indent="-261620">
              <a:lnSpc>
                <a:spcPct val="100000"/>
              </a:lnSpc>
              <a:spcBef>
                <a:spcPts val="1260"/>
              </a:spcBef>
              <a:buClr>
                <a:srgbClr val="9DBEBD"/>
              </a:buClr>
              <a:buChar char="•"/>
              <a:tabLst>
                <a:tab pos="274320" algn="l"/>
                <a:tab pos="274955" algn="l"/>
              </a:tabLst>
            </a:pPr>
            <a:r>
              <a:rPr sz="2000" spc="-300" dirty="0">
                <a:latin typeface="Arial"/>
                <a:cs typeface="Arial"/>
              </a:rPr>
              <a:t>POST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240" dirty="0">
                <a:latin typeface="Arial"/>
                <a:cs typeface="Arial"/>
              </a:rPr>
              <a:t>PUT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20" dirty="0">
                <a:latin typeface="Arial"/>
                <a:cs typeface="Arial"/>
              </a:rPr>
              <a:t>send </a:t>
            </a:r>
            <a:r>
              <a:rPr sz="2000" spc="-165" dirty="0">
                <a:latin typeface="Arial"/>
                <a:cs typeface="Arial"/>
              </a:rPr>
              <a:t>messages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65" dirty="0">
                <a:latin typeface="Arial"/>
                <a:cs typeface="Arial"/>
              </a:rPr>
              <a:t>upload </a:t>
            </a:r>
            <a:r>
              <a:rPr sz="2000" spc="-80" dirty="0">
                <a:latin typeface="Arial"/>
                <a:cs typeface="Arial"/>
              </a:rPr>
              <a:t>data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76225" indent="-263525">
              <a:lnSpc>
                <a:spcPts val="2280"/>
              </a:lnSpc>
              <a:spcBef>
                <a:spcPts val="1165"/>
              </a:spcBef>
              <a:buClr>
                <a:srgbClr val="9DBEBD"/>
              </a:buClr>
              <a:buChar char="•"/>
              <a:tabLst>
                <a:tab pos="276225" algn="l"/>
                <a:tab pos="276860" algn="l"/>
              </a:tabLst>
            </a:pPr>
            <a:r>
              <a:rPr sz="2000" spc="-120" dirty="0">
                <a:latin typeface="Arial"/>
                <a:cs typeface="Arial"/>
              </a:rPr>
              <a:t>For </a:t>
            </a:r>
            <a:r>
              <a:rPr sz="2000" spc="-100" dirty="0">
                <a:latin typeface="Arial"/>
                <a:cs typeface="Arial"/>
              </a:rPr>
              <a:t>example, </a:t>
            </a:r>
            <a:r>
              <a:rPr sz="2000" spc="-65" dirty="0">
                <a:latin typeface="Arial"/>
                <a:cs typeface="Arial"/>
              </a:rPr>
              <a:t>when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user </a:t>
            </a:r>
            <a:r>
              <a:rPr sz="2000" spc="-75" dirty="0">
                <a:latin typeface="Arial"/>
                <a:cs typeface="Arial"/>
              </a:rPr>
              <a:t>enters data </a:t>
            </a:r>
            <a:r>
              <a:rPr sz="2000" spc="-10" dirty="0">
                <a:latin typeface="Arial"/>
                <a:cs typeface="Arial"/>
              </a:rPr>
              <a:t>into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form </a:t>
            </a:r>
            <a:r>
              <a:rPr sz="2000" spc="-85" dirty="0">
                <a:latin typeface="Arial"/>
                <a:cs typeface="Arial"/>
              </a:rPr>
              <a:t>embedded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web </a:t>
            </a:r>
            <a:r>
              <a:rPr sz="2000" spc="-120" dirty="0">
                <a:latin typeface="Arial"/>
                <a:cs typeface="Arial"/>
              </a:rPr>
              <a:t>page, </a:t>
            </a:r>
            <a:r>
              <a:rPr sz="2000" spc="-300" dirty="0">
                <a:latin typeface="Arial"/>
                <a:cs typeface="Arial"/>
              </a:rPr>
              <a:t>POST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includes</a:t>
            </a:r>
            <a:endParaRPr sz="2000" dirty="0">
              <a:latin typeface="Arial"/>
              <a:cs typeface="Arial"/>
            </a:endParaRPr>
          </a:p>
          <a:p>
            <a:pPr marL="103505">
              <a:lnSpc>
                <a:spcPts val="2280"/>
              </a:lnSpc>
            </a:pP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data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message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sent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17804" indent="-205104">
              <a:lnSpc>
                <a:spcPct val="100000"/>
              </a:lnSpc>
              <a:spcBef>
                <a:spcPts val="1155"/>
              </a:spcBef>
              <a:buClr>
                <a:srgbClr val="9DBEBD"/>
              </a:buClr>
              <a:buChar char="•"/>
              <a:tabLst>
                <a:tab pos="218440" algn="l"/>
              </a:tabLst>
            </a:pPr>
            <a:r>
              <a:rPr sz="2000" spc="-240" dirty="0">
                <a:latin typeface="Arial"/>
                <a:cs typeface="Arial"/>
              </a:rPr>
              <a:t>PUT </a:t>
            </a:r>
            <a:r>
              <a:rPr sz="2000" spc="-85" dirty="0">
                <a:latin typeface="Arial"/>
                <a:cs typeface="Arial"/>
              </a:rPr>
              <a:t>uploads </a:t>
            </a:r>
            <a:r>
              <a:rPr sz="2000" spc="-105" dirty="0">
                <a:latin typeface="Arial"/>
                <a:cs typeface="Arial"/>
              </a:rPr>
              <a:t>resources </a:t>
            </a:r>
            <a:r>
              <a:rPr sz="2000" spc="-15" dirty="0">
                <a:latin typeface="Arial"/>
                <a:cs typeface="Arial"/>
              </a:rPr>
              <a:t>or </a:t>
            </a:r>
            <a:r>
              <a:rPr sz="2000" spc="-45" dirty="0">
                <a:latin typeface="Arial"/>
                <a:cs typeface="Arial"/>
              </a:rPr>
              <a:t>content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web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797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 </a:t>
            </a:r>
            <a:r>
              <a:rPr lang="en-US" sz="4000" spc="-640" dirty="0"/>
              <a:t>HTTP       </a:t>
            </a:r>
            <a:r>
              <a:rPr lang="en-US" sz="4000" spc="-245" dirty="0"/>
              <a:t>runs </a:t>
            </a:r>
            <a:r>
              <a:rPr lang="en-US" sz="4000" spc="-195" dirty="0"/>
              <a:t>on  </a:t>
            </a:r>
            <a:r>
              <a:rPr lang="en-US" sz="4000" spc="-825" dirty="0"/>
              <a:t>T C       P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304800" y="2316885"/>
            <a:ext cx="8312728" cy="391389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transfer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protocol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used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throughout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World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Wide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Web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</a:t>
            </a:r>
            <a:r>
              <a:rPr sz="2000" spc="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(Hyper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Text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Transfer 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Protocol). </a:t>
            </a:r>
            <a:endParaRPr lang="en-US" sz="2000" spc="-7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provides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reliable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data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transfer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service </a:t>
            </a:r>
            <a:r>
              <a:rPr sz="2000" spc="15" dirty="0">
                <a:solidFill>
                  <a:srgbClr val="404040"/>
                </a:solidFill>
                <a:latin typeface="Arial"/>
                <a:cs typeface="Arial"/>
              </a:rPr>
              <a:t>to </a:t>
            </a:r>
            <a:r>
              <a:rPr sz="2000" spc="-265" dirty="0">
                <a:solidFill>
                  <a:srgbClr val="404040"/>
                </a:solidFill>
                <a:latin typeface="Arial"/>
                <a:cs typeface="Arial"/>
              </a:rPr>
              <a:t>HTTP,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using </a:t>
            </a:r>
            <a:r>
              <a:rPr sz="2000" spc="-330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port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80.</a:t>
            </a:r>
            <a:endParaRPr lang="en-US" sz="2000" spc="-8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This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implies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endParaRPr lang="en-US" sz="2000" spc="-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each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request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message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emitted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a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client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process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eventually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arrives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tact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server;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similarly, </a:t>
            </a:r>
            <a:endParaRPr lang="en-US" sz="2000" spc="-65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each </a:t>
            </a: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response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message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emitted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by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server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process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eventually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arrives 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in tact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at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client.</a:t>
            </a: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561339" marR="5080" lvl="1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245" dirty="0">
                <a:solidFill>
                  <a:srgbClr val="404040"/>
                </a:solidFill>
                <a:latin typeface="Arial"/>
                <a:cs typeface="Arial"/>
              </a:rPr>
              <a:t>HTTP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need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not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worry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about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lost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data,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or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details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how </a:t>
            </a: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recovers 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from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loss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or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reordering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data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within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network.</a:t>
            </a:r>
            <a:endParaRPr lang="en-US" sz="2000" spc="-4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That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is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job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2000" spc="-330" dirty="0">
                <a:solidFill>
                  <a:srgbClr val="404040"/>
                </a:solidFill>
                <a:latin typeface="Arial"/>
                <a:cs typeface="Arial"/>
              </a:rPr>
              <a:t>TCP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protocols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in 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lower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layers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protocol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stack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24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220" dirty="0"/>
              <a:t>Application </a:t>
            </a:r>
            <a:r>
              <a:rPr lang="en-US" sz="4000" spc="-390" dirty="0"/>
              <a:t>Layer  </a:t>
            </a:r>
            <a:r>
              <a:rPr lang="en-US" sz="4000" spc="-229" dirty="0"/>
              <a:t>Protocol:</a:t>
            </a:r>
            <a:r>
              <a:rPr lang="en-US" sz="4000" spc="-470" dirty="0"/>
              <a:t> </a:t>
            </a:r>
            <a:r>
              <a:rPr lang="en-US" sz="4000" spc="-700" dirty="0"/>
              <a:t>D   N    S	</a:t>
            </a:r>
            <a:endParaRPr lang="en-US" sz="4000" dirty="0"/>
          </a:p>
        </p:txBody>
      </p:sp>
      <p:sp>
        <p:nvSpPr>
          <p:cNvPr id="17" name="object 5"/>
          <p:cNvSpPr txBox="1"/>
          <p:nvPr/>
        </p:nvSpPr>
        <p:spPr>
          <a:xfrm>
            <a:off x="184338" y="2023361"/>
            <a:ext cx="8641007" cy="401955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19"/>
              </a:spcBef>
            </a:pPr>
            <a:r>
              <a:rPr sz="2000" spc="-95" dirty="0">
                <a:latin typeface="Arial"/>
                <a:cs typeface="Arial"/>
              </a:rPr>
              <a:t>Domain </a:t>
            </a:r>
            <a:r>
              <a:rPr sz="2000" spc="-125" dirty="0">
                <a:latin typeface="Arial"/>
                <a:cs typeface="Arial"/>
              </a:rPr>
              <a:t>Name Service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(DNS):</a:t>
            </a:r>
            <a:endParaRPr sz="2000" dirty="0">
              <a:latin typeface="Arial"/>
              <a:cs typeface="Arial"/>
            </a:endParaRPr>
          </a:p>
          <a:p>
            <a:pPr marL="469265" marR="36195" indent="-457200">
              <a:lnSpc>
                <a:spcPct val="80000"/>
              </a:lnSpc>
              <a:spcBef>
                <a:spcPts val="1405"/>
              </a:spcBef>
              <a:tabLst>
                <a:tab pos="469265" algn="l"/>
              </a:tabLst>
            </a:pPr>
            <a:r>
              <a:rPr sz="2000" spc="-75" dirty="0">
                <a:solidFill>
                  <a:srgbClr val="9DBEBD"/>
                </a:solidFill>
                <a:latin typeface="Arial"/>
                <a:cs typeface="Arial"/>
              </a:rPr>
              <a:t>1.	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0" dirty="0">
                <a:latin typeface="Arial"/>
                <a:cs typeface="Arial"/>
              </a:rPr>
              <a:t>provides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core </a:t>
            </a:r>
            <a:r>
              <a:rPr sz="2000" spc="-30" dirty="0">
                <a:latin typeface="Arial"/>
                <a:cs typeface="Arial"/>
              </a:rPr>
              <a:t>Internet function, </a:t>
            </a:r>
            <a:r>
              <a:rPr sz="2000" spc="-55" dirty="0">
                <a:latin typeface="Arial"/>
                <a:cs typeface="Arial"/>
              </a:rPr>
              <a:t>translating </a:t>
            </a:r>
            <a:r>
              <a:rPr sz="2000" spc="-100" dirty="0">
                <a:latin typeface="Arial"/>
                <a:cs typeface="Arial"/>
              </a:rPr>
              <a:t>hostnames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5" dirty="0">
                <a:latin typeface="Arial"/>
                <a:cs typeface="Arial"/>
              </a:rPr>
              <a:t>their </a:t>
            </a:r>
            <a:r>
              <a:rPr sz="2000" spc="-60" dirty="0">
                <a:latin typeface="Arial"/>
                <a:cs typeface="Arial"/>
              </a:rPr>
              <a:t>underlying </a:t>
            </a:r>
            <a:r>
              <a:rPr sz="2000" spc="-175" dirty="0">
                <a:latin typeface="Arial"/>
                <a:cs typeface="Arial"/>
              </a:rPr>
              <a:t>IP  </a:t>
            </a:r>
            <a:r>
              <a:rPr sz="2000" spc="-125" dirty="0">
                <a:latin typeface="Arial"/>
                <a:cs typeface="Arial"/>
              </a:rPr>
              <a:t>addresses,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95" dirty="0">
                <a:latin typeface="Arial"/>
                <a:cs typeface="Arial"/>
              </a:rPr>
              <a:t>user </a:t>
            </a:r>
            <a:r>
              <a:rPr sz="2000" spc="-70" dirty="0">
                <a:latin typeface="Arial"/>
                <a:cs typeface="Arial"/>
              </a:rPr>
              <a:t>applications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20" dirty="0">
                <a:latin typeface="Arial"/>
                <a:cs typeface="Arial"/>
              </a:rPr>
              <a:t>other </a:t>
            </a:r>
            <a:r>
              <a:rPr sz="2000" spc="-55" dirty="0">
                <a:latin typeface="Arial"/>
                <a:cs typeface="Arial"/>
              </a:rPr>
              <a:t>software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30" dirty="0">
                <a:latin typeface="Arial"/>
                <a:cs typeface="Arial"/>
              </a:rPr>
              <a:t>Internet. </a:t>
            </a: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0" dirty="0">
                <a:latin typeface="Arial"/>
                <a:cs typeface="Arial"/>
              </a:rPr>
              <a:t>protocol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defines 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60" dirty="0">
                <a:latin typeface="Arial"/>
                <a:cs typeface="Arial"/>
              </a:rPr>
              <a:t>automated </a:t>
            </a:r>
            <a:r>
              <a:rPr sz="2000" spc="-95" dirty="0">
                <a:latin typeface="Arial"/>
                <a:cs typeface="Arial"/>
              </a:rPr>
              <a:t>service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0" dirty="0">
                <a:latin typeface="Arial"/>
                <a:cs typeface="Arial"/>
              </a:rPr>
              <a:t>matches </a:t>
            </a:r>
            <a:r>
              <a:rPr sz="2000" spc="-90" dirty="0">
                <a:latin typeface="Arial"/>
                <a:cs typeface="Arial"/>
              </a:rPr>
              <a:t>resource </a:t>
            </a:r>
            <a:r>
              <a:rPr sz="2000" spc="-125" dirty="0">
                <a:latin typeface="Arial"/>
                <a:cs typeface="Arial"/>
              </a:rPr>
              <a:t>names </a:t>
            </a:r>
            <a:r>
              <a:rPr sz="2000" spc="10" dirty="0">
                <a:latin typeface="Arial"/>
                <a:cs typeface="Arial"/>
              </a:rPr>
              <a:t>with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50" dirty="0">
                <a:latin typeface="Arial"/>
                <a:cs typeface="Arial"/>
              </a:rPr>
              <a:t>required </a:t>
            </a:r>
            <a:r>
              <a:rPr sz="2000" spc="-65" dirty="0">
                <a:latin typeface="Arial"/>
                <a:cs typeface="Arial"/>
              </a:rPr>
              <a:t>numeric </a:t>
            </a:r>
            <a:r>
              <a:rPr sz="2000" spc="-40" dirty="0">
                <a:latin typeface="Arial"/>
                <a:cs typeface="Arial"/>
              </a:rPr>
              <a:t>network  </a:t>
            </a:r>
            <a:r>
              <a:rPr sz="2000" spc="-120" dirty="0">
                <a:latin typeface="Arial"/>
                <a:cs typeface="Arial"/>
              </a:rPr>
              <a:t>address</a:t>
            </a:r>
            <a:endParaRPr sz="2000" dirty="0">
              <a:latin typeface="Arial"/>
              <a:cs typeface="Arial"/>
            </a:endParaRPr>
          </a:p>
          <a:p>
            <a:pPr marL="104139" marR="5080" indent="-91440" algn="just">
              <a:lnSpc>
                <a:spcPct val="80000"/>
              </a:lnSpc>
              <a:spcBef>
                <a:spcPts val="1395"/>
              </a:spcBef>
              <a:buClr>
                <a:srgbClr val="9DBEBD"/>
              </a:buClr>
              <a:buFont typeface="Wingdings"/>
              <a:buChar char=""/>
              <a:tabLst>
                <a:tab pos="471805" algn="l"/>
              </a:tabLst>
            </a:pP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60" dirty="0">
                <a:latin typeface="Arial"/>
                <a:cs typeface="Arial"/>
              </a:rPr>
              <a:t>uses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large </a:t>
            </a:r>
            <a:r>
              <a:rPr sz="2000" spc="-6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 servers, organized </a:t>
            </a:r>
            <a:r>
              <a:rPr sz="2000" spc="-35" dirty="0">
                <a:latin typeface="Arial"/>
                <a:cs typeface="Arial"/>
              </a:rPr>
              <a:t>in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75" dirty="0">
                <a:latin typeface="Arial"/>
                <a:cs typeface="Arial"/>
              </a:rPr>
              <a:t>hierarchical fashion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35" dirty="0">
                <a:latin typeface="Arial"/>
                <a:cs typeface="Arial"/>
              </a:rPr>
              <a:t>distributed  </a:t>
            </a:r>
            <a:r>
              <a:rPr sz="2000" spc="-70" dirty="0">
                <a:latin typeface="Arial"/>
                <a:cs typeface="Arial"/>
              </a:rPr>
              <a:t>around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world. </a:t>
            </a:r>
            <a:r>
              <a:rPr sz="2000" spc="-105" dirty="0">
                <a:latin typeface="Arial"/>
                <a:cs typeface="Arial"/>
              </a:rPr>
              <a:t>No </a:t>
            </a:r>
            <a:r>
              <a:rPr sz="2000" spc="-80" dirty="0">
                <a:latin typeface="Arial"/>
                <a:cs typeface="Arial"/>
              </a:rPr>
              <a:t>one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mappings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hosts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25" dirty="0">
                <a:latin typeface="Arial"/>
                <a:cs typeface="Arial"/>
              </a:rPr>
              <a:t>internet. </a:t>
            </a:r>
            <a:r>
              <a:rPr sz="2000" spc="-85" dirty="0">
                <a:latin typeface="Arial"/>
                <a:cs typeface="Arial"/>
              </a:rPr>
              <a:t>Instead,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mappings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35" dirty="0">
                <a:latin typeface="Arial"/>
                <a:cs typeface="Arial"/>
              </a:rPr>
              <a:t>distributed </a:t>
            </a:r>
            <a:r>
              <a:rPr sz="2000" spc="-135" dirty="0">
                <a:latin typeface="Arial"/>
                <a:cs typeface="Arial"/>
              </a:rPr>
              <a:t>across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servers. </a:t>
            </a:r>
            <a:r>
              <a:rPr sz="2000" spc="-114" dirty="0">
                <a:latin typeface="Arial"/>
                <a:cs typeface="Arial"/>
              </a:rPr>
              <a:t>There </a:t>
            </a:r>
            <a:r>
              <a:rPr sz="2000" spc="-90" dirty="0">
                <a:latin typeface="Arial"/>
                <a:cs typeface="Arial"/>
              </a:rPr>
              <a:t>are </a:t>
            </a:r>
            <a:r>
              <a:rPr sz="2000" spc="-40" dirty="0">
                <a:latin typeface="Arial"/>
                <a:cs typeface="Arial"/>
              </a:rPr>
              <a:t>three </a:t>
            </a:r>
            <a:r>
              <a:rPr sz="2000" spc="-75" dirty="0">
                <a:latin typeface="Arial"/>
                <a:cs typeface="Arial"/>
              </a:rPr>
              <a:t>types 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</a:t>
            </a:r>
            <a:r>
              <a:rPr sz="2000" spc="-22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servers:</a:t>
            </a:r>
            <a:endParaRPr sz="20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919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90" dirty="0">
                <a:latin typeface="Trebuchet MS"/>
                <a:cs typeface="Trebuchet MS"/>
              </a:rPr>
              <a:t>Root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90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servers</a:t>
            </a:r>
            <a:endParaRPr sz="2000" dirty="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25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40" dirty="0">
                <a:latin typeface="Trebuchet MS"/>
                <a:cs typeface="Trebuchet MS"/>
              </a:rPr>
              <a:t>Local 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65" dirty="0">
                <a:latin typeface="Trebuchet MS"/>
                <a:cs typeface="Trebuchet MS"/>
              </a:rPr>
              <a:t> </a:t>
            </a:r>
            <a:r>
              <a:rPr sz="2000" b="1" spc="-130" dirty="0">
                <a:latin typeface="Trebuchet MS"/>
                <a:cs typeface="Trebuchet MS"/>
              </a:rPr>
              <a:t>server</a:t>
            </a:r>
            <a:endParaRPr sz="2000" dirty="0">
              <a:latin typeface="Trebuchet MS"/>
              <a:cs typeface="Trebuchet MS"/>
            </a:endParaRPr>
          </a:p>
          <a:p>
            <a:pPr marL="469265" indent="-456565">
              <a:lnSpc>
                <a:spcPct val="100000"/>
              </a:lnSpc>
              <a:spcBef>
                <a:spcPts val="910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10" dirty="0">
                <a:latin typeface="Trebuchet MS"/>
                <a:cs typeface="Trebuchet MS"/>
              </a:rPr>
              <a:t>Authoritative </a:t>
            </a:r>
            <a:r>
              <a:rPr sz="2000" b="1" spc="-105" dirty="0">
                <a:latin typeface="Trebuchet MS"/>
                <a:cs typeface="Trebuchet MS"/>
              </a:rPr>
              <a:t>name</a:t>
            </a:r>
            <a:r>
              <a:rPr sz="2000" b="1" spc="-229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servers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3232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504424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700" dirty="0"/>
              <a:t>D    N     S</a:t>
            </a:r>
            <a:r>
              <a:rPr lang="en-US" sz="4000" spc="-405" dirty="0"/>
              <a:t>  </a:t>
            </a:r>
            <a:r>
              <a:rPr lang="en-US" sz="4000" spc="-290" dirty="0"/>
              <a:t>Hierarchy	</a:t>
            </a:r>
            <a:endParaRPr lang="en-US" sz="4000" dirty="0"/>
          </a:p>
        </p:txBody>
      </p:sp>
      <p:sp>
        <p:nvSpPr>
          <p:cNvPr id="9" name="object 5"/>
          <p:cNvSpPr/>
          <p:nvPr/>
        </p:nvSpPr>
        <p:spPr>
          <a:xfrm>
            <a:off x="127462" y="2074024"/>
            <a:ext cx="8739447" cy="40142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264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531420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700" dirty="0"/>
              <a:t>D    N     S        </a:t>
            </a:r>
            <a:r>
              <a:rPr lang="en-US" sz="4000" spc="-434" dirty="0"/>
              <a:t> </a:t>
            </a:r>
            <a:r>
              <a:rPr lang="en-US" sz="4000" spc="-185" dirty="0"/>
              <a:t>cont.	</a:t>
            </a:r>
            <a:endParaRPr lang="en-US" sz="4000" dirty="0"/>
          </a:p>
        </p:txBody>
      </p:sp>
      <p:sp>
        <p:nvSpPr>
          <p:cNvPr id="4" name="object 5"/>
          <p:cNvSpPr txBox="1"/>
          <p:nvPr/>
        </p:nvSpPr>
        <p:spPr>
          <a:xfrm>
            <a:off x="0" y="2261466"/>
            <a:ext cx="8880764" cy="3356816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marR="8255" indent="-456565" algn="just">
              <a:lnSpc>
                <a:spcPct val="90000"/>
              </a:lnSpc>
              <a:spcBef>
                <a:spcPts val="340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90" dirty="0">
                <a:latin typeface="Trebuchet MS"/>
                <a:cs typeface="Trebuchet MS"/>
              </a:rPr>
              <a:t>Root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30" dirty="0">
                <a:latin typeface="Trebuchet MS"/>
                <a:cs typeface="Trebuchet MS"/>
              </a:rPr>
              <a:t>servers: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root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80" dirty="0">
                <a:latin typeface="Arial"/>
                <a:cs typeface="Arial"/>
              </a:rPr>
              <a:t>contains </a:t>
            </a:r>
            <a:r>
              <a:rPr spc="-30" dirty="0">
                <a:latin typeface="Arial"/>
                <a:cs typeface="Arial"/>
              </a:rPr>
              <a:t>information </a:t>
            </a:r>
            <a:r>
              <a:rPr spc="-50" dirty="0">
                <a:latin typeface="Arial"/>
                <a:cs typeface="Arial"/>
              </a:rPr>
              <a:t>about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" dirty="0">
                <a:latin typeface="Arial"/>
                <a:cs typeface="Arial"/>
              </a:rPr>
              <a:t>root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50" dirty="0">
                <a:latin typeface="Arial"/>
                <a:cs typeface="Arial"/>
              </a:rPr>
              <a:t>top-level  </a:t>
            </a:r>
            <a:r>
              <a:rPr spc="-90" dirty="0">
                <a:latin typeface="Arial"/>
                <a:cs typeface="Arial"/>
              </a:rPr>
              <a:t>domains, </a:t>
            </a:r>
            <a:r>
              <a:rPr spc="-95" dirty="0">
                <a:latin typeface="Arial"/>
                <a:cs typeface="Arial"/>
              </a:rPr>
              <a:t>When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65" dirty="0">
                <a:latin typeface="Arial"/>
                <a:cs typeface="Arial"/>
              </a:rPr>
              <a:t>cannot </a:t>
            </a:r>
            <a:r>
              <a:rPr spc="-55" dirty="0">
                <a:latin typeface="Arial"/>
                <a:cs typeface="Arial"/>
              </a:rPr>
              <a:t>immediately </a:t>
            </a:r>
            <a:r>
              <a:rPr spc="-80" dirty="0">
                <a:latin typeface="Arial"/>
                <a:cs typeface="Arial"/>
              </a:rPr>
              <a:t>satisfy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query </a:t>
            </a:r>
            <a:r>
              <a:rPr spc="-25" dirty="0">
                <a:latin typeface="Arial"/>
                <a:cs typeface="Arial"/>
              </a:rPr>
              <a:t>from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20" dirty="0">
                <a:latin typeface="Arial"/>
                <a:cs typeface="Arial"/>
              </a:rPr>
              <a:t>(because  </a:t>
            </a:r>
            <a:r>
              <a:rPr spc="60" dirty="0">
                <a:latin typeface="Arial"/>
                <a:cs typeface="Arial"/>
              </a:rPr>
              <a:t>it </a:t>
            </a:r>
            <a:r>
              <a:rPr spc="-120" dirty="0">
                <a:latin typeface="Arial"/>
                <a:cs typeface="Arial"/>
              </a:rPr>
              <a:t>does </a:t>
            </a:r>
            <a:r>
              <a:rPr spc="-5" dirty="0">
                <a:latin typeface="Arial"/>
                <a:cs typeface="Arial"/>
              </a:rPr>
              <a:t>not </a:t>
            </a:r>
            <a:r>
              <a:rPr spc="-130" dirty="0">
                <a:latin typeface="Arial"/>
                <a:cs typeface="Arial"/>
              </a:rPr>
              <a:t>have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record </a:t>
            </a:r>
            <a:r>
              <a:rPr spc="-5" dirty="0">
                <a:latin typeface="Arial"/>
                <a:cs typeface="Arial"/>
              </a:rPr>
              <a:t>for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85" dirty="0">
                <a:latin typeface="Arial"/>
                <a:cs typeface="Arial"/>
              </a:rPr>
              <a:t>hostname being </a:t>
            </a:r>
            <a:r>
              <a:rPr spc="-75" dirty="0">
                <a:latin typeface="Arial"/>
                <a:cs typeface="Arial"/>
              </a:rPr>
              <a:t>requested),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30" dirty="0">
                <a:latin typeface="Arial"/>
                <a:cs typeface="Arial"/>
              </a:rPr>
              <a:t>behaves 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265" dirty="0">
                <a:latin typeface="Arial"/>
                <a:cs typeface="Arial"/>
              </a:rPr>
              <a:t>DNS </a:t>
            </a:r>
            <a:r>
              <a:rPr spc="-40" dirty="0">
                <a:latin typeface="Arial"/>
                <a:cs typeface="Arial"/>
              </a:rPr>
              <a:t>client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80" dirty="0">
                <a:latin typeface="Arial"/>
                <a:cs typeface="Arial"/>
              </a:rPr>
              <a:t>queries one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" dirty="0">
                <a:latin typeface="Arial"/>
                <a:cs typeface="Arial"/>
              </a:rPr>
              <a:t>root </a:t>
            </a:r>
            <a:r>
              <a:rPr spc="-105" dirty="0">
                <a:latin typeface="Arial"/>
                <a:cs typeface="Arial"/>
              </a:rPr>
              <a:t>name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servers.</a:t>
            </a:r>
            <a:endParaRPr dirty="0">
              <a:latin typeface="Arial"/>
              <a:cs typeface="Arial"/>
            </a:endParaRPr>
          </a:p>
          <a:p>
            <a:pPr marL="469265" marR="5080" indent="-456565" algn="just">
              <a:lnSpc>
                <a:spcPts val="2160"/>
              </a:lnSpc>
              <a:spcBef>
                <a:spcPts val="1440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140" dirty="0">
                <a:latin typeface="Trebuchet MS"/>
                <a:cs typeface="Trebuchet MS"/>
              </a:rPr>
              <a:t>Local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14" dirty="0">
                <a:latin typeface="Trebuchet MS"/>
                <a:cs typeface="Trebuchet MS"/>
              </a:rPr>
              <a:t>server</a:t>
            </a:r>
            <a:r>
              <a:rPr spc="-114" dirty="0">
                <a:latin typeface="Arial"/>
                <a:cs typeface="Arial"/>
              </a:rPr>
              <a:t>: </a:t>
            </a:r>
            <a:r>
              <a:rPr spc="-190" dirty="0">
                <a:latin typeface="Arial"/>
                <a:cs typeface="Arial"/>
              </a:rPr>
              <a:t>Each </a:t>
            </a:r>
            <a:r>
              <a:rPr spc="-254" dirty="0">
                <a:latin typeface="Arial"/>
                <a:cs typeface="Arial"/>
              </a:rPr>
              <a:t>ISP </a:t>
            </a:r>
            <a:r>
              <a:rPr spc="-55" dirty="0">
                <a:latin typeface="Arial"/>
                <a:cs typeface="Arial"/>
              </a:rPr>
              <a:t>- </a:t>
            </a:r>
            <a:r>
              <a:rPr spc="-130" dirty="0">
                <a:latin typeface="Arial"/>
                <a:cs typeface="Arial"/>
              </a:rPr>
              <a:t>such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university,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114" dirty="0">
                <a:latin typeface="Arial"/>
                <a:cs typeface="Arial"/>
              </a:rPr>
              <a:t>academic </a:t>
            </a:r>
            <a:r>
              <a:rPr spc="-45" dirty="0">
                <a:latin typeface="Arial"/>
                <a:cs typeface="Arial"/>
              </a:rPr>
              <a:t>department,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80" dirty="0">
                <a:latin typeface="Arial"/>
                <a:cs typeface="Arial"/>
              </a:rPr>
              <a:t>employee's  </a:t>
            </a:r>
            <a:r>
              <a:rPr spc="-105" dirty="0">
                <a:latin typeface="Arial"/>
                <a:cs typeface="Arial"/>
              </a:rPr>
              <a:t>company </a:t>
            </a:r>
            <a:r>
              <a:rPr spc="-15" dirty="0">
                <a:latin typeface="Arial"/>
                <a:cs typeface="Arial"/>
              </a:rPr>
              <a:t>or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55" dirty="0">
                <a:latin typeface="Arial"/>
                <a:cs typeface="Arial"/>
              </a:rPr>
              <a:t>residential </a:t>
            </a:r>
            <a:r>
              <a:rPr spc="-254" dirty="0">
                <a:latin typeface="Arial"/>
                <a:cs typeface="Arial"/>
              </a:rPr>
              <a:t>ISP </a:t>
            </a:r>
            <a:r>
              <a:rPr spc="-55" dirty="0">
                <a:latin typeface="Arial"/>
                <a:cs typeface="Arial"/>
              </a:rPr>
              <a:t>- </a:t>
            </a:r>
            <a:r>
              <a:rPr spc="-150" dirty="0">
                <a:latin typeface="Arial"/>
                <a:cs typeface="Arial"/>
              </a:rPr>
              <a:t>has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5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00" dirty="0">
                <a:latin typeface="Arial"/>
                <a:cs typeface="Arial"/>
              </a:rPr>
              <a:t>(also </a:t>
            </a:r>
            <a:r>
              <a:rPr spc="-80" dirty="0">
                <a:latin typeface="Arial"/>
                <a:cs typeface="Arial"/>
              </a:rPr>
              <a:t>called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40" dirty="0">
                <a:latin typeface="Arial"/>
                <a:cs typeface="Arial"/>
              </a:rPr>
              <a:t>default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0" dirty="0">
                <a:latin typeface="Arial"/>
                <a:cs typeface="Arial"/>
              </a:rPr>
              <a:t>server).  </a:t>
            </a:r>
            <a:r>
              <a:rPr spc="-90" dirty="0">
                <a:latin typeface="Arial"/>
                <a:cs typeface="Arial"/>
              </a:rPr>
              <a:t>When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0" dirty="0">
                <a:latin typeface="Arial"/>
                <a:cs typeface="Arial"/>
              </a:rPr>
              <a:t>host </a:t>
            </a:r>
            <a:r>
              <a:rPr spc="-135" dirty="0">
                <a:latin typeface="Arial"/>
                <a:cs typeface="Arial"/>
              </a:rPr>
              <a:t>issues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265" dirty="0">
                <a:latin typeface="Arial"/>
                <a:cs typeface="Arial"/>
              </a:rPr>
              <a:t>DNS </a:t>
            </a:r>
            <a:r>
              <a:rPr spc="-65" dirty="0">
                <a:latin typeface="Arial"/>
                <a:cs typeface="Arial"/>
              </a:rPr>
              <a:t>query </a:t>
            </a:r>
            <a:r>
              <a:rPr spc="-145" dirty="0">
                <a:latin typeface="Arial"/>
                <a:cs typeface="Arial"/>
              </a:rPr>
              <a:t>message,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55" dirty="0">
                <a:latin typeface="Arial"/>
                <a:cs typeface="Arial"/>
              </a:rPr>
              <a:t>message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15" dirty="0">
                <a:latin typeface="Arial"/>
                <a:cs typeface="Arial"/>
              </a:rPr>
              <a:t>first </a:t>
            </a:r>
            <a:r>
              <a:rPr spc="-75" dirty="0">
                <a:latin typeface="Arial"/>
                <a:cs typeface="Arial"/>
              </a:rPr>
              <a:t>sent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host's local </a:t>
            </a:r>
            <a:r>
              <a:rPr spc="-105" dirty="0">
                <a:latin typeface="Arial"/>
                <a:cs typeface="Arial"/>
              </a:rPr>
              <a:t>name  </a:t>
            </a:r>
            <a:r>
              <a:rPr spc="-110" dirty="0">
                <a:latin typeface="Arial"/>
                <a:cs typeface="Arial"/>
              </a:rPr>
              <a:t>server. </a:t>
            </a:r>
            <a:r>
              <a:rPr spc="-145" dirty="0">
                <a:latin typeface="Arial"/>
                <a:cs typeface="Arial"/>
              </a:rPr>
              <a:t>The </a:t>
            </a:r>
            <a:r>
              <a:rPr spc="-180" dirty="0">
                <a:latin typeface="Arial"/>
                <a:cs typeface="Arial"/>
              </a:rPr>
              <a:t>IP </a:t>
            </a:r>
            <a:r>
              <a:rPr spc="-120" dirty="0">
                <a:latin typeface="Arial"/>
                <a:cs typeface="Arial"/>
              </a:rPr>
              <a:t>address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45" dirty="0">
                <a:latin typeface="Arial"/>
                <a:cs typeface="Arial"/>
              </a:rPr>
              <a:t>typically </a:t>
            </a:r>
            <a:r>
              <a:rPr spc="-65" dirty="0">
                <a:latin typeface="Arial"/>
                <a:cs typeface="Arial"/>
              </a:rPr>
              <a:t>configured </a:t>
            </a:r>
            <a:r>
              <a:rPr spc="-85" dirty="0">
                <a:latin typeface="Arial"/>
                <a:cs typeface="Arial"/>
              </a:rPr>
              <a:t>by </a:t>
            </a:r>
            <a:r>
              <a:rPr spc="-90" dirty="0">
                <a:latin typeface="Arial"/>
                <a:cs typeface="Arial"/>
              </a:rPr>
              <a:t>hand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155" dirty="0">
                <a:latin typeface="Arial"/>
                <a:cs typeface="Arial"/>
              </a:rPr>
              <a:t>a</a:t>
            </a:r>
            <a:r>
              <a:rPr spc="35" dirty="0">
                <a:latin typeface="Arial"/>
                <a:cs typeface="Arial"/>
              </a:rPr>
              <a:t> </a:t>
            </a:r>
            <a:r>
              <a:rPr spc="-65" dirty="0">
                <a:latin typeface="Arial"/>
                <a:cs typeface="Arial"/>
              </a:rPr>
              <a:t>host.</a:t>
            </a:r>
            <a:endParaRPr dirty="0">
              <a:latin typeface="Arial"/>
              <a:cs typeface="Arial"/>
            </a:endParaRPr>
          </a:p>
          <a:p>
            <a:pPr marL="469265" marR="5715" indent="-456565" algn="just">
              <a:lnSpc>
                <a:spcPts val="2160"/>
              </a:lnSpc>
              <a:spcBef>
                <a:spcPts val="1395"/>
              </a:spcBef>
              <a:buClr>
                <a:srgbClr val="9DBEBD"/>
              </a:buClr>
              <a:buAutoNum type="arabicPeriod"/>
              <a:tabLst>
                <a:tab pos="469900" algn="l"/>
              </a:tabLst>
            </a:pPr>
            <a:r>
              <a:rPr b="1" spc="-110" dirty="0">
                <a:latin typeface="Trebuchet MS"/>
                <a:cs typeface="Trebuchet MS"/>
              </a:rPr>
              <a:t>Authoritative </a:t>
            </a:r>
            <a:r>
              <a:rPr b="1" spc="-105" dirty="0">
                <a:latin typeface="Trebuchet MS"/>
                <a:cs typeface="Trebuchet MS"/>
              </a:rPr>
              <a:t>name </a:t>
            </a:r>
            <a:r>
              <a:rPr b="1" spc="-130" dirty="0">
                <a:latin typeface="Trebuchet MS"/>
                <a:cs typeface="Trebuchet MS"/>
              </a:rPr>
              <a:t>servers: </a:t>
            </a:r>
            <a:r>
              <a:rPr spc="-145" dirty="0">
                <a:latin typeface="Arial"/>
                <a:cs typeface="Arial"/>
              </a:rPr>
              <a:t>Every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75" dirty="0">
                <a:latin typeface="Arial"/>
                <a:cs typeface="Arial"/>
              </a:rPr>
              <a:t>registered </a:t>
            </a:r>
            <a:r>
              <a:rPr spc="15" dirty="0">
                <a:latin typeface="Arial"/>
                <a:cs typeface="Arial"/>
              </a:rPr>
              <a:t>with </a:t>
            </a:r>
            <a:r>
              <a:rPr spc="-110" dirty="0">
                <a:latin typeface="Arial"/>
                <a:cs typeface="Arial"/>
              </a:rPr>
              <a:t>an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110" dirty="0">
                <a:latin typeface="Arial"/>
                <a:cs typeface="Arial"/>
              </a:rPr>
              <a:t>server.  Typically,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dirty="0">
                <a:latin typeface="Arial"/>
                <a:cs typeface="Arial"/>
              </a:rPr>
              <a:t>for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host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85" dirty="0">
                <a:latin typeface="Arial"/>
                <a:cs typeface="Arial"/>
              </a:rPr>
              <a:t>server </a:t>
            </a:r>
            <a:r>
              <a:rPr spc="-20" dirty="0">
                <a:latin typeface="Arial"/>
                <a:cs typeface="Arial"/>
              </a:rPr>
              <a:t>in the </a:t>
            </a:r>
            <a:r>
              <a:rPr spc="-70" dirty="0">
                <a:latin typeface="Arial"/>
                <a:cs typeface="Arial"/>
              </a:rPr>
              <a:t>host's local </a:t>
            </a:r>
            <a:r>
              <a:rPr spc="-270" dirty="0">
                <a:latin typeface="Arial"/>
                <a:cs typeface="Arial"/>
              </a:rPr>
              <a:t>ISP.  </a:t>
            </a:r>
            <a:r>
              <a:rPr spc="-75" dirty="0">
                <a:latin typeface="Arial"/>
                <a:cs typeface="Arial"/>
              </a:rPr>
              <a:t>Many </a:t>
            </a:r>
            <a:r>
              <a:rPr spc="-105" dirty="0">
                <a:latin typeface="Arial"/>
                <a:cs typeface="Arial"/>
              </a:rPr>
              <a:t>name </a:t>
            </a:r>
            <a:r>
              <a:rPr spc="-110" dirty="0">
                <a:latin typeface="Arial"/>
                <a:cs typeface="Arial"/>
              </a:rPr>
              <a:t>servers </a:t>
            </a:r>
            <a:r>
              <a:rPr spc="-65" dirty="0">
                <a:latin typeface="Arial"/>
                <a:cs typeface="Arial"/>
              </a:rPr>
              <a:t>act </a:t>
            </a:r>
            <a:r>
              <a:rPr spc="-185" dirty="0">
                <a:latin typeface="Arial"/>
                <a:cs typeface="Arial"/>
              </a:rPr>
              <a:t>as </a:t>
            </a:r>
            <a:r>
              <a:rPr spc="-20" dirty="0">
                <a:latin typeface="Arial"/>
                <a:cs typeface="Arial"/>
              </a:rPr>
              <a:t>both </a:t>
            </a:r>
            <a:r>
              <a:rPr spc="-70" dirty="0">
                <a:latin typeface="Arial"/>
                <a:cs typeface="Arial"/>
              </a:rPr>
              <a:t>local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30" dirty="0">
                <a:latin typeface="Arial"/>
                <a:cs typeface="Arial"/>
              </a:rPr>
              <a:t>authoritative </a:t>
            </a:r>
            <a:r>
              <a:rPr spc="-105" dirty="0">
                <a:latin typeface="Arial"/>
                <a:cs typeface="Arial"/>
              </a:rPr>
              <a:t>name</a:t>
            </a:r>
            <a:r>
              <a:rPr spc="-26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servers.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218" y="564076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30" dirty="0"/>
              <a:t>Internet </a:t>
            </a:r>
            <a:r>
              <a:rPr lang="en-US" sz="4000" spc="-295" dirty="0"/>
              <a:t>Domain </a:t>
            </a:r>
            <a:r>
              <a:rPr lang="en-US" sz="4000" spc="-635" dirty="0"/>
              <a:t> </a:t>
            </a:r>
            <a:r>
              <a:rPr lang="en-US" sz="4000" spc="-415" dirty="0"/>
              <a:t>Names	</a:t>
            </a:r>
            <a:endParaRPr lang="en-US"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235527" y="2388417"/>
            <a:ext cx="8908473" cy="2624436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325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200" dirty="0">
                <a:latin typeface="Arial"/>
                <a:cs typeface="Arial"/>
              </a:rPr>
              <a:t>As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100" dirty="0">
                <a:latin typeface="Arial"/>
                <a:cs typeface="Arial"/>
              </a:rPr>
              <a:t>example, </a:t>
            </a:r>
            <a:r>
              <a:rPr sz="2000" spc="-85" dirty="0">
                <a:latin typeface="Arial"/>
                <a:cs typeface="Arial"/>
              </a:rPr>
              <a:t>consider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125" dirty="0">
                <a:latin typeface="Arial"/>
                <a:cs typeface="Arial"/>
              </a:rPr>
              <a:t>namespace </a:t>
            </a:r>
            <a:r>
              <a:rPr sz="2000" spc="15" dirty="0">
                <a:latin typeface="Arial"/>
                <a:cs typeface="Arial"/>
              </a:rPr>
              <a:t>with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form:</a:t>
            </a:r>
            <a:endParaRPr sz="2000" dirty="0">
              <a:latin typeface="Arial"/>
              <a:cs typeface="Arial"/>
            </a:endParaRPr>
          </a:p>
          <a:p>
            <a:pPr marL="4787900" lvl="1" indent="-182880">
              <a:lnSpc>
                <a:spcPct val="100000"/>
              </a:lnSpc>
              <a:spcBef>
                <a:spcPts val="200"/>
              </a:spcBef>
              <a:buClr>
                <a:srgbClr val="9DBEBD"/>
              </a:buClr>
              <a:buFont typeface="Arial"/>
              <a:buChar char="◦"/>
              <a:tabLst>
                <a:tab pos="4788535" algn="l"/>
              </a:tabLst>
            </a:pPr>
            <a:r>
              <a:rPr sz="1800" b="1" i="1" spc="-135" dirty="0">
                <a:latin typeface="Trebuchet MS"/>
                <a:cs typeface="Trebuchet MS"/>
              </a:rPr>
              <a:t>local.</a:t>
            </a:r>
            <a:r>
              <a:rPr sz="1800" b="1" i="1" spc="-170" dirty="0">
                <a:latin typeface="Trebuchet MS"/>
                <a:cs typeface="Trebuchet MS"/>
              </a:rPr>
              <a:t> </a:t>
            </a:r>
            <a:r>
              <a:rPr sz="1800" b="1" i="1" spc="-145" dirty="0">
                <a:latin typeface="Trebuchet MS"/>
                <a:cs typeface="Trebuchet MS"/>
              </a:rPr>
              <a:t>site</a:t>
            </a:r>
            <a:endParaRPr sz="1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9DBEBD"/>
              </a:buClr>
              <a:buFont typeface="Arial"/>
              <a:buChar char="◦"/>
            </a:pPr>
            <a:endParaRPr sz="1400" dirty="0">
              <a:latin typeface="Times New Roman"/>
              <a:cs typeface="Times New Roman"/>
            </a:endParaRPr>
          </a:p>
          <a:p>
            <a:pPr marL="103505" marR="485775">
              <a:lnSpc>
                <a:spcPts val="2160"/>
              </a:lnSpc>
            </a:pPr>
            <a:r>
              <a:rPr sz="2000" spc="-60" dirty="0">
                <a:latin typeface="Arial"/>
                <a:cs typeface="Arial"/>
              </a:rPr>
              <a:t>where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i="1" spc="-155" dirty="0">
                <a:latin typeface="Trebuchet MS"/>
                <a:cs typeface="Trebuchet MS"/>
              </a:rPr>
              <a:t>site</a:t>
            </a:r>
            <a:r>
              <a:rPr sz="2000" b="1" i="1" spc="-1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site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authorized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central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authority</a:t>
            </a:r>
            <a:r>
              <a:rPr sz="2000" b="1" i="1" spc="-40" dirty="0">
                <a:latin typeface="Trebuchet MS"/>
                <a:cs typeface="Trebuchet MS"/>
              </a:rPr>
              <a:t>,</a:t>
            </a:r>
            <a:r>
              <a:rPr sz="2000" b="1" i="1" spc="-155" dirty="0">
                <a:latin typeface="Trebuchet MS"/>
                <a:cs typeface="Trebuchet MS"/>
              </a:rPr>
              <a:t> </a:t>
            </a:r>
            <a:r>
              <a:rPr sz="2000" b="1" i="1" spc="-140" dirty="0">
                <a:latin typeface="Trebuchet MS"/>
                <a:cs typeface="Trebuchet MS"/>
              </a:rPr>
              <a:t>local</a:t>
            </a:r>
            <a:r>
              <a:rPr sz="2000" b="1" i="1" spc="-1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part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name  </a:t>
            </a:r>
            <a:r>
              <a:rPr sz="2000" spc="-45" dirty="0">
                <a:latin typeface="Arial"/>
                <a:cs typeface="Arial"/>
              </a:rPr>
              <a:t>controlled </a:t>
            </a:r>
            <a:r>
              <a:rPr sz="2000" spc="-80" dirty="0">
                <a:latin typeface="Arial"/>
                <a:cs typeface="Arial"/>
              </a:rPr>
              <a:t>by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60" dirty="0">
                <a:latin typeface="Arial"/>
                <a:cs typeface="Arial"/>
              </a:rPr>
              <a:t>site,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30" dirty="0">
                <a:latin typeface="Arial"/>
                <a:cs typeface="Arial"/>
              </a:rPr>
              <a:t>("</a:t>
            </a:r>
            <a:r>
              <a:rPr sz="2000" b="1" spc="-30" dirty="0">
                <a:latin typeface="Trebuchet MS"/>
                <a:cs typeface="Trebuchet MS"/>
              </a:rPr>
              <a:t>.</a:t>
            </a:r>
            <a:r>
              <a:rPr sz="2000" spc="-30" dirty="0">
                <a:latin typeface="Arial"/>
                <a:cs typeface="Arial"/>
              </a:rPr>
              <a:t>") </a:t>
            </a:r>
            <a:r>
              <a:rPr sz="2000" spc="-105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delimiter </a:t>
            </a:r>
            <a:r>
              <a:rPr sz="2000" spc="-120" dirty="0">
                <a:latin typeface="Arial"/>
                <a:cs typeface="Arial"/>
              </a:rPr>
              <a:t>used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3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separate </a:t>
            </a:r>
            <a:r>
              <a:rPr sz="2000" spc="-35" dirty="0">
                <a:latin typeface="Arial"/>
                <a:cs typeface="Arial"/>
              </a:rPr>
              <a:t>them.</a:t>
            </a:r>
            <a:endParaRPr sz="2000" dirty="0">
              <a:latin typeface="Arial"/>
              <a:cs typeface="Arial"/>
            </a:endParaRPr>
          </a:p>
          <a:p>
            <a:pPr marL="104139" marR="5080" indent="-91440">
              <a:lnSpc>
                <a:spcPts val="2160"/>
              </a:lnSpc>
              <a:spcBef>
                <a:spcPts val="1395"/>
              </a:spcBef>
              <a:buClr>
                <a:srgbClr val="9DBEBD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80" dirty="0">
                <a:latin typeface="Arial"/>
                <a:cs typeface="Arial"/>
              </a:rPr>
              <a:t>adding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i="1" spc="-100" dirty="0">
                <a:latin typeface="Trebuchet MS"/>
                <a:cs typeface="Trebuchet MS"/>
              </a:rPr>
              <a:t>group</a:t>
            </a:r>
            <a:r>
              <a:rPr sz="2000" b="1" i="1" spc="-19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Arial"/>
                <a:cs typeface="Arial"/>
              </a:rPr>
              <a:t>subdivision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names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already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partitioned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by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site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produces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following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  </a:t>
            </a:r>
            <a:r>
              <a:rPr sz="2000" spc="-100" dirty="0">
                <a:latin typeface="Arial"/>
                <a:cs typeface="Arial"/>
              </a:rPr>
              <a:t>syntax:</a:t>
            </a:r>
            <a:endParaRPr sz="2000" dirty="0">
              <a:latin typeface="Arial"/>
              <a:cs typeface="Arial"/>
            </a:endParaRPr>
          </a:p>
          <a:p>
            <a:pPr marL="330200" algn="ctr">
              <a:lnSpc>
                <a:spcPct val="100000"/>
              </a:lnSpc>
              <a:spcBef>
                <a:spcPts val="1130"/>
              </a:spcBef>
            </a:pPr>
            <a:r>
              <a:rPr sz="2000" b="1" i="1" spc="-150" dirty="0">
                <a:latin typeface="Trebuchet MS"/>
                <a:cs typeface="Trebuchet MS"/>
              </a:rPr>
              <a:t>local. </a:t>
            </a:r>
            <a:r>
              <a:rPr sz="2000" b="1" i="1" spc="-114" dirty="0">
                <a:latin typeface="Trebuchet MS"/>
                <a:cs typeface="Trebuchet MS"/>
              </a:rPr>
              <a:t>group.</a:t>
            </a:r>
            <a:r>
              <a:rPr sz="2000" b="1" i="1" spc="-220" dirty="0">
                <a:latin typeface="Trebuchet MS"/>
                <a:cs typeface="Trebuchet MS"/>
              </a:rPr>
              <a:t> </a:t>
            </a:r>
            <a:r>
              <a:rPr sz="2000" b="1" i="1" spc="-155" dirty="0">
                <a:latin typeface="Trebuchet MS"/>
                <a:cs typeface="Trebuchet MS"/>
              </a:rPr>
              <a:t>site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4112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25" dirty="0"/>
              <a:t>Internet </a:t>
            </a:r>
            <a:r>
              <a:rPr lang="en-US" sz="4000" spc="-275" dirty="0"/>
              <a:t>Domain</a:t>
            </a:r>
            <a:r>
              <a:rPr lang="en-US" sz="4000" spc="-540" dirty="0"/>
              <a:t> </a:t>
            </a:r>
            <a:r>
              <a:rPr lang="en-US" sz="4000" spc="-380" dirty="0"/>
              <a:t>Names  (</a:t>
            </a:r>
            <a:r>
              <a:rPr lang="en-US" sz="4000" spc="-380" dirty="0" err="1"/>
              <a:t>cont</a:t>
            </a:r>
            <a:r>
              <a:rPr lang="en-US" sz="4000" spc="-380" dirty="0"/>
              <a:t> .)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207818" y="1977138"/>
            <a:ext cx="8612625" cy="4171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70300">
              <a:lnSpc>
                <a:spcPct val="100000"/>
              </a:lnSpc>
              <a:spcBef>
                <a:spcPts val="1265"/>
              </a:spcBef>
            </a:pPr>
            <a:r>
              <a:rPr lang="en-US" sz="2400" spc="-120" dirty="0">
                <a:latin typeface="Arial"/>
                <a:cs typeface="Arial"/>
              </a:rPr>
              <a:t>Example: </a:t>
            </a:r>
            <a:r>
              <a:rPr lang="en-US" sz="2400" spc="-145" dirty="0" err="1"/>
              <a:t>cs</a:t>
            </a:r>
            <a:r>
              <a:rPr lang="en-US" sz="2400" spc="-145" dirty="0"/>
              <a:t> </a:t>
            </a:r>
            <a:r>
              <a:rPr lang="en-US" sz="2400" spc="-130" dirty="0"/>
              <a:t>.</a:t>
            </a:r>
            <a:r>
              <a:rPr lang="en-US" sz="2400" spc="-130" dirty="0" err="1"/>
              <a:t>purdue</a:t>
            </a:r>
            <a:r>
              <a:rPr lang="en-US" sz="2400" spc="-130" dirty="0"/>
              <a:t> </a:t>
            </a:r>
            <a:r>
              <a:rPr lang="en-US" sz="2400" spc="-200" dirty="0"/>
              <a:t>.</a:t>
            </a:r>
            <a:r>
              <a:rPr lang="en-US" sz="2400" spc="-225" dirty="0"/>
              <a:t> </a:t>
            </a:r>
            <a:r>
              <a:rPr lang="en-US" sz="2400" spc="-110" dirty="0" err="1"/>
              <a:t>edu</a:t>
            </a:r>
            <a:endParaRPr lang="en-US" sz="2400" spc="-110" dirty="0"/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80" dirty="0">
                <a:latin typeface="Arial"/>
                <a:cs typeface="Arial"/>
              </a:rPr>
              <a:t>contains </a:t>
            </a:r>
            <a:r>
              <a:rPr lang="en-US" sz="2400" spc="-35" dirty="0">
                <a:latin typeface="Arial"/>
                <a:cs typeface="Arial"/>
              </a:rPr>
              <a:t>three </a:t>
            </a:r>
            <a:r>
              <a:rPr lang="en-US" sz="2400" spc="-80" dirty="0">
                <a:latin typeface="Arial"/>
                <a:cs typeface="Arial"/>
              </a:rPr>
              <a:t>labels: </a:t>
            </a:r>
            <a:r>
              <a:rPr lang="en-US" sz="2400" spc="-170" dirty="0"/>
              <a:t>cs, </a:t>
            </a:r>
            <a:r>
              <a:rPr lang="en-US" sz="2400" spc="-140" dirty="0" err="1"/>
              <a:t>purdue</a:t>
            </a:r>
            <a:r>
              <a:rPr lang="en-US" sz="2400" spc="-140" dirty="0"/>
              <a:t>,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135" dirty="0" err="1"/>
              <a:t>edu</a:t>
            </a:r>
            <a:r>
              <a:rPr lang="en-US" sz="2400" spc="-135" dirty="0"/>
              <a:t>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130" dirty="0">
                <a:latin typeface="Arial"/>
                <a:cs typeface="Arial"/>
              </a:rPr>
              <a:t>Any </a:t>
            </a:r>
            <a:r>
              <a:rPr lang="en-US" sz="2400" spc="-55" dirty="0">
                <a:latin typeface="Arial"/>
                <a:cs typeface="Arial"/>
              </a:rPr>
              <a:t>suffix </a:t>
            </a:r>
            <a:r>
              <a:rPr lang="en-US" sz="2400" spc="-5" dirty="0">
                <a:latin typeface="Arial"/>
                <a:cs typeface="Arial"/>
              </a:rPr>
              <a:t>of </a:t>
            </a:r>
            <a:r>
              <a:rPr lang="en-US" sz="2400" spc="-155" dirty="0">
                <a:latin typeface="Arial"/>
                <a:cs typeface="Arial"/>
              </a:rPr>
              <a:t>a </a:t>
            </a:r>
            <a:r>
              <a:rPr lang="en-US" sz="2400" spc="-65" dirty="0">
                <a:latin typeface="Arial"/>
                <a:cs typeface="Arial"/>
              </a:rPr>
              <a:t>label </a:t>
            </a:r>
            <a:r>
              <a:rPr lang="en-US" sz="2400" spc="-25" dirty="0">
                <a:latin typeface="Arial"/>
                <a:cs typeface="Arial"/>
              </a:rPr>
              <a:t>in </a:t>
            </a:r>
            <a:r>
              <a:rPr lang="en-US" sz="2400" spc="-155" dirty="0">
                <a:latin typeface="Arial"/>
                <a:cs typeface="Arial"/>
              </a:rPr>
              <a:t>a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is also </a:t>
            </a:r>
            <a:r>
              <a:rPr lang="en-US" sz="2400" spc="-80" dirty="0">
                <a:latin typeface="Arial"/>
                <a:cs typeface="Arial"/>
              </a:rPr>
              <a:t>called </a:t>
            </a:r>
            <a:r>
              <a:rPr lang="en-US" sz="2400" spc="-155" dirty="0">
                <a:latin typeface="Arial"/>
                <a:cs typeface="Arial"/>
              </a:rPr>
              <a:t>a  </a:t>
            </a:r>
            <a:r>
              <a:rPr lang="en-US" sz="2400" spc="-125" dirty="0"/>
              <a:t>domain.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60" dirty="0">
                <a:latin typeface="Arial"/>
                <a:cs typeface="Arial"/>
              </a:rPr>
              <a:t>In </a:t>
            </a:r>
            <a:r>
              <a:rPr lang="en-US" sz="2400" spc="-30" dirty="0">
                <a:latin typeface="Arial"/>
                <a:cs typeface="Arial"/>
              </a:rPr>
              <a:t>the </a:t>
            </a:r>
            <a:r>
              <a:rPr lang="en-US" sz="2400" spc="-105" dirty="0">
                <a:latin typeface="Arial"/>
                <a:cs typeface="Arial"/>
              </a:rPr>
              <a:t>above example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60" dirty="0">
                <a:latin typeface="Arial"/>
                <a:cs typeface="Arial"/>
              </a:rPr>
              <a:t>lowest </a:t>
            </a:r>
            <a:r>
              <a:rPr lang="en-US" sz="2400" spc="-65" dirty="0">
                <a:latin typeface="Arial"/>
                <a:cs typeface="Arial"/>
              </a:rPr>
              <a:t>level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0" dirty="0">
                <a:latin typeface="Arial"/>
                <a:cs typeface="Arial"/>
              </a:rPr>
              <a:t>is </a:t>
            </a:r>
            <a:r>
              <a:rPr lang="en-US" sz="2400" spc="-145" dirty="0"/>
              <a:t>cs .</a:t>
            </a:r>
            <a:r>
              <a:rPr lang="en-US" sz="2400" spc="-145" dirty="0" err="1"/>
              <a:t>purdue</a:t>
            </a:r>
            <a:r>
              <a:rPr lang="en-US" sz="2400" spc="-145" dirty="0"/>
              <a:t>. </a:t>
            </a:r>
            <a:r>
              <a:rPr lang="en-US" sz="2400" spc="-140" dirty="0" err="1"/>
              <a:t>edu</a:t>
            </a:r>
            <a:r>
              <a:rPr lang="en-US" sz="2400" spc="-140" dirty="0"/>
              <a:t>, </a:t>
            </a:r>
            <a:r>
              <a:rPr lang="en-US" sz="2400" spc="-30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10" dirty="0">
                <a:latin typeface="Arial"/>
                <a:cs typeface="Arial"/>
              </a:rPr>
              <a:t>for 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85" dirty="0">
                <a:latin typeface="Arial"/>
                <a:cs typeface="Arial"/>
              </a:rPr>
              <a:t>Computer </a:t>
            </a:r>
            <a:r>
              <a:rPr lang="en-US" sz="2400" spc="-145" dirty="0">
                <a:latin typeface="Arial"/>
                <a:cs typeface="Arial"/>
              </a:rPr>
              <a:t>Science </a:t>
            </a:r>
            <a:r>
              <a:rPr lang="en-US" sz="2400" spc="-60" dirty="0">
                <a:latin typeface="Arial"/>
                <a:cs typeface="Arial"/>
              </a:rPr>
              <a:t>Department </a:t>
            </a:r>
            <a:r>
              <a:rPr lang="en-US" sz="2400" spc="-35" dirty="0">
                <a:latin typeface="Arial"/>
                <a:cs typeface="Arial"/>
              </a:rPr>
              <a:t>at </a:t>
            </a:r>
            <a:r>
              <a:rPr lang="en-US" sz="2400" spc="-100" dirty="0">
                <a:latin typeface="Arial"/>
                <a:cs typeface="Arial"/>
              </a:rPr>
              <a:t>Purdue </a:t>
            </a:r>
            <a:r>
              <a:rPr lang="en-US" sz="2400" spc="-65" dirty="0">
                <a:latin typeface="Arial"/>
                <a:cs typeface="Arial"/>
              </a:rPr>
              <a:t>University),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20" dirty="0">
                <a:latin typeface="Arial"/>
                <a:cs typeface="Arial"/>
              </a:rPr>
              <a:t>second </a:t>
            </a:r>
            <a:r>
              <a:rPr lang="en-US" sz="2400" spc="-70" dirty="0">
                <a:latin typeface="Arial"/>
                <a:cs typeface="Arial"/>
              </a:rPr>
              <a:t>level domain </a:t>
            </a:r>
            <a:r>
              <a:rPr lang="en-US" sz="2400" spc="-105" dirty="0">
                <a:latin typeface="Arial"/>
                <a:cs typeface="Arial"/>
              </a:rPr>
              <a:t>is </a:t>
            </a:r>
            <a:r>
              <a:rPr lang="en-US" sz="2400" spc="-135" dirty="0" err="1"/>
              <a:t>purdue</a:t>
            </a:r>
            <a:r>
              <a:rPr lang="en-US" sz="2400" spc="-135" dirty="0"/>
              <a:t>.  </a:t>
            </a:r>
            <a:r>
              <a:rPr lang="en-US" sz="2400" i="1" spc="-110" dirty="0" err="1"/>
              <a:t>edu</a:t>
            </a:r>
            <a:r>
              <a:rPr lang="en-US" sz="2400" i="1" spc="-110" dirty="0"/>
              <a:t> </a:t>
            </a:r>
            <a:r>
              <a:rPr lang="en-US" sz="2400" spc="-35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10" dirty="0">
                <a:latin typeface="Arial"/>
                <a:cs typeface="Arial"/>
              </a:rPr>
              <a:t>for </a:t>
            </a:r>
            <a:r>
              <a:rPr lang="en-US" sz="2400" spc="-100" dirty="0">
                <a:latin typeface="Arial"/>
                <a:cs typeface="Arial"/>
              </a:rPr>
              <a:t>Purdue </a:t>
            </a:r>
            <a:r>
              <a:rPr lang="en-US" sz="2400" spc="-65" dirty="0">
                <a:latin typeface="Arial"/>
                <a:cs typeface="Arial"/>
              </a:rPr>
              <a:t>University),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50" dirty="0">
                <a:latin typeface="Arial"/>
                <a:cs typeface="Arial"/>
              </a:rPr>
              <a:t>top-level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05" dirty="0">
                <a:latin typeface="Arial"/>
                <a:cs typeface="Arial"/>
              </a:rPr>
              <a:t>is </a:t>
            </a:r>
            <a:r>
              <a:rPr lang="en-US" sz="2400" spc="-110" dirty="0" err="1"/>
              <a:t>edu</a:t>
            </a:r>
            <a:r>
              <a:rPr lang="en-US" sz="2400" spc="-110" dirty="0"/>
              <a:t> </a:t>
            </a:r>
            <a:r>
              <a:rPr lang="en-US" sz="2400" spc="-35" dirty="0">
                <a:latin typeface="Arial"/>
                <a:cs typeface="Arial"/>
              </a:rPr>
              <a:t>(the </a:t>
            </a:r>
            <a:r>
              <a:rPr lang="en-US" sz="2400" spc="-70" dirty="0">
                <a:latin typeface="Arial"/>
                <a:cs typeface="Arial"/>
              </a:rPr>
              <a:t>domain  </a:t>
            </a:r>
            <a:r>
              <a:rPr lang="en-US" sz="2400" spc="-105" dirty="0">
                <a:latin typeface="Arial"/>
                <a:cs typeface="Arial"/>
              </a:rPr>
              <a:t>name </a:t>
            </a:r>
            <a:r>
              <a:rPr lang="en-US" sz="2400" spc="-5" dirty="0">
                <a:latin typeface="Arial"/>
                <a:cs typeface="Arial"/>
              </a:rPr>
              <a:t>for </a:t>
            </a:r>
            <a:r>
              <a:rPr lang="en-US" sz="2400" spc="-70" dirty="0">
                <a:latin typeface="Arial"/>
                <a:cs typeface="Arial"/>
              </a:rPr>
              <a:t>educational </a:t>
            </a:r>
            <a:r>
              <a:rPr lang="en-US" sz="2400" spc="-30" dirty="0">
                <a:latin typeface="Arial"/>
                <a:cs typeface="Arial"/>
              </a:rPr>
              <a:t>institutions). </a:t>
            </a: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lang="en-US" sz="2400" spc="-195" dirty="0">
                <a:latin typeface="Arial"/>
                <a:cs typeface="Arial"/>
              </a:rPr>
              <a:t>As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05" dirty="0">
                <a:latin typeface="Arial"/>
                <a:cs typeface="Arial"/>
              </a:rPr>
              <a:t>example </a:t>
            </a:r>
            <a:r>
              <a:rPr lang="en-US" sz="2400" spc="-114" dirty="0">
                <a:latin typeface="Arial"/>
                <a:cs typeface="Arial"/>
              </a:rPr>
              <a:t>shows, </a:t>
            </a:r>
            <a:r>
              <a:rPr lang="en-US" sz="2400" spc="-70" dirty="0">
                <a:latin typeface="Arial"/>
                <a:cs typeface="Arial"/>
              </a:rPr>
              <a:t>domain </a:t>
            </a:r>
            <a:r>
              <a:rPr lang="en-US" sz="2400" spc="-130" dirty="0">
                <a:latin typeface="Arial"/>
                <a:cs typeface="Arial"/>
              </a:rPr>
              <a:t>names </a:t>
            </a:r>
            <a:r>
              <a:rPr lang="en-US" sz="2400" spc="-90" dirty="0">
                <a:latin typeface="Arial"/>
                <a:cs typeface="Arial"/>
              </a:rPr>
              <a:t>are </a:t>
            </a:r>
            <a:r>
              <a:rPr lang="en-US" sz="2400" spc="5" dirty="0">
                <a:latin typeface="Arial"/>
                <a:cs typeface="Arial"/>
              </a:rPr>
              <a:t>written </a:t>
            </a:r>
            <a:r>
              <a:rPr lang="en-US" sz="2400" spc="10" dirty="0">
                <a:latin typeface="Arial"/>
                <a:cs typeface="Arial"/>
              </a:rPr>
              <a:t>with </a:t>
            </a:r>
            <a:r>
              <a:rPr lang="en-US" sz="2400" spc="-20" dirty="0">
                <a:latin typeface="Arial"/>
                <a:cs typeface="Arial"/>
              </a:rPr>
              <a:t>the  </a:t>
            </a:r>
            <a:r>
              <a:rPr lang="en-US" sz="2400" spc="-70" dirty="0">
                <a:latin typeface="Arial"/>
                <a:cs typeface="Arial"/>
              </a:rPr>
              <a:t>local </a:t>
            </a:r>
            <a:r>
              <a:rPr lang="en-US" sz="2400" spc="-60" dirty="0">
                <a:latin typeface="Arial"/>
                <a:cs typeface="Arial"/>
              </a:rPr>
              <a:t>label </a:t>
            </a:r>
            <a:r>
              <a:rPr lang="en-US" sz="2400" spc="-20" dirty="0">
                <a:latin typeface="Arial"/>
                <a:cs typeface="Arial"/>
              </a:rPr>
              <a:t>first </a:t>
            </a:r>
            <a:r>
              <a:rPr lang="en-US" sz="2400" spc="-95" dirty="0">
                <a:latin typeface="Arial"/>
                <a:cs typeface="Arial"/>
              </a:rPr>
              <a:t>and </a:t>
            </a:r>
            <a:r>
              <a:rPr lang="en-US" sz="2400" spc="-20" dirty="0">
                <a:latin typeface="Arial"/>
                <a:cs typeface="Arial"/>
              </a:rPr>
              <a:t>the </a:t>
            </a:r>
            <a:r>
              <a:rPr lang="en-US" sz="2400" spc="-10" dirty="0">
                <a:latin typeface="Arial"/>
                <a:cs typeface="Arial"/>
              </a:rPr>
              <a:t>top</a:t>
            </a:r>
            <a:r>
              <a:rPr lang="en-US" sz="2400" spc="-400" dirty="0">
                <a:latin typeface="Arial"/>
                <a:cs typeface="Arial"/>
              </a:rPr>
              <a:t> </a:t>
            </a:r>
            <a:r>
              <a:rPr lang="en-US" sz="2400" spc="-70" dirty="0">
                <a:latin typeface="Arial"/>
                <a:cs typeface="Arial"/>
              </a:rPr>
              <a:t>domain last.</a:t>
            </a:r>
          </a:p>
        </p:txBody>
      </p:sp>
    </p:spTree>
    <p:extLst>
      <p:ext uri="{BB962C8B-B14F-4D97-AF65-F5344CB8AC3E}">
        <p14:creationId xmlns:p14="http://schemas.microsoft.com/office/powerpoint/2010/main" val="1506980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25" dirty="0"/>
              <a:t>Internet </a:t>
            </a:r>
            <a:r>
              <a:rPr lang="en-US" sz="4000" spc="-275" dirty="0"/>
              <a:t>Domain</a:t>
            </a:r>
            <a:r>
              <a:rPr lang="en-US" sz="4000" spc="-540" dirty="0"/>
              <a:t> </a:t>
            </a:r>
            <a:r>
              <a:rPr lang="en-US" sz="4000" spc="-380" dirty="0"/>
              <a:t>Names  (</a:t>
            </a:r>
            <a:r>
              <a:rPr lang="en-US" sz="4000" spc="-380" dirty="0" err="1"/>
              <a:t>cont</a:t>
            </a:r>
            <a:r>
              <a:rPr lang="en-US" sz="4000" spc="-380" dirty="0"/>
              <a:t> .)</a:t>
            </a:r>
            <a:endParaRPr lang="en-US" sz="4000" dirty="0"/>
          </a:p>
        </p:txBody>
      </p:sp>
      <p:sp>
        <p:nvSpPr>
          <p:cNvPr id="6" name="object 7"/>
          <p:cNvSpPr/>
          <p:nvPr/>
        </p:nvSpPr>
        <p:spPr>
          <a:xfrm>
            <a:off x="1275172" y="2189940"/>
            <a:ext cx="6741622" cy="37205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03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 fontScale="90000"/>
          </a:bodyPr>
          <a:lstStyle/>
          <a:p>
            <a:pPr marL="12700">
              <a:lnSpc>
                <a:spcPts val="4775"/>
              </a:lnSpc>
              <a:spcBef>
                <a:spcPts val="95"/>
              </a:spcBef>
            </a:pPr>
            <a:r>
              <a:rPr lang="en-US" sz="4000" spc="-505" dirty="0"/>
              <a:t>DNS: </a:t>
            </a:r>
            <a:r>
              <a:rPr lang="en-US" sz="4000" spc="-275" dirty="0"/>
              <a:t>How </a:t>
            </a:r>
            <a:r>
              <a:rPr lang="en-US" sz="4000" spc="75" dirty="0"/>
              <a:t>it</a:t>
            </a:r>
            <a:r>
              <a:rPr lang="en-US" sz="4000" spc="-195" dirty="0"/>
              <a:t> </a:t>
            </a:r>
            <a:r>
              <a:rPr lang="en-US" sz="4000" spc="-280" dirty="0"/>
              <a:t>works?</a:t>
            </a:r>
            <a:br>
              <a:rPr lang="en-US" sz="4000" dirty="0"/>
            </a:br>
            <a:r>
              <a:rPr lang="en-US" sz="4000" spc="-330" dirty="0"/>
              <a:t>Example: </a:t>
            </a:r>
            <a:r>
              <a:rPr lang="en-US" sz="4000" spc="-315" dirty="0"/>
              <a:t>Hannah  </a:t>
            </a:r>
            <a:r>
              <a:rPr lang="en-US" sz="4000" spc="-165" dirty="0"/>
              <a:t>want </a:t>
            </a:r>
            <a:r>
              <a:rPr lang="en-US" sz="4000" spc="-10" dirty="0"/>
              <a:t>to </a:t>
            </a:r>
            <a:r>
              <a:rPr lang="en-US" sz="4000" spc="-215" dirty="0"/>
              <a:t>connect  </a:t>
            </a:r>
            <a:r>
              <a:rPr lang="en-US" sz="4000" spc="-885" dirty="0"/>
              <a:t> </a:t>
            </a:r>
            <a:r>
              <a:rPr lang="en-US" sz="4000" spc="-120" dirty="0"/>
              <a:t>at  </a:t>
            </a:r>
            <a:r>
              <a:rPr lang="en-US" sz="4000" spc="-250" dirty="0">
                <a:hlinkClick r:id="rId3"/>
              </a:rPr>
              <a:t>www.fredsco.com</a:t>
            </a:r>
            <a:endParaRPr lang="en-US" sz="4000" dirty="0"/>
          </a:p>
        </p:txBody>
      </p:sp>
      <p:sp>
        <p:nvSpPr>
          <p:cNvPr id="6" name="object 6"/>
          <p:cNvSpPr txBox="1"/>
          <p:nvPr/>
        </p:nvSpPr>
        <p:spPr>
          <a:xfrm>
            <a:off x="207818" y="2247611"/>
            <a:ext cx="8672946" cy="375679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11430" indent="-227965" algn="just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114" dirty="0">
                <a:latin typeface="Arial"/>
                <a:cs typeface="Arial"/>
              </a:rPr>
              <a:t>Hannah </a:t>
            </a:r>
            <a:r>
              <a:rPr sz="2000" spc="-110" dirty="0">
                <a:latin typeface="Arial"/>
                <a:cs typeface="Arial"/>
              </a:rPr>
              <a:t>opens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browser, </a:t>
            </a:r>
            <a:r>
              <a:rPr sz="2000" spc="-85" dirty="0">
                <a:latin typeface="Arial"/>
                <a:cs typeface="Arial"/>
              </a:rPr>
              <a:t>types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80" dirty="0">
                <a:latin typeface="Arial"/>
                <a:cs typeface="Arial"/>
                <a:hlinkClick r:id="rId3"/>
              </a:rPr>
              <a:t>www.</a:t>
            </a:r>
            <a:r>
              <a:rPr lang="en-US" sz="2000" spc="-80" dirty="0">
                <a:latin typeface="Arial"/>
                <a:cs typeface="Arial"/>
                <a:hlinkClick r:id="rId3"/>
              </a:rPr>
              <a:t>aiub.</a:t>
            </a:r>
            <a:r>
              <a:rPr sz="2000" spc="-80" dirty="0">
                <a:latin typeface="Arial"/>
                <a:cs typeface="Arial"/>
                <a:hlinkClick r:id="rId3"/>
              </a:rPr>
              <a:t>com, </a:t>
            </a:r>
            <a:r>
              <a:rPr sz="2000" spc="-100" dirty="0">
                <a:latin typeface="Arial"/>
                <a:cs typeface="Arial"/>
              </a:rPr>
              <a:t>and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5" dirty="0">
                <a:latin typeface="Arial"/>
                <a:cs typeface="Arial"/>
              </a:rPr>
              <a:t>resolution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5" dirty="0">
                <a:latin typeface="Arial"/>
                <a:cs typeface="Arial"/>
              </a:rPr>
              <a:t>to  </a:t>
            </a:r>
            <a:r>
              <a:rPr sz="2000" spc="-55" dirty="0">
                <a:latin typeface="Arial"/>
                <a:cs typeface="Arial"/>
              </a:rPr>
              <a:t>her </a:t>
            </a:r>
            <a:r>
              <a:rPr sz="2000" spc="-265" dirty="0">
                <a:latin typeface="Arial"/>
                <a:cs typeface="Arial"/>
              </a:rPr>
              <a:t>DNS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(example.com).</a:t>
            </a:r>
            <a:endParaRPr sz="2000" dirty="0">
              <a:latin typeface="Arial"/>
              <a:cs typeface="Arial"/>
            </a:endParaRPr>
          </a:p>
          <a:p>
            <a:pPr marL="240665" marR="5080" indent="-227965" algn="just">
              <a:lnSpc>
                <a:spcPts val="2160"/>
              </a:lnSpc>
              <a:spcBef>
                <a:spcPts val="1405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95" dirty="0">
                <a:latin typeface="Arial"/>
                <a:cs typeface="Arial"/>
              </a:rPr>
              <a:t>example.com's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55" dirty="0">
                <a:latin typeface="Arial"/>
                <a:cs typeface="Arial"/>
              </a:rPr>
              <a:t>doesn't </a:t>
            </a:r>
            <a:r>
              <a:rPr sz="2000" spc="-65" dirty="0">
                <a:latin typeface="Arial"/>
                <a:cs typeface="Arial"/>
              </a:rPr>
              <a:t>know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35" dirty="0">
                <a:latin typeface="Arial"/>
                <a:cs typeface="Arial"/>
                <a:hlinkClick r:id="rId3"/>
              </a:rPr>
              <a:t>http://www.</a:t>
            </a:r>
            <a:r>
              <a:rPr lang="en-US" sz="2000" spc="-35" dirty="0">
                <a:latin typeface="Arial"/>
                <a:cs typeface="Arial"/>
                <a:hlinkClick r:id="rId3"/>
              </a:rPr>
              <a:t>aiub</a:t>
            </a:r>
            <a:r>
              <a:rPr sz="2000" spc="-35" dirty="0">
                <a:latin typeface="Arial"/>
                <a:cs typeface="Arial"/>
                <a:hlinkClick r:id="rId3"/>
              </a:rPr>
              <a:t>.com. </a:t>
            </a:r>
            <a:r>
              <a:rPr sz="2000" spc="-114" dirty="0">
                <a:latin typeface="Arial"/>
                <a:cs typeface="Arial"/>
              </a:rPr>
              <a:t>However,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60" dirty="0">
                <a:latin typeface="Arial"/>
                <a:cs typeface="Arial"/>
              </a:rPr>
              <a:t>now 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120" dirty="0">
                <a:latin typeface="Arial"/>
                <a:cs typeface="Arial"/>
              </a:rPr>
              <a:t>some </a:t>
            </a:r>
            <a:r>
              <a:rPr sz="2000" spc="-50" dirty="0">
                <a:latin typeface="Arial"/>
                <a:cs typeface="Arial"/>
              </a:rPr>
              <a:t>configuration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45" dirty="0">
                <a:latin typeface="Arial"/>
                <a:cs typeface="Arial"/>
              </a:rPr>
              <a:t>tells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30" dirty="0">
                <a:latin typeface="Arial"/>
                <a:cs typeface="Arial"/>
              </a:rPr>
              <a:t>if </a:t>
            </a:r>
            <a:r>
              <a:rPr sz="2000" spc="65" dirty="0">
                <a:latin typeface="Arial"/>
                <a:cs typeface="Arial"/>
              </a:rPr>
              <a:t>it </a:t>
            </a:r>
            <a:r>
              <a:rPr sz="2000" spc="-55" dirty="0">
                <a:latin typeface="Arial"/>
                <a:cs typeface="Arial"/>
              </a:rPr>
              <a:t>doesn't </a:t>
            </a:r>
            <a:r>
              <a:rPr sz="2000" spc="-65" dirty="0">
                <a:latin typeface="Arial"/>
                <a:cs typeface="Arial"/>
              </a:rPr>
              <a:t>know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name,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80" dirty="0">
                <a:latin typeface="Arial"/>
                <a:cs typeface="Arial"/>
              </a:rPr>
              <a:t>should </a:t>
            </a:r>
            <a:r>
              <a:rPr sz="2000" spc="-155" dirty="0">
                <a:latin typeface="Arial"/>
                <a:cs typeface="Arial"/>
              </a:rPr>
              <a:t>ask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20" dirty="0">
                <a:latin typeface="Arial"/>
                <a:cs typeface="Arial"/>
              </a:rPr>
              <a:t>address </a:t>
            </a:r>
            <a:r>
              <a:rPr sz="2000" spc="-80" dirty="0">
                <a:latin typeface="Arial"/>
                <a:cs typeface="Arial"/>
              </a:rPr>
              <a:t>1.1.1.1 </a:t>
            </a:r>
            <a:r>
              <a:rPr sz="2000" spc="-95" dirty="0">
                <a:latin typeface="Arial"/>
                <a:cs typeface="Arial"/>
              </a:rPr>
              <a:t>(Root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server).</a:t>
            </a:r>
            <a:endParaRPr sz="2000" dirty="0">
              <a:latin typeface="Arial"/>
              <a:cs typeface="Arial"/>
            </a:endParaRPr>
          </a:p>
          <a:p>
            <a:pPr marL="240665" marR="7620" indent="-227965" algn="just">
              <a:lnSpc>
                <a:spcPct val="90000"/>
              </a:lnSpc>
              <a:spcBef>
                <a:spcPts val="1360"/>
              </a:spcBef>
              <a:buClr>
                <a:srgbClr val="9DBEBD"/>
              </a:buClr>
              <a:buAutoNum type="arabicPeriod"/>
              <a:tabLst>
                <a:tab pos="24130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85" dirty="0">
                <a:latin typeface="Arial"/>
                <a:cs typeface="Arial"/>
              </a:rPr>
              <a:t>1.1.1.1 </a:t>
            </a:r>
            <a:r>
              <a:rPr sz="2000" spc="-150" dirty="0">
                <a:latin typeface="Arial"/>
                <a:cs typeface="Arial"/>
              </a:rPr>
              <a:t>has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45" dirty="0">
                <a:latin typeface="Arial"/>
                <a:cs typeface="Arial"/>
              </a:rPr>
              <a:t>table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65" dirty="0">
                <a:latin typeface="Arial"/>
                <a:cs typeface="Arial"/>
              </a:rPr>
              <a:t>lists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30" dirty="0">
                <a:latin typeface="Arial"/>
                <a:cs typeface="Arial"/>
              </a:rPr>
              <a:t>addresses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bunch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100" dirty="0">
                <a:latin typeface="Arial"/>
                <a:cs typeface="Arial"/>
              </a:rPr>
              <a:t>servers.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1.1.1.1 </a:t>
            </a:r>
            <a:r>
              <a:rPr sz="2000" spc="-95" dirty="0">
                <a:latin typeface="Arial"/>
                <a:cs typeface="Arial"/>
              </a:rPr>
              <a:t>knows </a:t>
            </a:r>
            <a:r>
              <a:rPr sz="2000" spc="-10" dirty="0">
                <a:latin typeface="Arial"/>
                <a:cs typeface="Arial"/>
              </a:rPr>
              <a:t>that for </a:t>
            </a:r>
            <a:r>
              <a:rPr sz="2000" spc="-45" dirty="0">
                <a:latin typeface="Arial"/>
                <a:cs typeface="Arial"/>
              </a:rPr>
              <a:t>all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</a:rPr>
              <a:t>end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80" dirty="0">
                <a:latin typeface="Arial"/>
                <a:cs typeface="Arial"/>
              </a:rPr>
              <a:t>“example.com,“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90" dirty="0">
                <a:latin typeface="Arial"/>
                <a:cs typeface="Arial"/>
              </a:rPr>
              <a:t>150.1.3.4 </a:t>
            </a:r>
            <a:r>
              <a:rPr sz="2000" spc="-130" dirty="0">
                <a:latin typeface="Arial"/>
                <a:cs typeface="Arial"/>
              </a:rPr>
              <a:t>can  </a:t>
            </a:r>
            <a:r>
              <a:rPr sz="2000" spc="-90" dirty="0">
                <a:latin typeface="Arial"/>
                <a:cs typeface="Arial"/>
              </a:rPr>
              <a:t>resolve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names. </a:t>
            </a:r>
            <a:r>
              <a:rPr sz="2000" spc="25" dirty="0">
                <a:latin typeface="Arial"/>
                <a:cs typeface="Arial"/>
              </a:rPr>
              <a:t>It </a:t>
            </a:r>
            <a:r>
              <a:rPr sz="2000" spc="-105" dirty="0">
                <a:latin typeface="Arial"/>
                <a:cs typeface="Arial"/>
              </a:rPr>
              <a:t>also </a:t>
            </a:r>
            <a:r>
              <a:rPr sz="2000" spc="-100" dirty="0">
                <a:latin typeface="Arial"/>
                <a:cs typeface="Arial"/>
              </a:rPr>
              <a:t>knows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50" dirty="0">
                <a:latin typeface="Arial"/>
                <a:cs typeface="Arial"/>
              </a:rPr>
              <a:t>all </a:t>
            </a:r>
            <a:r>
              <a:rPr sz="2000" spc="-130" dirty="0">
                <a:latin typeface="Arial"/>
                <a:cs typeface="Arial"/>
              </a:rPr>
              <a:t>names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</a:rPr>
              <a:t>end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60" dirty="0">
                <a:latin typeface="Arial"/>
                <a:cs typeface="Arial"/>
              </a:rPr>
              <a:t>"fredsco.com,"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90" dirty="0">
                <a:latin typeface="Arial"/>
                <a:cs typeface="Arial"/>
              </a:rPr>
              <a:t>199.1.1.3 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resolve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names. </a:t>
            </a:r>
            <a:r>
              <a:rPr sz="2000" spc="-100" dirty="0">
                <a:latin typeface="Arial"/>
                <a:cs typeface="Arial"/>
              </a:rPr>
              <a:t>Finally,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1.1.1.1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40" dirty="0">
                <a:latin typeface="Arial"/>
                <a:cs typeface="Arial"/>
              </a:rPr>
              <a:t>direct </a:t>
            </a:r>
            <a:r>
              <a:rPr sz="2000" spc="-120" dirty="0">
                <a:latin typeface="Arial"/>
                <a:cs typeface="Arial"/>
              </a:rPr>
              <a:t>each </a:t>
            </a:r>
            <a:r>
              <a:rPr sz="2000" spc="-75" dirty="0">
                <a:latin typeface="Arial"/>
                <a:cs typeface="Arial"/>
              </a:rPr>
              <a:t>request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5" dirty="0">
                <a:latin typeface="Arial"/>
                <a:cs typeface="Arial"/>
              </a:rPr>
              <a:t>right </a:t>
            </a:r>
            <a:r>
              <a:rPr sz="2000" spc="-105" dirty="0">
                <a:latin typeface="Arial"/>
                <a:cs typeface="Arial"/>
              </a:rPr>
              <a:t>name  </a:t>
            </a:r>
            <a:r>
              <a:rPr sz="2000" spc="-110" dirty="0">
                <a:latin typeface="Arial"/>
                <a:cs typeface="Arial"/>
              </a:rPr>
              <a:t>server. </a:t>
            </a:r>
            <a:r>
              <a:rPr sz="2000" spc="-130" dirty="0">
                <a:latin typeface="Arial"/>
                <a:cs typeface="Arial"/>
              </a:rPr>
              <a:t>This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message </a:t>
            </a:r>
            <a:r>
              <a:rPr sz="2000" spc="-114" dirty="0">
                <a:latin typeface="Arial"/>
                <a:cs typeface="Arial"/>
              </a:rPr>
              <a:t>back </a:t>
            </a:r>
            <a:r>
              <a:rPr sz="2000" spc="10" dirty="0">
                <a:latin typeface="Arial"/>
                <a:cs typeface="Arial"/>
              </a:rPr>
              <a:t>to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15" dirty="0">
                <a:latin typeface="Arial"/>
                <a:cs typeface="Arial"/>
              </a:rPr>
              <a:t>DNS, </a:t>
            </a:r>
            <a:r>
              <a:rPr sz="2000" spc="-45" dirty="0">
                <a:latin typeface="Arial"/>
                <a:cs typeface="Arial"/>
              </a:rPr>
              <a:t>referring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45" dirty="0">
                <a:latin typeface="Arial"/>
                <a:cs typeface="Arial"/>
              </a:rPr>
              <a:t>at  </a:t>
            </a:r>
            <a:r>
              <a:rPr sz="2000" spc="-85" dirty="0">
                <a:latin typeface="Arial"/>
                <a:cs typeface="Arial"/>
              </a:rPr>
              <a:t>199.1.1.3.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2453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555" dirty="0"/>
              <a:t>D N S: </a:t>
            </a:r>
            <a:r>
              <a:rPr lang="en-US" sz="4000" spc="-300" dirty="0"/>
              <a:t>How </a:t>
            </a:r>
            <a:r>
              <a:rPr lang="en-US" sz="4000" spc="90" dirty="0"/>
              <a:t>it</a:t>
            </a:r>
            <a:r>
              <a:rPr lang="en-US" sz="4000" spc="-260" dirty="0"/>
              <a:t> </a:t>
            </a:r>
            <a:r>
              <a:rPr lang="en-US" sz="4000" spc="-310" dirty="0"/>
              <a:t>works?</a:t>
            </a:r>
            <a:endParaRPr lang="en-US" sz="4000" dirty="0"/>
          </a:p>
        </p:txBody>
      </p:sp>
      <p:sp>
        <p:nvSpPr>
          <p:cNvPr id="4" name="object 6"/>
          <p:cNvSpPr txBox="1"/>
          <p:nvPr/>
        </p:nvSpPr>
        <p:spPr>
          <a:xfrm>
            <a:off x="207818" y="2510848"/>
            <a:ext cx="8811491" cy="2382062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265" marR="5715" indent="-456565">
              <a:lnSpc>
                <a:spcPts val="2160"/>
              </a:lnSpc>
              <a:spcBef>
                <a:spcPts val="375"/>
              </a:spcBef>
              <a:buClr>
                <a:srgbClr val="9DBEBD"/>
              </a:buClr>
              <a:buAutoNum type="arabicPeriod" startAt="4"/>
              <a:tabLst>
                <a:tab pos="469265" algn="l"/>
                <a:tab pos="46990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repeats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45" dirty="0">
                <a:latin typeface="Arial"/>
                <a:cs typeface="Arial"/>
              </a:rPr>
              <a:t>resolution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-50" dirty="0">
                <a:latin typeface="Arial"/>
                <a:cs typeface="Arial"/>
              </a:rPr>
              <a:t>now </a:t>
            </a:r>
            <a:r>
              <a:rPr sz="2000" spc="-105" dirty="0">
                <a:latin typeface="Arial"/>
                <a:cs typeface="Arial"/>
              </a:rPr>
              <a:t>sending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request </a:t>
            </a:r>
            <a:r>
              <a:rPr sz="2000" spc="20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35" dirty="0">
                <a:latin typeface="Arial"/>
                <a:cs typeface="Arial"/>
              </a:rPr>
              <a:t>at </a:t>
            </a:r>
            <a:r>
              <a:rPr sz="2000" spc="-130" dirty="0">
                <a:latin typeface="Arial"/>
                <a:cs typeface="Arial"/>
              </a:rPr>
              <a:t>Fredsco</a:t>
            </a:r>
            <a:r>
              <a:rPr sz="2000" spc="-31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(199.1.1.3).</a:t>
            </a:r>
            <a:endParaRPr sz="2000" dirty="0">
              <a:latin typeface="Arial"/>
              <a:cs typeface="Arial"/>
            </a:endParaRPr>
          </a:p>
          <a:p>
            <a:pPr marL="413384" indent="-400685">
              <a:lnSpc>
                <a:spcPts val="2280"/>
              </a:lnSpc>
              <a:spcBef>
                <a:spcPts val="1130"/>
              </a:spcBef>
              <a:buClr>
                <a:srgbClr val="9DBEBD"/>
              </a:buClr>
              <a:buAutoNum type="arabicPeriod" startAt="4"/>
              <a:tabLst>
                <a:tab pos="413384" algn="l"/>
                <a:tab pos="414020" algn="l"/>
              </a:tabLst>
            </a:pPr>
            <a:r>
              <a:rPr sz="2000" spc="-145" dirty="0">
                <a:latin typeface="Arial"/>
                <a:cs typeface="Arial"/>
              </a:rPr>
              <a:t>The </a:t>
            </a:r>
            <a:r>
              <a:rPr sz="2000" spc="-130" dirty="0">
                <a:latin typeface="Arial"/>
                <a:cs typeface="Arial"/>
              </a:rPr>
              <a:t>Fredsco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05" dirty="0">
                <a:latin typeface="Arial"/>
                <a:cs typeface="Arial"/>
              </a:rPr>
              <a:t>gets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request,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60" dirty="0">
                <a:latin typeface="Arial"/>
                <a:cs typeface="Arial"/>
              </a:rPr>
              <a:t>it </a:t>
            </a:r>
            <a:r>
              <a:rPr sz="2000" spc="-95" dirty="0">
                <a:latin typeface="Arial"/>
                <a:cs typeface="Arial"/>
              </a:rPr>
              <a:t>knows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name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10" dirty="0">
                <a:latin typeface="Arial"/>
                <a:cs typeface="Arial"/>
              </a:rPr>
              <a:t>address. </a:t>
            </a:r>
            <a:r>
              <a:rPr sz="2000" spc="30" dirty="0">
                <a:latin typeface="Arial"/>
                <a:cs typeface="Arial"/>
              </a:rPr>
              <a:t>It </a:t>
            </a:r>
            <a:r>
              <a:rPr sz="2000" spc="-140" dirty="0">
                <a:latin typeface="Arial"/>
                <a:cs typeface="Arial"/>
              </a:rPr>
              <a:t>sends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55" dirty="0">
                <a:latin typeface="Arial"/>
                <a:cs typeface="Arial"/>
              </a:rPr>
              <a:t>reply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  <a:p>
            <a:pPr marL="240665">
              <a:lnSpc>
                <a:spcPts val="2280"/>
              </a:lnSpc>
            </a:pP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requesting </a:t>
            </a:r>
            <a:r>
              <a:rPr sz="2000" spc="-65" dirty="0">
                <a:latin typeface="Arial"/>
                <a:cs typeface="Arial"/>
              </a:rPr>
              <a:t>host, </a:t>
            </a:r>
            <a:r>
              <a:rPr sz="2000" spc="-100" dirty="0">
                <a:latin typeface="Arial"/>
                <a:cs typeface="Arial"/>
              </a:rPr>
              <a:t>namely, </a:t>
            </a:r>
            <a:r>
              <a:rPr sz="2000" spc="-95" dirty="0">
                <a:latin typeface="Arial"/>
                <a:cs typeface="Arial"/>
              </a:rPr>
              <a:t>example.com's </a:t>
            </a:r>
            <a:r>
              <a:rPr sz="2000" spc="-265" dirty="0">
                <a:latin typeface="Arial"/>
                <a:cs typeface="Arial"/>
              </a:rPr>
              <a:t>DNS</a:t>
            </a:r>
            <a:r>
              <a:rPr sz="2000" spc="-2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server.</a:t>
            </a:r>
            <a:endParaRPr sz="2000" dirty="0">
              <a:latin typeface="Arial"/>
              <a:cs typeface="Arial"/>
            </a:endParaRPr>
          </a:p>
          <a:p>
            <a:pPr marL="240665" marR="5080" indent="-227965">
              <a:lnSpc>
                <a:spcPts val="2160"/>
              </a:lnSpc>
              <a:spcBef>
                <a:spcPts val="1425"/>
              </a:spcBef>
              <a:buClr>
                <a:srgbClr val="9DBEBD"/>
              </a:buClr>
              <a:buAutoNum type="arabicPeriod" startAt="6"/>
              <a:tabLst>
                <a:tab pos="413384" algn="l"/>
                <a:tab pos="414020" algn="l"/>
              </a:tabLst>
            </a:pPr>
            <a:r>
              <a:rPr sz="2000" spc="-100" dirty="0">
                <a:latin typeface="Arial"/>
                <a:cs typeface="Arial"/>
              </a:rPr>
              <a:t>Finally,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example.com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70" dirty="0">
                <a:latin typeface="Arial"/>
                <a:cs typeface="Arial"/>
              </a:rPr>
              <a:t>replies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10" dirty="0">
                <a:latin typeface="Arial"/>
                <a:cs typeface="Arial"/>
              </a:rPr>
              <a:t>Hannah, </a:t>
            </a:r>
            <a:r>
              <a:rPr sz="2000" spc="-35" dirty="0">
                <a:latin typeface="Arial"/>
                <a:cs typeface="Arial"/>
              </a:rPr>
              <a:t>telling </a:t>
            </a:r>
            <a:r>
              <a:rPr sz="2000" spc="-55" dirty="0">
                <a:latin typeface="Arial"/>
                <a:cs typeface="Arial"/>
              </a:rPr>
              <a:t>her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  <a:hlinkClick r:id="rId3"/>
              </a:rPr>
              <a:t>www.fredsco.com 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resolves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180" dirty="0">
                <a:latin typeface="Arial"/>
                <a:cs typeface="Arial"/>
              </a:rPr>
              <a:t>IP </a:t>
            </a:r>
            <a:r>
              <a:rPr sz="2000" spc="-120" dirty="0">
                <a:latin typeface="Arial"/>
                <a:cs typeface="Arial"/>
              </a:rPr>
              <a:t>address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199.1.1.2.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93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18" y="71152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555" dirty="0"/>
              <a:t>D N S: </a:t>
            </a:r>
            <a:r>
              <a:rPr lang="en-US" sz="4000" spc="-300" dirty="0"/>
              <a:t>How </a:t>
            </a:r>
            <a:r>
              <a:rPr lang="en-US" sz="4000" spc="90" dirty="0"/>
              <a:t>it</a:t>
            </a:r>
            <a:r>
              <a:rPr lang="en-US" sz="4000" spc="-265" dirty="0"/>
              <a:t> </a:t>
            </a:r>
            <a:r>
              <a:rPr lang="en-US" sz="4000" spc="-310" dirty="0"/>
              <a:t>works? (cont.)</a:t>
            </a:r>
            <a:endParaRPr lang="en-US" sz="4000" dirty="0"/>
          </a:p>
        </p:txBody>
      </p:sp>
      <p:sp>
        <p:nvSpPr>
          <p:cNvPr id="12" name="object 6"/>
          <p:cNvSpPr/>
          <p:nvPr/>
        </p:nvSpPr>
        <p:spPr>
          <a:xfrm>
            <a:off x="591866" y="2050472"/>
            <a:ext cx="7748570" cy="41354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26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09" y="702622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175" dirty="0"/>
              <a:t>Different </a:t>
            </a:r>
            <a:r>
              <a:rPr lang="en-US" sz="4000" spc="-254" dirty="0"/>
              <a:t>types </a:t>
            </a:r>
            <a:r>
              <a:rPr lang="en-US" sz="4000" spc="-60" dirty="0"/>
              <a:t>of </a:t>
            </a:r>
            <a:r>
              <a:rPr lang="en-US" sz="4000" spc="-700" dirty="0"/>
              <a:t>D    N    S</a:t>
            </a:r>
            <a:r>
              <a:rPr lang="en-US" sz="4000" spc="-944" dirty="0"/>
              <a:t>                             </a:t>
            </a:r>
            <a:r>
              <a:rPr lang="en-US" sz="4000" spc="-250" dirty="0"/>
              <a:t>   queries</a:t>
            </a:r>
            <a:endParaRPr lang="en-US" sz="4000" dirty="0"/>
          </a:p>
        </p:txBody>
      </p:sp>
      <p:sp>
        <p:nvSpPr>
          <p:cNvPr id="5" name="object 6"/>
          <p:cNvSpPr txBox="1"/>
          <p:nvPr/>
        </p:nvSpPr>
        <p:spPr>
          <a:xfrm>
            <a:off x="101212" y="2289175"/>
            <a:ext cx="8724134" cy="323870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3505" marR="177165">
              <a:lnSpc>
                <a:spcPts val="2160"/>
              </a:lnSpc>
              <a:spcBef>
                <a:spcPts val="375"/>
              </a:spcBef>
            </a:pP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0" dirty="0">
                <a:latin typeface="Arial"/>
                <a:cs typeface="Arial"/>
              </a:rPr>
              <a:t>queries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classified </a:t>
            </a:r>
            <a:r>
              <a:rPr sz="2000" spc="-90" dirty="0">
                <a:latin typeface="Arial"/>
                <a:cs typeface="Arial"/>
              </a:rPr>
              <a:t>according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70" dirty="0">
                <a:latin typeface="Arial"/>
                <a:cs typeface="Arial"/>
              </a:rPr>
              <a:t>manner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complete </a:t>
            </a:r>
            <a:r>
              <a:rPr sz="2000" spc="-70" dirty="0">
                <a:latin typeface="Arial"/>
                <a:cs typeface="Arial"/>
              </a:rPr>
              <a:t>request </a:t>
            </a:r>
            <a:r>
              <a:rPr sz="2000" spc="-105" dirty="0">
                <a:latin typeface="Arial"/>
                <a:cs typeface="Arial"/>
              </a:rPr>
              <a:t>is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processed.  </a:t>
            </a:r>
            <a:r>
              <a:rPr sz="2000" spc="-95" dirty="0">
                <a:latin typeface="Arial"/>
                <a:cs typeface="Arial"/>
              </a:rPr>
              <a:t>Generally </a:t>
            </a:r>
            <a:r>
              <a:rPr sz="2000" spc="-80" dirty="0">
                <a:latin typeface="Arial"/>
                <a:cs typeface="Arial"/>
              </a:rPr>
              <a:t>queries </a:t>
            </a:r>
            <a:r>
              <a:rPr sz="2000" spc="-125" dirty="0">
                <a:latin typeface="Arial"/>
                <a:cs typeface="Arial"/>
              </a:rPr>
              <a:t>can </a:t>
            </a:r>
            <a:r>
              <a:rPr sz="2000" spc="-90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classified </a:t>
            </a:r>
            <a:r>
              <a:rPr sz="2000" spc="-185" dirty="0">
                <a:latin typeface="Arial"/>
                <a:cs typeface="Arial"/>
              </a:rPr>
              <a:t>as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follows.</a:t>
            </a:r>
            <a:endParaRPr sz="2000" dirty="0">
              <a:latin typeface="Arial"/>
              <a:cs typeface="Arial"/>
            </a:endParaRPr>
          </a:p>
          <a:p>
            <a:pPr marL="469265" indent="-456565">
              <a:lnSpc>
                <a:spcPts val="2280"/>
              </a:lnSpc>
              <a:spcBef>
                <a:spcPts val="1130"/>
              </a:spcBef>
              <a:buClr>
                <a:srgbClr val="9DBEBD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b="1" spc="-135" dirty="0">
                <a:latin typeface="Trebuchet MS"/>
                <a:cs typeface="Trebuchet MS"/>
              </a:rPr>
              <a:t>Recursive </a:t>
            </a:r>
            <a:r>
              <a:rPr sz="2000" b="1" spc="-130" dirty="0">
                <a:latin typeface="Trebuchet MS"/>
                <a:cs typeface="Trebuchet MS"/>
              </a:rPr>
              <a:t>query: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recursive </a:t>
            </a:r>
            <a:r>
              <a:rPr sz="2000" spc="-60" dirty="0">
                <a:latin typeface="Arial"/>
                <a:cs typeface="Arial"/>
              </a:rPr>
              <a:t>query </a:t>
            </a:r>
            <a:r>
              <a:rPr sz="2000" spc="-100" dirty="0">
                <a:latin typeface="Arial"/>
                <a:cs typeface="Arial"/>
              </a:rPr>
              <a:t>is </a:t>
            </a: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50" dirty="0">
                <a:latin typeface="Arial"/>
                <a:cs typeface="Arial"/>
              </a:rPr>
              <a:t>kind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85" dirty="0">
                <a:latin typeface="Arial"/>
                <a:cs typeface="Arial"/>
              </a:rPr>
              <a:t>query,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60" dirty="0">
                <a:latin typeface="Arial"/>
                <a:cs typeface="Arial"/>
              </a:rPr>
              <a:t>which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105" dirty="0">
                <a:latin typeface="Arial"/>
                <a:cs typeface="Arial"/>
              </a:rPr>
              <a:t>server, </a:t>
            </a:r>
            <a:r>
              <a:rPr sz="2000" spc="-50">
                <a:latin typeface="Arial"/>
                <a:cs typeface="Arial"/>
              </a:rPr>
              <a:t>who</a:t>
            </a:r>
            <a:r>
              <a:rPr sz="2000" spc="-320">
                <a:latin typeface="Arial"/>
                <a:cs typeface="Arial"/>
              </a:rPr>
              <a:t> </a:t>
            </a:r>
            <a:r>
              <a:rPr sz="2000" spc="-85">
                <a:latin typeface="Arial"/>
                <a:cs typeface="Arial"/>
              </a:rPr>
              <a:t>received</a:t>
            </a:r>
            <a:r>
              <a:rPr lang="en-US" sz="2000" spc="-85">
                <a:latin typeface="Arial"/>
                <a:cs typeface="Arial"/>
              </a:rPr>
              <a:t> </a:t>
            </a:r>
            <a:r>
              <a:rPr sz="2000" spc="-20">
                <a:latin typeface="Arial"/>
                <a:cs typeface="Arial"/>
              </a:rPr>
              <a:t>the</a:t>
            </a:r>
            <a:r>
              <a:rPr sz="2000" spc="-105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sender’s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query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do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all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job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fetching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answer,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giving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60" dirty="0">
                <a:latin typeface="Arial"/>
                <a:cs typeface="Arial"/>
              </a:rPr>
              <a:t>it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back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sender.</a:t>
            </a:r>
            <a:endParaRPr sz="2000" dirty="0">
              <a:latin typeface="Arial"/>
              <a:cs typeface="Arial"/>
            </a:endParaRPr>
          </a:p>
          <a:p>
            <a:pPr marL="469265" marR="285115">
              <a:lnSpc>
                <a:spcPts val="2160"/>
              </a:lnSpc>
              <a:spcBef>
                <a:spcPts val="155"/>
              </a:spcBef>
            </a:pPr>
            <a:r>
              <a:rPr sz="2000" spc="-80" dirty="0">
                <a:latin typeface="Arial"/>
                <a:cs typeface="Arial"/>
              </a:rPr>
              <a:t>During </a:t>
            </a:r>
            <a:r>
              <a:rPr sz="2000" spc="-40" dirty="0">
                <a:latin typeface="Arial"/>
                <a:cs typeface="Arial"/>
              </a:rPr>
              <a:t>this </a:t>
            </a:r>
            <a:r>
              <a:rPr sz="2000" spc="-114" dirty="0">
                <a:latin typeface="Arial"/>
                <a:cs typeface="Arial"/>
              </a:rPr>
              <a:t>process,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 </a:t>
            </a:r>
            <a:r>
              <a:rPr sz="2000" spc="-40" dirty="0">
                <a:latin typeface="Arial"/>
                <a:cs typeface="Arial"/>
              </a:rPr>
              <a:t>might </a:t>
            </a:r>
            <a:r>
              <a:rPr sz="2000" spc="-105" dirty="0">
                <a:latin typeface="Arial"/>
                <a:cs typeface="Arial"/>
              </a:rPr>
              <a:t>also </a:t>
            </a:r>
            <a:r>
              <a:rPr sz="2000" spc="-60" dirty="0">
                <a:latin typeface="Arial"/>
                <a:cs typeface="Arial"/>
              </a:rPr>
              <a:t>query </a:t>
            </a:r>
            <a:r>
              <a:rPr sz="2000" spc="-25" dirty="0">
                <a:latin typeface="Arial"/>
                <a:cs typeface="Arial"/>
              </a:rPr>
              <a:t>other </a:t>
            </a:r>
            <a:r>
              <a:rPr sz="2000" spc="-260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server's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20" dirty="0">
                <a:latin typeface="Arial"/>
                <a:cs typeface="Arial"/>
              </a:rPr>
              <a:t>the internet</a:t>
            </a:r>
            <a:r>
              <a:rPr sz="2000" spc="-29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 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sender’s </a:t>
            </a:r>
            <a:r>
              <a:rPr sz="2000" spc="-75" dirty="0">
                <a:latin typeface="Arial"/>
                <a:cs typeface="Arial"/>
              </a:rPr>
              <a:t>behalf, </a:t>
            </a:r>
            <a:r>
              <a:rPr sz="2000" spc="-10" dirty="0">
                <a:latin typeface="Arial"/>
                <a:cs typeface="Arial"/>
              </a:rPr>
              <a:t>for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34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answer.</a:t>
            </a:r>
            <a:endParaRPr sz="2000" dirty="0">
              <a:latin typeface="Arial"/>
              <a:cs typeface="Arial"/>
            </a:endParaRPr>
          </a:p>
          <a:p>
            <a:pPr marL="469265" marR="173990" indent="-456565">
              <a:lnSpc>
                <a:spcPct val="90100"/>
              </a:lnSpc>
              <a:spcBef>
                <a:spcPts val="1355"/>
              </a:spcBef>
              <a:buClr>
                <a:srgbClr val="9DBEBD"/>
              </a:buClr>
              <a:buAutoNum type="arabicPeriod" startAt="2"/>
              <a:tabLst>
                <a:tab pos="469265" algn="l"/>
                <a:tab pos="469900" algn="l"/>
              </a:tabLst>
            </a:pPr>
            <a:r>
              <a:rPr sz="2000" b="1" spc="-120" dirty="0">
                <a:latin typeface="Trebuchet MS"/>
                <a:cs typeface="Trebuchet MS"/>
              </a:rPr>
              <a:t>Iterative query </a:t>
            </a:r>
            <a:r>
              <a:rPr sz="2000" b="1" spc="-75" dirty="0">
                <a:latin typeface="Trebuchet MS"/>
                <a:cs typeface="Trebuchet MS"/>
              </a:rPr>
              <a:t>OR </a:t>
            </a:r>
            <a:r>
              <a:rPr sz="2000" b="1" spc="-120" dirty="0">
                <a:latin typeface="Trebuchet MS"/>
                <a:cs typeface="Trebuchet MS"/>
              </a:rPr>
              <a:t>Nonrecursive </a:t>
            </a:r>
            <a:r>
              <a:rPr sz="2000" b="1" spc="-130" dirty="0">
                <a:latin typeface="Trebuchet MS"/>
                <a:cs typeface="Trebuchet MS"/>
              </a:rPr>
              <a:t>query: </a:t>
            </a:r>
            <a:r>
              <a:rPr sz="2000" spc="-60" dirty="0">
                <a:latin typeface="Arial"/>
                <a:cs typeface="Arial"/>
              </a:rPr>
              <a:t>In </a:t>
            </a:r>
            <a:r>
              <a:rPr sz="2000" spc="-110" dirty="0">
                <a:latin typeface="Arial"/>
                <a:cs typeface="Arial"/>
              </a:rPr>
              <a:t>an </a:t>
            </a:r>
            <a:r>
              <a:rPr sz="2000" spc="-40" dirty="0">
                <a:latin typeface="Arial"/>
                <a:cs typeface="Arial"/>
              </a:rPr>
              <a:t>iterative </a:t>
            </a:r>
            <a:r>
              <a:rPr sz="2000" spc="-85" dirty="0">
                <a:latin typeface="Arial"/>
                <a:cs typeface="Arial"/>
              </a:rPr>
              <a:t>query,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name </a:t>
            </a:r>
            <a:r>
              <a:rPr sz="2000" spc="-105" dirty="0">
                <a:latin typeface="Arial"/>
                <a:cs typeface="Arial"/>
              </a:rPr>
              <a:t>server, </a:t>
            </a:r>
            <a:r>
              <a:rPr sz="2000" spc="5" dirty="0">
                <a:latin typeface="Arial"/>
                <a:cs typeface="Arial"/>
              </a:rPr>
              <a:t>will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120" dirty="0">
                <a:latin typeface="Arial"/>
                <a:cs typeface="Arial"/>
              </a:rPr>
              <a:t>go 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fetch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complete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answer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sender’s</a:t>
            </a:r>
            <a:r>
              <a:rPr sz="2000" spc="-85" dirty="0">
                <a:latin typeface="Arial"/>
                <a:cs typeface="Arial"/>
              </a:rPr>
              <a:t> query,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but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give </a:t>
            </a:r>
            <a:r>
              <a:rPr sz="2000" spc="-114" dirty="0">
                <a:latin typeface="Arial"/>
                <a:cs typeface="Arial"/>
              </a:rPr>
              <a:t>back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referral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to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other  </a:t>
            </a:r>
            <a:r>
              <a:rPr sz="2000" spc="-265" dirty="0">
                <a:latin typeface="Arial"/>
                <a:cs typeface="Arial"/>
              </a:rPr>
              <a:t>DNS </a:t>
            </a:r>
            <a:r>
              <a:rPr sz="2000" spc="-85" dirty="0">
                <a:latin typeface="Arial"/>
                <a:cs typeface="Arial"/>
              </a:rPr>
              <a:t>server's, </a:t>
            </a:r>
            <a:r>
              <a:rPr sz="2000" spc="-55" dirty="0">
                <a:latin typeface="Arial"/>
                <a:cs typeface="Arial"/>
              </a:rPr>
              <a:t>which </a:t>
            </a:r>
            <a:r>
              <a:rPr sz="2000" spc="-40" dirty="0">
                <a:latin typeface="Arial"/>
                <a:cs typeface="Arial"/>
              </a:rPr>
              <a:t>might </a:t>
            </a:r>
            <a:r>
              <a:rPr sz="2000" spc="-125" dirty="0">
                <a:latin typeface="Arial"/>
                <a:cs typeface="Arial"/>
              </a:rPr>
              <a:t>have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answer.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792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2509" y="702622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spc="-390" dirty="0"/>
              <a:t>Recursive </a:t>
            </a:r>
            <a:r>
              <a:rPr lang="en-US" sz="4000" spc="-120" dirty="0"/>
              <a:t>query/ </a:t>
            </a:r>
            <a:r>
              <a:rPr lang="en-US" sz="4000" spc="-175" dirty="0"/>
              <a:t>Iterative</a:t>
            </a:r>
            <a:r>
              <a:rPr lang="en-US" sz="4000" spc="-575" dirty="0"/>
              <a:t>  </a:t>
            </a:r>
            <a:r>
              <a:rPr lang="en-US" sz="4000" spc="-210" dirty="0"/>
              <a:t>query</a:t>
            </a:r>
            <a:endParaRPr lang="en-US" sz="4000" dirty="0"/>
          </a:p>
        </p:txBody>
      </p:sp>
      <p:sp>
        <p:nvSpPr>
          <p:cNvPr id="4" name="object 8"/>
          <p:cNvSpPr/>
          <p:nvPr/>
        </p:nvSpPr>
        <p:spPr>
          <a:xfrm>
            <a:off x="224444" y="2069869"/>
            <a:ext cx="3867912" cy="3760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9"/>
          <p:cNvSpPr/>
          <p:nvPr/>
        </p:nvSpPr>
        <p:spPr>
          <a:xfrm>
            <a:off x="5033633" y="2069869"/>
            <a:ext cx="3599688" cy="3798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808401" y="5869709"/>
            <a:ext cx="30435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latin typeface="Trebuchet MS"/>
                <a:cs typeface="Trebuchet MS"/>
              </a:rPr>
              <a:t>Fig: </a:t>
            </a:r>
            <a:r>
              <a:rPr sz="1400" b="1" spc="-40" dirty="0">
                <a:latin typeface="Trebuchet MS"/>
                <a:cs typeface="Trebuchet MS"/>
              </a:rPr>
              <a:t>A </a:t>
            </a:r>
            <a:r>
              <a:rPr sz="1400" b="1" spc="-85" dirty="0">
                <a:latin typeface="Trebuchet MS"/>
                <a:cs typeface="Trebuchet MS"/>
              </a:rPr>
              <a:t>query chain </a:t>
            </a:r>
            <a:r>
              <a:rPr sz="1400" b="1" spc="-70" dirty="0">
                <a:latin typeface="Trebuchet MS"/>
                <a:cs typeface="Trebuchet MS"/>
              </a:rPr>
              <a:t>with</a:t>
            </a:r>
            <a:r>
              <a:rPr lang="en-US" sz="1400" b="1" spc="-70" dirty="0">
                <a:latin typeface="Trebuchet MS"/>
                <a:cs typeface="Trebuchet MS"/>
              </a:rPr>
              <a:t> </a:t>
            </a:r>
            <a:r>
              <a:rPr sz="1400" b="1" spc="-330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iterative queries.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5282807" y="5897852"/>
            <a:ext cx="31013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latin typeface="Trebuchet MS"/>
                <a:cs typeface="Trebuchet MS"/>
              </a:rPr>
              <a:t>Fig: </a:t>
            </a:r>
            <a:r>
              <a:rPr sz="1400" b="1" spc="-40" dirty="0">
                <a:latin typeface="Trebuchet MS"/>
                <a:cs typeface="Trebuchet MS"/>
              </a:rPr>
              <a:t>A </a:t>
            </a:r>
            <a:r>
              <a:rPr sz="1400" b="1" spc="-85" dirty="0">
                <a:latin typeface="Trebuchet MS"/>
                <a:cs typeface="Trebuchet MS"/>
              </a:rPr>
              <a:t>query chain </a:t>
            </a:r>
            <a:r>
              <a:rPr sz="1400" b="1" spc="-70" dirty="0">
                <a:latin typeface="Trebuchet MS"/>
                <a:cs typeface="Trebuchet MS"/>
              </a:rPr>
              <a:t>with </a:t>
            </a:r>
            <a:r>
              <a:rPr sz="1400" b="1" spc="-95" dirty="0">
                <a:latin typeface="Trebuchet MS"/>
                <a:cs typeface="Trebuchet MS"/>
              </a:rPr>
              <a:t>recursive</a:t>
            </a:r>
            <a:r>
              <a:rPr sz="1400" b="1" spc="-335" dirty="0">
                <a:latin typeface="Trebuchet MS"/>
                <a:cs typeface="Trebuchet MS"/>
              </a:rPr>
              <a:t> </a:t>
            </a:r>
            <a:r>
              <a:rPr lang="en-US" sz="1400" b="1" spc="-335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queries.</a:t>
            </a:r>
            <a:endParaRPr sz="1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47181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494" y="2105561"/>
            <a:ext cx="75893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2"/>
              </a:rPr>
              <a:t>https://www.geeksforgeeks.org/basics-computer-networking/</a:t>
            </a:r>
            <a:endParaRPr lang="en-US" sz="200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https://www.tutorialspoint.com/computer_fundamentals/computer_networking.htm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389DD-4CDA-4C45-A68C-DC9EEB6DC9BD}"/>
              </a:ext>
            </a:extLst>
          </p:cNvPr>
          <p:cNvSpPr txBox="1">
            <a:spLocks/>
          </p:cNvSpPr>
          <p:nvPr/>
        </p:nvSpPr>
        <p:spPr>
          <a:xfrm>
            <a:off x="-284019" y="1271443"/>
            <a:ext cx="9289474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176</TotalTime>
  <Words>1849</Words>
  <Application>Microsoft Office PowerPoint</Application>
  <PresentationFormat>On-screen Show (4:3)</PresentationFormat>
  <Paragraphs>125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Corbel</vt:lpstr>
      <vt:lpstr>Times New Roman</vt:lpstr>
      <vt:lpstr>Trebuchet MS</vt:lpstr>
      <vt:lpstr>Wingdings</vt:lpstr>
      <vt:lpstr>Spectrum</vt:lpstr>
      <vt:lpstr>Application Layer Protocols</vt:lpstr>
      <vt:lpstr>Lecture Outline</vt:lpstr>
      <vt:lpstr>What is  Protocol? </vt:lpstr>
      <vt:lpstr>Different Layers  Protocol</vt:lpstr>
      <vt:lpstr>Protocol  Types </vt:lpstr>
      <vt:lpstr>Application Layer  Protocol: HTTP</vt:lpstr>
      <vt:lpstr>Application Layer  Protocol: HTTP     (c  o  n  t   .) </vt:lpstr>
      <vt:lpstr>Application Layer  Protocol: HTTP     (c  o  n  t   .) </vt:lpstr>
      <vt:lpstr>Application Layer  Protocol: HTTP       runs on  T C       P </vt:lpstr>
      <vt:lpstr>Application Layer  Protocol: D   N    S </vt:lpstr>
      <vt:lpstr>D    N     S  Hierarchy </vt:lpstr>
      <vt:lpstr>D    N     S         cont. </vt:lpstr>
      <vt:lpstr>Internet Domain  Names </vt:lpstr>
      <vt:lpstr>Internet Domain Names  (cont .)</vt:lpstr>
      <vt:lpstr>Internet Domain Names  (cont .)</vt:lpstr>
      <vt:lpstr>DNS: How it works? Example: Hannah  want to connect   at  www.fredsco.com</vt:lpstr>
      <vt:lpstr>D N S: How it works?</vt:lpstr>
      <vt:lpstr>D N S: How it works? (cont.)</vt:lpstr>
      <vt:lpstr>Different types of D    N    S                                queries</vt:lpstr>
      <vt:lpstr>Recursive query/ Iterative  query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mohsin eli</cp:lastModifiedBy>
  <cp:revision>167</cp:revision>
  <dcterms:created xsi:type="dcterms:W3CDTF">2018-12-10T17:20:29Z</dcterms:created>
  <dcterms:modified xsi:type="dcterms:W3CDTF">2025-11-11T13:54:52Z</dcterms:modified>
</cp:coreProperties>
</file>